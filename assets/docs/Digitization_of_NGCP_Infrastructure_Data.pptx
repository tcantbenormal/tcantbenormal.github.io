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77" r:id="rId1"/>
  </p:sldMasterIdLst>
  <p:notesMasterIdLst>
    <p:notesMasterId r:id="rId32"/>
  </p:notesMasterIdLst>
  <p:handoutMasterIdLst>
    <p:handoutMasterId r:id="rId33"/>
  </p:handoutMasterIdLst>
  <p:sldIdLst>
    <p:sldId id="256" r:id="rId2"/>
    <p:sldId id="257" r:id="rId3"/>
    <p:sldId id="258" r:id="rId4"/>
    <p:sldId id="304" r:id="rId5"/>
    <p:sldId id="261" r:id="rId6"/>
    <p:sldId id="308" r:id="rId7"/>
    <p:sldId id="267" r:id="rId8"/>
    <p:sldId id="274" r:id="rId9"/>
    <p:sldId id="310" r:id="rId10"/>
    <p:sldId id="314" r:id="rId11"/>
    <p:sldId id="312" r:id="rId12"/>
    <p:sldId id="331" r:id="rId13"/>
    <p:sldId id="341" r:id="rId14"/>
    <p:sldId id="342" r:id="rId15"/>
    <p:sldId id="340" r:id="rId16"/>
    <p:sldId id="320" r:id="rId17"/>
    <p:sldId id="337" r:id="rId18"/>
    <p:sldId id="344" r:id="rId19"/>
    <p:sldId id="343" r:id="rId20"/>
    <p:sldId id="338" r:id="rId21"/>
    <p:sldId id="333" r:id="rId22"/>
    <p:sldId id="334" r:id="rId23"/>
    <p:sldId id="335" r:id="rId24"/>
    <p:sldId id="336" r:id="rId25"/>
    <p:sldId id="327" r:id="rId26"/>
    <p:sldId id="332" r:id="rId27"/>
    <p:sldId id="339" r:id="rId28"/>
    <p:sldId id="328" r:id="rId29"/>
    <p:sldId id="330" r:id="rId30"/>
    <p:sldId id="329" r:id="rId31"/>
  </p:sldIdLst>
  <p:sldSz cx="9144000" cy="5143500" type="screen16x9"/>
  <p:notesSz cx="6858000" cy="9144000"/>
  <p:embeddedFontLst>
    <p:embeddedFont>
      <p:font typeface="Fredoka One" panose="02000000000000000000" pitchFamily="2" charset="0"/>
      <p:regular r:id="rId34"/>
    </p:embeddedFont>
    <p:embeddedFont>
      <p:font typeface="Helvetica" pitchFamily="2" charset="0"/>
      <p:regular r:id="rId35"/>
      <p:bold r:id="rId36"/>
      <p:italic r:id="rId37"/>
      <p:boldItalic r:id="rId38"/>
    </p:embeddedFont>
    <p:embeddedFont>
      <p:font typeface="Lato" panose="020F0502020204030203" pitchFamily="34" charset="0"/>
      <p:regular r:id="rId39"/>
      <p:bold r:id="rId40"/>
      <p:italic r:id="rId41"/>
      <p:boldItalic r:id="rId42"/>
    </p:embeddedFont>
    <p:embeddedFont>
      <p:font typeface="Outfit Black" panose="020B0604020202020204" charset="0"/>
      <p:bold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CA08"/>
    <a:srgbClr val="FF0066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A1E47AA-F55D-4114-B140-3033E189EDB9}">
  <a:tblStyle styleId="{EA1E47AA-F55D-4114-B140-3033E189EDB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494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font" Target="fonts/font9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font" Target="fonts/font10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38" Type="http://schemas.openxmlformats.org/officeDocument/2006/relationships/font" Target="fonts/font5.fntdata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8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6F1D21-6152-A572-0AF8-BC98F755B0C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5D8630-B4D2-0D24-C685-0A309B9BFDE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54176A-A769-4BAF-B8F0-ED2AFEFC0A51}" type="datetimeFigureOut">
              <a:rPr lang="en-GB" smtClean="0"/>
              <a:t>08/08/2025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6F5749-C9D8-1B91-397A-5C6B832217C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GB"/>
              <a:t>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C933E4-AEA3-FE40-7804-BC00A009DAF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F2C507-2719-40ED-A1A2-10CEBDEFFB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359650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8794a74c9d_0_24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8794a74c9d_0_24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85cf8b5f36_0_60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85cf8b5f36_0_60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1e1b4d88e7e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1e1b4d88e7e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>
          <a:extLst>
            <a:ext uri="{FF2B5EF4-FFF2-40B4-BE49-F238E27FC236}">
              <a16:creationId xmlns:a16="http://schemas.microsoft.com/office/drawing/2014/main" id="{5EBD2307-02A4-2D5F-33A6-05CFEBBC5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1e1b4d88e7e_0_499:notes">
            <a:extLst>
              <a:ext uri="{FF2B5EF4-FFF2-40B4-BE49-F238E27FC236}">
                <a16:creationId xmlns:a16="http://schemas.microsoft.com/office/drawing/2014/main" id="{AD4DC258-5056-C6C8-5570-963A57453A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1e1b4d88e7e_0_499:notes">
            <a:extLst>
              <a:ext uri="{FF2B5EF4-FFF2-40B4-BE49-F238E27FC236}">
                <a16:creationId xmlns:a16="http://schemas.microsoft.com/office/drawing/2014/main" id="{C2D5F157-9D81-A9A9-BF3A-C7322CE2F5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457338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877b642fd3_0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877b642fd3_0_2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0">
          <a:extLst>
            <a:ext uri="{FF2B5EF4-FFF2-40B4-BE49-F238E27FC236}">
              <a16:creationId xmlns:a16="http://schemas.microsoft.com/office/drawing/2014/main" id="{272E4593-C9E9-CEB6-8427-2E6F41210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1e1b4d88e7e_1_476:notes">
            <a:extLst>
              <a:ext uri="{FF2B5EF4-FFF2-40B4-BE49-F238E27FC236}">
                <a16:creationId xmlns:a16="http://schemas.microsoft.com/office/drawing/2014/main" id="{9EB9E267-8EC2-A838-EF60-100D7F2A70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2" name="Google Shape;692;g1e1b4d88e7e_1_476:notes">
            <a:extLst>
              <a:ext uri="{FF2B5EF4-FFF2-40B4-BE49-F238E27FC236}">
                <a16:creationId xmlns:a16="http://schemas.microsoft.com/office/drawing/2014/main" id="{416FE8E6-2E3C-4219-B4E7-FDBA7D2189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046284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1e1b4d88e7e_1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1e1b4d88e7e_1_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g1e1b4d88e7e_1_4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9" name="Google Shape;699;g1e1b4d88e7e_1_4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E0E1DC23-F1A4-DCBF-C65F-9DCAA38CA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877b642fd3_0_223:notes">
            <a:extLst>
              <a:ext uri="{FF2B5EF4-FFF2-40B4-BE49-F238E27FC236}">
                <a16:creationId xmlns:a16="http://schemas.microsoft.com/office/drawing/2014/main" id="{7D74436E-486C-F043-FB82-50AB394A2F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877b642fd3_0_223:notes">
            <a:extLst>
              <a:ext uri="{FF2B5EF4-FFF2-40B4-BE49-F238E27FC236}">
                <a16:creationId xmlns:a16="http://schemas.microsoft.com/office/drawing/2014/main" id="{CA190362-D769-D0DB-D92A-18078CB361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329755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>
          <a:extLst>
            <a:ext uri="{FF2B5EF4-FFF2-40B4-BE49-F238E27FC236}">
              <a16:creationId xmlns:a16="http://schemas.microsoft.com/office/drawing/2014/main" id="{89D26400-9003-63D2-D1BF-CDB8B3B50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1e1b4d88e7e_0_443:notes">
            <a:extLst>
              <a:ext uri="{FF2B5EF4-FFF2-40B4-BE49-F238E27FC236}">
                <a16:creationId xmlns:a16="http://schemas.microsoft.com/office/drawing/2014/main" id="{E2662FC8-E313-B830-7FD4-236EFCBB3A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1e1b4d88e7e_0_443:notes">
            <a:extLst>
              <a:ext uri="{FF2B5EF4-FFF2-40B4-BE49-F238E27FC236}">
                <a16:creationId xmlns:a16="http://schemas.microsoft.com/office/drawing/2014/main" id="{5F885FCE-1283-EF52-2E98-AE2CDE57E6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768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0">
          <a:extLst>
            <a:ext uri="{FF2B5EF4-FFF2-40B4-BE49-F238E27FC236}">
              <a16:creationId xmlns:a16="http://schemas.microsoft.com/office/drawing/2014/main" id="{E5457270-57F5-AC7C-13E6-C74B19AB7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1e1b4d88e7e_1_476:notes">
            <a:extLst>
              <a:ext uri="{FF2B5EF4-FFF2-40B4-BE49-F238E27FC236}">
                <a16:creationId xmlns:a16="http://schemas.microsoft.com/office/drawing/2014/main" id="{160B34AB-6AEC-442F-D1FD-9D70CEC54C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2" name="Google Shape;692;g1e1b4d88e7e_1_476:notes">
            <a:extLst>
              <a:ext uri="{FF2B5EF4-FFF2-40B4-BE49-F238E27FC236}">
                <a16:creationId xmlns:a16="http://schemas.microsoft.com/office/drawing/2014/main" id="{3B89F8A9-D580-8B62-5FB6-7C0B5E915B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648870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0">
          <a:extLst>
            <a:ext uri="{FF2B5EF4-FFF2-40B4-BE49-F238E27FC236}">
              <a16:creationId xmlns:a16="http://schemas.microsoft.com/office/drawing/2014/main" id="{90D07FAE-B821-250F-CC77-1E99D22E8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1e1b4d88e7e_1_476:notes">
            <a:extLst>
              <a:ext uri="{FF2B5EF4-FFF2-40B4-BE49-F238E27FC236}">
                <a16:creationId xmlns:a16="http://schemas.microsoft.com/office/drawing/2014/main" id="{F3AE657F-88B9-BE98-F999-9BC00F476D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2" name="Google Shape;692;g1e1b4d88e7e_1_476:notes">
            <a:extLst>
              <a:ext uri="{FF2B5EF4-FFF2-40B4-BE49-F238E27FC236}">
                <a16:creationId xmlns:a16="http://schemas.microsoft.com/office/drawing/2014/main" id="{92EBAFFB-1D09-5304-18EA-ED259C6C68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570007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0">
          <a:extLst>
            <a:ext uri="{FF2B5EF4-FFF2-40B4-BE49-F238E27FC236}">
              <a16:creationId xmlns:a16="http://schemas.microsoft.com/office/drawing/2014/main" id="{8BBB0B24-0C7F-011C-6576-03DE9AF33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1e1b4d88e7e_1_476:notes">
            <a:extLst>
              <a:ext uri="{FF2B5EF4-FFF2-40B4-BE49-F238E27FC236}">
                <a16:creationId xmlns:a16="http://schemas.microsoft.com/office/drawing/2014/main" id="{5D52F510-ABF0-A23D-083F-B0CB3CF57A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2" name="Google Shape;692;g1e1b4d88e7e_1_476:notes">
            <a:extLst>
              <a:ext uri="{FF2B5EF4-FFF2-40B4-BE49-F238E27FC236}">
                <a16:creationId xmlns:a16="http://schemas.microsoft.com/office/drawing/2014/main" id="{AE99A327-400A-FB46-DF98-985E4C8AF2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268958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0">
          <a:extLst>
            <a:ext uri="{FF2B5EF4-FFF2-40B4-BE49-F238E27FC236}">
              <a16:creationId xmlns:a16="http://schemas.microsoft.com/office/drawing/2014/main" id="{2EE60F52-890F-58A5-44F9-C14601C19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1e1b4d88e7e_1_476:notes">
            <a:extLst>
              <a:ext uri="{FF2B5EF4-FFF2-40B4-BE49-F238E27FC236}">
                <a16:creationId xmlns:a16="http://schemas.microsoft.com/office/drawing/2014/main" id="{FA3DC600-0C0F-95AE-E934-5FBBA9A74E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2" name="Google Shape;692;g1e1b4d88e7e_1_476:notes">
            <a:extLst>
              <a:ext uri="{FF2B5EF4-FFF2-40B4-BE49-F238E27FC236}">
                <a16:creationId xmlns:a16="http://schemas.microsoft.com/office/drawing/2014/main" id="{4A2F33C8-641A-47D1-3960-20E9AF17DE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14210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0">
          <a:extLst>
            <a:ext uri="{FF2B5EF4-FFF2-40B4-BE49-F238E27FC236}">
              <a16:creationId xmlns:a16="http://schemas.microsoft.com/office/drawing/2014/main" id="{34826B49-9A0D-F29A-0C4F-1D0CDEFA3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1e1b4d88e7e_1_476:notes">
            <a:extLst>
              <a:ext uri="{FF2B5EF4-FFF2-40B4-BE49-F238E27FC236}">
                <a16:creationId xmlns:a16="http://schemas.microsoft.com/office/drawing/2014/main" id="{CDFC0080-D35B-278D-75BA-00E9E42BFB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2" name="Google Shape;692;g1e1b4d88e7e_1_476:notes">
            <a:extLst>
              <a:ext uri="{FF2B5EF4-FFF2-40B4-BE49-F238E27FC236}">
                <a16:creationId xmlns:a16="http://schemas.microsoft.com/office/drawing/2014/main" id="{C4F86BE4-729E-F987-1B87-219A413DC0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583081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5C973C25-D6C3-1FE6-D00D-A10B0429E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877b642fd3_0_223:notes">
            <a:extLst>
              <a:ext uri="{FF2B5EF4-FFF2-40B4-BE49-F238E27FC236}">
                <a16:creationId xmlns:a16="http://schemas.microsoft.com/office/drawing/2014/main" id="{3B5AF1EB-0994-0A96-23A9-68F1F72EE9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877b642fd3_0_223:notes">
            <a:extLst>
              <a:ext uri="{FF2B5EF4-FFF2-40B4-BE49-F238E27FC236}">
                <a16:creationId xmlns:a16="http://schemas.microsoft.com/office/drawing/2014/main" id="{7A930341-E7D9-B04F-348D-0846FCD3AC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29463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0">
          <a:extLst>
            <a:ext uri="{FF2B5EF4-FFF2-40B4-BE49-F238E27FC236}">
              <a16:creationId xmlns:a16="http://schemas.microsoft.com/office/drawing/2014/main" id="{7A9F1221-D4FD-418A-C7EE-DE056D1F1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1e1b4d88e7e_1_476:notes">
            <a:extLst>
              <a:ext uri="{FF2B5EF4-FFF2-40B4-BE49-F238E27FC236}">
                <a16:creationId xmlns:a16="http://schemas.microsoft.com/office/drawing/2014/main" id="{EA65D41B-DBB2-E93E-3427-34368F0303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2" name="Google Shape;692;g1e1b4d88e7e_1_476:notes">
            <a:extLst>
              <a:ext uri="{FF2B5EF4-FFF2-40B4-BE49-F238E27FC236}">
                <a16:creationId xmlns:a16="http://schemas.microsoft.com/office/drawing/2014/main" id="{30D6B139-FF10-923D-3272-1F19D2C8F9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2000889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0">
          <a:extLst>
            <a:ext uri="{FF2B5EF4-FFF2-40B4-BE49-F238E27FC236}">
              <a16:creationId xmlns:a16="http://schemas.microsoft.com/office/drawing/2014/main" id="{802EC295-F28C-75C1-B584-BC0CCC315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1e1b4d88e7e_1_476:notes">
            <a:extLst>
              <a:ext uri="{FF2B5EF4-FFF2-40B4-BE49-F238E27FC236}">
                <a16:creationId xmlns:a16="http://schemas.microsoft.com/office/drawing/2014/main" id="{1B408ACB-E8EB-BA64-E6F2-9F4B7811A0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2" name="Google Shape;692;g1e1b4d88e7e_1_476:notes">
            <a:extLst>
              <a:ext uri="{FF2B5EF4-FFF2-40B4-BE49-F238E27FC236}">
                <a16:creationId xmlns:a16="http://schemas.microsoft.com/office/drawing/2014/main" id="{AEB85007-906A-6BB3-136A-2B313DF9A5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9420451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0">
          <a:extLst>
            <a:ext uri="{FF2B5EF4-FFF2-40B4-BE49-F238E27FC236}">
              <a16:creationId xmlns:a16="http://schemas.microsoft.com/office/drawing/2014/main" id="{A4A159DF-A48B-DE43-BB08-31173F4B9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1e1b4d88e7e_1_476:notes">
            <a:extLst>
              <a:ext uri="{FF2B5EF4-FFF2-40B4-BE49-F238E27FC236}">
                <a16:creationId xmlns:a16="http://schemas.microsoft.com/office/drawing/2014/main" id="{A8BC5E43-4648-05DB-AB77-D5D1D78981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2" name="Google Shape;692;g1e1b4d88e7e_1_476:notes">
            <a:extLst>
              <a:ext uri="{FF2B5EF4-FFF2-40B4-BE49-F238E27FC236}">
                <a16:creationId xmlns:a16="http://schemas.microsoft.com/office/drawing/2014/main" id="{6D3BABE6-8D63-6B9F-C5E6-1AB2040259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7725740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0">
          <a:extLst>
            <a:ext uri="{FF2B5EF4-FFF2-40B4-BE49-F238E27FC236}">
              <a16:creationId xmlns:a16="http://schemas.microsoft.com/office/drawing/2014/main" id="{658E852D-6684-58EC-8F83-3716BF842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1e1b4d88e7e_1_476:notes">
            <a:extLst>
              <a:ext uri="{FF2B5EF4-FFF2-40B4-BE49-F238E27FC236}">
                <a16:creationId xmlns:a16="http://schemas.microsoft.com/office/drawing/2014/main" id="{7930AD09-3283-6A6D-955C-3358D83F2D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2" name="Google Shape;692;g1e1b4d88e7e_1_476:notes">
            <a:extLst>
              <a:ext uri="{FF2B5EF4-FFF2-40B4-BE49-F238E27FC236}">
                <a16:creationId xmlns:a16="http://schemas.microsoft.com/office/drawing/2014/main" id="{A813432D-ADEF-0412-FAD5-7452BCF1C4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7473529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0">
          <a:extLst>
            <a:ext uri="{FF2B5EF4-FFF2-40B4-BE49-F238E27FC236}">
              <a16:creationId xmlns:a16="http://schemas.microsoft.com/office/drawing/2014/main" id="{2C5DB281-62AC-79B7-2665-A9F439A5B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1e1b4d88e7e_1_476:notes">
            <a:extLst>
              <a:ext uri="{FF2B5EF4-FFF2-40B4-BE49-F238E27FC236}">
                <a16:creationId xmlns:a16="http://schemas.microsoft.com/office/drawing/2014/main" id="{6EB275C0-132A-C910-D0AB-00A64D5F6B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2" name="Google Shape;692;g1e1b4d88e7e_1_476:notes">
            <a:extLst>
              <a:ext uri="{FF2B5EF4-FFF2-40B4-BE49-F238E27FC236}">
                <a16:creationId xmlns:a16="http://schemas.microsoft.com/office/drawing/2014/main" id="{8BC5941F-D347-B83E-55D7-6794692B72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3247671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0">
          <a:extLst>
            <a:ext uri="{FF2B5EF4-FFF2-40B4-BE49-F238E27FC236}">
              <a16:creationId xmlns:a16="http://schemas.microsoft.com/office/drawing/2014/main" id="{4AAB2638-6CE3-1DAF-B068-AE7C4EC0F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1e1b4d88e7e_1_476:notes">
            <a:extLst>
              <a:ext uri="{FF2B5EF4-FFF2-40B4-BE49-F238E27FC236}">
                <a16:creationId xmlns:a16="http://schemas.microsoft.com/office/drawing/2014/main" id="{F02220C4-D6AA-32A7-FF90-078CC927B1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2" name="Google Shape;692;g1e1b4d88e7e_1_476:notes">
            <a:extLst>
              <a:ext uri="{FF2B5EF4-FFF2-40B4-BE49-F238E27FC236}">
                <a16:creationId xmlns:a16="http://schemas.microsoft.com/office/drawing/2014/main" id="{1BFDB5E2-5B49-3FCC-2898-7BCE2F2690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6786272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0">
          <a:extLst>
            <a:ext uri="{FF2B5EF4-FFF2-40B4-BE49-F238E27FC236}">
              <a16:creationId xmlns:a16="http://schemas.microsoft.com/office/drawing/2014/main" id="{54B3D854-97FC-FE8F-8F01-67C1CE771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1e1b4d88e7e_1_476:notes">
            <a:extLst>
              <a:ext uri="{FF2B5EF4-FFF2-40B4-BE49-F238E27FC236}">
                <a16:creationId xmlns:a16="http://schemas.microsoft.com/office/drawing/2014/main" id="{6097C93E-386C-05D9-10A7-9A4E940AAA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2" name="Google Shape;692;g1e1b4d88e7e_1_476:notes">
            <a:extLst>
              <a:ext uri="{FF2B5EF4-FFF2-40B4-BE49-F238E27FC236}">
                <a16:creationId xmlns:a16="http://schemas.microsoft.com/office/drawing/2014/main" id="{5515EF43-10C5-5887-FBAE-485BE3B730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7062695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0">
          <a:extLst>
            <a:ext uri="{FF2B5EF4-FFF2-40B4-BE49-F238E27FC236}">
              <a16:creationId xmlns:a16="http://schemas.microsoft.com/office/drawing/2014/main" id="{48DC9201-E0E0-1EA9-2580-C93A40C8D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1e1b4d88e7e_1_476:notes">
            <a:extLst>
              <a:ext uri="{FF2B5EF4-FFF2-40B4-BE49-F238E27FC236}">
                <a16:creationId xmlns:a16="http://schemas.microsoft.com/office/drawing/2014/main" id="{E655DE51-DFCD-1331-D44D-38008311AE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2" name="Google Shape;692;g1e1b4d88e7e_1_476:notes">
            <a:extLst>
              <a:ext uri="{FF2B5EF4-FFF2-40B4-BE49-F238E27FC236}">
                <a16:creationId xmlns:a16="http://schemas.microsoft.com/office/drawing/2014/main" id="{1E50DB78-6B34-C19A-4091-A868D28068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7468317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0">
          <a:extLst>
            <a:ext uri="{FF2B5EF4-FFF2-40B4-BE49-F238E27FC236}">
              <a16:creationId xmlns:a16="http://schemas.microsoft.com/office/drawing/2014/main" id="{7E9D34EA-86F3-C877-7769-FC734E99A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1e1b4d88e7e_1_476:notes">
            <a:extLst>
              <a:ext uri="{FF2B5EF4-FFF2-40B4-BE49-F238E27FC236}">
                <a16:creationId xmlns:a16="http://schemas.microsoft.com/office/drawing/2014/main" id="{EBC17778-7328-908C-9AE9-B390028A69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2" name="Google Shape;692;g1e1b4d88e7e_1_476:notes">
            <a:extLst>
              <a:ext uri="{FF2B5EF4-FFF2-40B4-BE49-F238E27FC236}">
                <a16:creationId xmlns:a16="http://schemas.microsoft.com/office/drawing/2014/main" id="{AA309AC5-0DBE-9D6F-BEEA-69CFF43E31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761220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0">
          <a:extLst>
            <a:ext uri="{FF2B5EF4-FFF2-40B4-BE49-F238E27FC236}">
              <a16:creationId xmlns:a16="http://schemas.microsoft.com/office/drawing/2014/main" id="{E66F4488-6BC9-8C1B-D391-64C2B1FFC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1e1b4d88e7e_1_476:notes">
            <a:extLst>
              <a:ext uri="{FF2B5EF4-FFF2-40B4-BE49-F238E27FC236}">
                <a16:creationId xmlns:a16="http://schemas.microsoft.com/office/drawing/2014/main" id="{9BA4BCA5-44A0-DD81-265D-CCCCFEA971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2" name="Google Shape;692;g1e1b4d88e7e_1_476:notes">
            <a:extLst>
              <a:ext uri="{FF2B5EF4-FFF2-40B4-BE49-F238E27FC236}">
                <a16:creationId xmlns:a16="http://schemas.microsoft.com/office/drawing/2014/main" id="{AFDE0C88-69EA-D47A-D56F-175747A6CB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7512895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0">
          <a:extLst>
            <a:ext uri="{FF2B5EF4-FFF2-40B4-BE49-F238E27FC236}">
              <a16:creationId xmlns:a16="http://schemas.microsoft.com/office/drawing/2014/main" id="{2DC014AA-2D40-344A-AF24-3ECD07906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1e1b4d88e7e_1_476:notes">
            <a:extLst>
              <a:ext uri="{FF2B5EF4-FFF2-40B4-BE49-F238E27FC236}">
                <a16:creationId xmlns:a16="http://schemas.microsoft.com/office/drawing/2014/main" id="{848E453B-F947-35E7-DF6C-9C085062DB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2" name="Google Shape;692;g1e1b4d88e7e_1_476:notes">
            <a:extLst>
              <a:ext uri="{FF2B5EF4-FFF2-40B4-BE49-F238E27FC236}">
                <a16:creationId xmlns:a16="http://schemas.microsoft.com/office/drawing/2014/main" id="{1DE0C760-9F5A-C236-1497-91EBF3E221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8458460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0C142CCC-0A69-4A15-BF35-AFF1BA41B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877b642fd3_0_223:notes">
            <a:extLst>
              <a:ext uri="{FF2B5EF4-FFF2-40B4-BE49-F238E27FC236}">
                <a16:creationId xmlns:a16="http://schemas.microsoft.com/office/drawing/2014/main" id="{E22B7D9E-187B-0622-2DB8-7FCB05E391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877b642fd3_0_223:notes">
            <a:extLst>
              <a:ext uri="{FF2B5EF4-FFF2-40B4-BE49-F238E27FC236}">
                <a16:creationId xmlns:a16="http://schemas.microsoft.com/office/drawing/2014/main" id="{5322A8AF-9E87-7A4B-3ECC-344B37A601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36926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0">
          <a:extLst>
            <a:ext uri="{FF2B5EF4-FFF2-40B4-BE49-F238E27FC236}">
              <a16:creationId xmlns:a16="http://schemas.microsoft.com/office/drawing/2014/main" id="{8DED04E2-0066-C355-016F-136F8B0DD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1e1b4d88e7e_1_476:notes">
            <a:extLst>
              <a:ext uri="{FF2B5EF4-FFF2-40B4-BE49-F238E27FC236}">
                <a16:creationId xmlns:a16="http://schemas.microsoft.com/office/drawing/2014/main" id="{A995DDFE-92C0-D55E-8CA1-BC082D3BC8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2" name="Google Shape;692;g1e1b4d88e7e_1_476:notes">
            <a:extLst>
              <a:ext uri="{FF2B5EF4-FFF2-40B4-BE49-F238E27FC236}">
                <a16:creationId xmlns:a16="http://schemas.microsoft.com/office/drawing/2014/main" id="{BD93158C-97EF-ACD1-63C7-7EAAC6A6B0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7196898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5205B559-2CDE-4358-8FF2-5EE9245A5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877b642fd3_0_223:notes">
            <a:extLst>
              <a:ext uri="{FF2B5EF4-FFF2-40B4-BE49-F238E27FC236}">
                <a16:creationId xmlns:a16="http://schemas.microsoft.com/office/drawing/2014/main" id="{F979548E-26F4-9880-F329-9F2D7460A7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877b642fd3_0_223:notes">
            <a:extLst>
              <a:ext uri="{FF2B5EF4-FFF2-40B4-BE49-F238E27FC236}">
                <a16:creationId xmlns:a16="http://schemas.microsoft.com/office/drawing/2014/main" id="{396918A4-2989-601F-538D-3453D5C57B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54871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22375" y="1437489"/>
            <a:ext cx="5493900" cy="184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5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22375" y="3620525"/>
            <a:ext cx="2737200" cy="6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pic>
        <p:nvPicPr>
          <p:cNvPr id="11" name="Google Shape;11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872984" y="-841973"/>
            <a:ext cx="6315055" cy="68305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"/>
          <p:cNvPicPr preferRelativeResize="0"/>
          <p:nvPr/>
        </p:nvPicPr>
        <p:blipFill rotWithShape="1">
          <a:blip r:embed="rId2">
            <a:alphaModFix/>
          </a:blip>
          <a:srcRect l="64606"/>
          <a:stretch/>
        </p:blipFill>
        <p:spPr>
          <a:xfrm>
            <a:off x="5907622" y="0"/>
            <a:ext cx="3236398" cy="5143476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722375" y="2135225"/>
            <a:ext cx="4845900" cy="167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0"/>
              <a:buNone/>
              <a:defRPr sz="5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2" hasCustomPrompt="1"/>
          </p:nvPr>
        </p:nvSpPr>
        <p:spPr>
          <a:xfrm>
            <a:off x="827275" y="699912"/>
            <a:ext cx="1313100" cy="13167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 txBox="1">
            <a:spLocks noGrp="1"/>
          </p:cNvSpPr>
          <p:nvPr>
            <p:ph type="subTitle" idx="1"/>
          </p:nvPr>
        </p:nvSpPr>
        <p:spPr>
          <a:xfrm>
            <a:off x="722375" y="4172050"/>
            <a:ext cx="4845900" cy="42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720000" y="463800"/>
            <a:ext cx="7704000" cy="592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Fredoka One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1714950" y="1460850"/>
            <a:ext cx="5714100" cy="222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pic>
        <p:nvPicPr>
          <p:cNvPr id="35" name="Google Shape;35;p8"/>
          <p:cNvPicPr preferRelativeResize="0"/>
          <p:nvPr/>
        </p:nvPicPr>
        <p:blipFill rotWithShape="1">
          <a:blip r:embed="rId2">
            <a:alphaModFix/>
          </a:blip>
          <a:srcRect l="82300"/>
          <a:stretch/>
        </p:blipFill>
        <p:spPr>
          <a:xfrm flipH="1">
            <a:off x="2" y="0"/>
            <a:ext cx="1618473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accent2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120400" y="2500924"/>
            <a:ext cx="4903200" cy="128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2120400" y="1365548"/>
            <a:ext cx="4903200" cy="95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0"/>
              <a:buNone/>
              <a:defRPr sz="5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2" name="Google Shape;42;p10"/>
          <p:cNvSpPr txBox="1">
            <a:spLocks noGrp="1"/>
          </p:cNvSpPr>
          <p:nvPr>
            <p:ph type="title"/>
          </p:nvPr>
        </p:nvSpPr>
        <p:spPr>
          <a:xfrm>
            <a:off x="720000" y="463800"/>
            <a:ext cx="7704000" cy="592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Fredoka One"/>
              <a:buNone/>
              <a:defRPr>
                <a:highlight>
                  <a:schemeClr val="dk1"/>
                </a:highlight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>
                <a:solidFill>
                  <a:schemeClr val="dk1"/>
                </a:solidFill>
                <a:highlight>
                  <a:schemeClr val="dk1"/>
                </a:highlight>
                <a:latin typeface="Fredoka One"/>
                <a:ea typeface="Fredoka One"/>
                <a:cs typeface="Fredoka One"/>
                <a:sym typeface="Fredoka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>
                <a:solidFill>
                  <a:schemeClr val="dk1"/>
                </a:solidFill>
                <a:highlight>
                  <a:schemeClr val="dk1"/>
                </a:highlight>
                <a:latin typeface="Fredoka One"/>
                <a:ea typeface="Fredoka One"/>
                <a:cs typeface="Fredoka One"/>
                <a:sym typeface="Fredoka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>
                <a:solidFill>
                  <a:schemeClr val="dk1"/>
                </a:solidFill>
                <a:highlight>
                  <a:schemeClr val="dk1"/>
                </a:highlight>
                <a:latin typeface="Fredoka One"/>
                <a:ea typeface="Fredoka One"/>
                <a:cs typeface="Fredoka One"/>
                <a:sym typeface="Fredoka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>
                <a:solidFill>
                  <a:schemeClr val="dk1"/>
                </a:solidFill>
                <a:highlight>
                  <a:schemeClr val="dk1"/>
                </a:highlight>
                <a:latin typeface="Fredoka One"/>
                <a:ea typeface="Fredoka One"/>
                <a:cs typeface="Fredoka One"/>
                <a:sym typeface="Fredoka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>
                <a:solidFill>
                  <a:schemeClr val="dk1"/>
                </a:solidFill>
                <a:highlight>
                  <a:schemeClr val="dk1"/>
                </a:highlight>
                <a:latin typeface="Fredoka One"/>
                <a:ea typeface="Fredoka One"/>
                <a:cs typeface="Fredoka One"/>
                <a:sym typeface="Fredoka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>
                <a:solidFill>
                  <a:schemeClr val="dk1"/>
                </a:solidFill>
                <a:highlight>
                  <a:schemeClr val="dk1"/>
                </a:highlight>
                <a:latin typeface="Fredoka One"/>
                <a:ea typeface="Fredoka One"/>
                <a:cs typeface="Fredoka One"/>
                <a:sym typeface="Fredoka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>
                <a:solidFill>
                  <a:schemeClr val="dk1"/>
                </a:solidFill>
                <a:highlight>
                  <a:schemeClr val="dk1"/>
                </a:highlight>
                <a:latin typeface="Fredoka One"/>
                <a:ea typeface="Fredoka One"/>
                <a:cs typeface="Fredoka One"/>
                <a:sym typeface="Fredoka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>
                <a:solidFill>
                  <a:schemeClr val="dk1"/>
                </a:solidFill>
                <a:highlight>
                  <a:schemeClr val="dk1"/>
                </a:highlight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484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1468050" y="1667365"/>
            <a:ext cx="6207900" cy="125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subTitle" idx="1"/>
          </p:nvPr>
        </p:nvSpPr>
        <p:spPr>
          <a:xfrm flipH="1">
            <a:off x="1468050" y="2982191"/>
            <a:ext cx="6207900" cy="39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18">
    <p:bg>
      <p:bgPr>
        <a:solidFill>
          <a:schemeClr val="accent2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 txBox="1">
            <a:spLocks noGrp="1"/>
          </p:cNvSpPr>
          <p:nvPr>
            <p:ph type="title"/>
          </p:nvPr>
        </p:nvSpPr>
        <p:spPr>
          <a:xfrm>
            <a:off x="722375" y="3296399"/>
            <a:ext cx="4053900" cy="47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0" name="Google Shape;50;p13"/>
          <p:cNvSpPr txBox="1">
            <a:spLocks noGrp="1"/>
          </p:cNvSpPr>
          <p:nvPr>
            <p:ph type="subTitle" idx="1"/>
          </p:nvPr>
        </p:nvSpPr>
        <p:spPr>
          <a:xfrm>
            <a:off x="722375" y="1335650"/>
            <a:ext cx="4053900" cy="154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pic>
        <p:nvPicPr>
          <p:cNvPr id="51" name="Google Shape;51;p13"/>
          <p:cNvPicPr preferRelativeResize="0"/>
          <p:nvPr/>
        </p:nvPicPr>
        <p:blipFill rotWithShape="1">
          <a:blip r:embed="rId2">
            <a:alphaModFix/>
          </a:blip>
          <a:srcRect l="54174"/>
          <a:stretch/>
        </p:blipFill>
        <p:spPr>
          <a:xfrm>
            <a:off x="4953777" y="0"/>
            <a:ext cx="419022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22_1">
    <p:bg>
      <p:bgPr>
        <a:solidFill>
          <a:schemeClr val="accent2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14"/>
          <p:cNvPicPr preferRelativeResize="0"/>
          <p:nvPr/>
        </p:nvPicPr>
        <p:blipFill rotWithShape="1">
          <a:blip r:embed="rId2">
            <a:alphaModFix/>
          </a:blip>
          <a:srcRect r="49786"/>
          <a:stretch/>
        </p:blipFill>
        <p:spPr>
          <a:xfrm>
            <a:off x="-704650" y="0"/>
            <a:ext cx="4591575" cy="5143476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4"/>
          <p:cNvSpPr txBox="1">
            <a:spLocks noGrp="1"/>
          </p:cNvSpPr>
          <p:nvPr>
            <p:ph type="title"/>
          </p:nvPr>
        </p:nvSpPr>
        <p:spPr>
          <a:xfrm flipH="1">
            <a:off x="3777975" y="2359875"/>
            <a:ext cx="4648200" cy="94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None/>
              <a:defRPr sz="50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p14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7008175" y="953562"/>
            <a:ext cx="1313100" cy="13167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 flipH="1">
            <a:off x="5637675" y="3663700"/>
            <a:ext cx="2788500" cy="62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4_1_1_1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>
            <a:spLocks noGrp="1"/>
          </p:cNvSpPr>
          <p:nvPr>
            <p:ph type="subTitle" idx="1"/>
          </p:nvPr>
        </p:nvSpPr>
        <p:spPr>
          <a:xfrm>
            <a:off x="5668750" y="2440017"/>
            <a:ext cx="26481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Outfit Black"/>
                <a:ea typeface="Outfit Black"/>
                <a:cs typeface="Outfit Black"/>
                <a:sym typeface="Outfit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Outfit Black"/>
                <a:ea typeface="Outfit Black"/>
                <a:cs typeface="Outfit Black"/>
                <a:sym typeface="Outfit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Outfit Black"/>
                <a:ea typeface="Outfit Black"/>
                <a:cs typeface="Outfit Black"/>
                <a:sym typeface="Outfit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Outfit Black"/>
                <a:ea typeface="Outfit Black"/>
                <a:cs typeface="Outfit Black"/>
                <a:sym typeface="Outfit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Outfit Black"/>
                <a:ea typeface="Outfit Black"/>
                <a:cs typeface="Outfit Black"/>
                <a:sym typeface="Outfit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Outfit Black"/>
                <a:ea typeface="Outfit Black"/>
                <a:cs typeface="Outfit Black"/>
                <a:sym typeface="Outfit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Outfit Black"/>
                <a:ea typeface="Outfit Black"/>
                <a:cs typeface="Outfit Black"/>
                <a:sym typeface="Outfit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Outfit Black"/>
                <a:ea typeface="Outfit Black"/>
                <a:cs typeface="Outfit Black"/>
                <a:sym typeface="Outfit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Outfit Black"/>
                <a:ea typeface="Outfit Black"/>
                <a:cs typeface="Outfit Black"/>
                <a:sym typeface="Outfit Black"/>
              </a:defRPr>
            </a:lvl9pPr>
          </a:lstStyle>
          <a:p>
            <a:endParaRPr/>
          </a:p>
        </p:txBody>
      </p:sp>
      <p:sp>
        <p:nvSpPr>
          <p:cNvPr id="115" name="Google Shape;115;p22"/>
          <p:cNvSpPr txBox="1">
            <a:spLocks noGrp="1"/>
          </p:cNvSpPr>
          <p:nvPr>
            <p:ph type="subTitle" idx="2"/>
          </p:nvPr>
        </p:nvSpPr>
        <p:spPr>
          <a:xfrm>
            <a:off x="5668750" y="2812993"/>
            <a:ext cx="2648100" cy="5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2"/>
          <p:cNvSpPr txBox="1">
            <a:spLocks noGrp="1"/>
          </p:cNvSpPr>
          <p:nvPr>
            <p:ph type="subTitle" idx="3"/>
          </p:nvPr>
        </p:nvSpPr>
        <p:spPr>
          <a:xfrm>
            <a:off x="5668750" y="1316200"/>
            <a:ext cx="26481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Outfit Black"/>
                <a:ea typeface="Outfit Black"/>
                <a:cs typeface="Outfit Black"/>
                <a:sym typeface="Outfit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Outfit Black"/>
                <a:ea typeface="Outfit Black"/>
                <a:cs typeface="Outfit Black"/>
                <a:sym typeface="Outfit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Outfit Black"/>
                <a:ea typeface="Outfit Black"/>
                <a:cs typeface="Outfit Black"/>
                <a:sym typeface="Outfit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Outfit Black"/>
                <a:ea typeface="Outfit Black"/>
                <a:cs typeface="Outfit Black"/>
                <a:sym typeface="Outfit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Outfit Black"/>
                <a:ea typeface="Outfit Black"/>
                <a:cs typeface="Outfit Black"/>
                <a:sym typeface="Outfit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Outfit Black"/>
                <a:ea typeface="Outfit Black"/>
                <a:cs typeface="Outfit Black"/>
                <a:sym typeface="Outfit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Outfit Black"/>
                <a:ea typeface="Outfit Black"/>
                <a:cs typeface="Outfit Black"/>
                <a:sym typeface="Outfit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Outfit Black"/>
                <a:ea typeface="Outfit Black"/>
                <a:cs typeface="Outfit Black"/>
                <a:sym typeface="Outfit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Outfit Black"/>
                <a:ea typeface="Outfit Black"/>
                <a:cs typeface="Outfit Black"/>
                <a:sym typeface="Outfit Black"/>
              </a:defRPr>
            </a:lvl9pPr>
          </a:lstStyle>
          <a:p>
            <a:endParaRPr/>
          </a:p>
        </p:txBody>
      </p:sp>
      <p:sp>
        <p:nvSpPr>
          <p:cNvPr id="117" name="Google Shape;117;p22"/>
          <p:cNvSpPr txBox="1">
            <a:spLocks noGrp="1"/>
          </p:cNvSpPr>
          <p:nvPr>
            <p:ph type="subTitle" idx="4"/>
          </p:nvPr>
        </p:nvSpPr>
        <p:spPr>
          <a:xfrm>
            <a:off x="5668750" y="1689164"/>
            <a:ext cx="2648100" cy="5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2"/>
          <p:cNvSpPr txBox="1">
            <a:spLocks noGrp="1"/>
          </p:cNvSpPr>
          <p:nvPr>
            <p:ph type="subTitle" idx="5"/>
          </p:nvPr>
        </p:nvSpPr>
        <p:spPr>
          <a:xfrm>
            <a:off x="5668750" y="3563835"/>
            <a:ext cx="2648100" cy="45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Outfit Black"/>
                <a:ea typeface="Outfit Black"/>
                <a:cs typeface="Outfit Black"/>
                <a:sym typeface="Outfit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Outfit Black"/>
                <a:ea typeface="Outfit Black"/>
                <a:cs typeface="Outfit Black"/>
                <a:sym typeface="Outfit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Outfit Black"/>
                <a:ea typeface="Outfit Black"/>
                <a:cs typeface="Outfit Black"/>
                <a:sym typeface="Outfit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Outfit Black"/>
                <a:ea typeface="Outfit Black"/>
                <a:cs typeface="Outfit Black"/>
                <a:sym typeface="Outfit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Outfit Black"/>
                <a:ea typeface="Outfit Black"/>
                <a:cs typeface="Outfit Black"/>
                <a:sym typeface="Outfit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Outfit Black"/>
                <a:ea typeface="Outfit Black"/>
                <a:cs typeface="Outfit Black"/>
                <a:sym typeface="Outfit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Outfit Black"/>
                <a:ea typeface="Outfit Black"/>
                <a:cs typeface="Outfit Black"/>
                <a:sym typeface="Outfit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Outfit Black"/>
                <a:ea typeface="Outfit Black"/>
                <a:cs typeface="Outfit Black"/>
                <a:sym typeface="Outfit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Outfit Black"/>
                <a:ea typeface="Outfit Black"/>
                <a:cs typeface="Outfit Black"/>
                <a:sym typeface="Outfit Black"/>
              </a:defRPr>
            </a:lvl9pPr>
          </a:lstStyle>
          <a:p>
            <a:endParaRPr/>
          </a:p>
        </p:txBody>
      </p:sp>
      <p:sp>
        <p:nvSpPr>
          <p:cNvPr id="119" name="Google Shape;119;p22"/>
          <p:cNvSpPr txBox="1">
            <a:spLocks noGrp="1"/>
          </p:cNvSpPr>
          <p:nvPr>
            <p:ph type="subTitle" idx="6"/>
          </p:nvPr>
        </p:nvSpPr>
        <p:spPr>
          <a:xfrm>
            <a:off x="5668750" y="3936800"/>
            <a:ext cx="2648100" cy="5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2"/>
          <p:cNvSpPr txBox="1">
            <a:spLocks noGrp="1"/>
          </p:cNvSpPr>
          <p:nvPr>
            <p:ph type="title"/>
          </p:nvPr>
        </p:nvSpPr>
        <p:spPr>
          <a:xfrm>
            <a:off x="720000" y="463800"/>
            <a:ext cx="7704000" cy="592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Font typeface="Fredoka One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600"/>
              <a:buFont typeface="Fredoka One"/>
              <a:buNone/>
              <a:defRPr>
                <a:latin typeface="Fredoka One"/>
                <a:ea typeface="Fredoka One"/>
                <a:cs typeface="Fredoka One"/>
                <a:sym typeface="Fredoka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600"/>
              <a:buFont typeface="Fredoka One"/>
              <a:buNone/>
              <a:defRPr>
                <a:latin typeface="Fredoka One"/>
                <a:ea typeface="Fredoka One"/>
                <a:cs typeface="Fredoka One"/>
                <a:sym typeface="Fredoka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600"/>
              <a:buFont typeface="Fredoka One"/>
              <a:buNone/>
              <a:defRPr>
                <a:latin typeface="Fredoka One"/>
                <a:ea typeface="Fredoka One"/>
                <a:cs typeface="Fredoka One"/>
                <a:sym typeface="Fredoka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600"/>
              <a:buFont typeface="Fredoka One"/>
              <a:buNone/>
              <a:defRPr>
                <a:latin typeface="Fredoka One"/>
                <a:ea typeface="Fredoka One"/>
                <a:cs typeface="Fredoka One"/>
                <a:sym typeface="Fredoka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600"/>
              <a:buFont typeface="Fredoka One"/>
              <a:buNone/>
              <a:defRPr>
                <a:latin typeface="Fredoka One"/>
                <a:ea typeface="Fredoka One"/>
                <a:cs typeface="Fredoka One"/>
                <a:sym typeface="Fredoka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600"/>
              <a:buFont typeface="Fredoka One"/>
              <a:buNone/>
              <a:defRPr>
                <a:latin typeface="Fredoka One"/>
                <a:ea typeface="Fredoka One"/>
                <a:cs typeface="Fredoka One"/>
                <a:sym typeface="Fredoka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600"/>
              <a:buFont typeface="Fredoka One"/>
              <a:buNone/>
              <a:defRPr>
                <a:latin typeface="Fredoka One"/>
                <a:ea typeface="Fredoka One"/>
                <a:cs typeface="Fredoka One"/>
                <a:sym typeface="Fredoka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600"/>
              <a:buFont typeface="Fredoka One"/>
              <a:buNone/>
              <a:defRPr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endParaRPr/>
          </a:p>
        </p:txBody>
      </p:sp>
      <p:sp>
        <p:nvSpPr>
          <p:cNvPr id="121" name="Google Shape;121;p22"/>
          <p:cNvSpPr txBox="1">
            <a:spLocks noGrp="1"/>
          </p:cNvSpPr>
          <p:nvPr>
            <p:ph type="subTitle" idx="7"/>
          </p:nvPr>
        </p:nvSpPr>
        <p:spPr>
          <a:xfrm>
            <a:off x="1739500" y="1316200"/>
            <a:ext cx="26481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Outfit Black"/>
                <a:ea typeface="Outfit Black"/>
                <a:cs typeface="Outfit Black"/>
                <a:sym typeface="Outfit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Outfit Black"/>
                <a:ea typeface="Outfit Black"/>
                <a:cs typeface="Outfit Black"/>
                <a:sym typeface="Outfit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Outfit Black"/>
                <a:ea typeface="Outfit Black"/>
                <a:cs typeface="Outfit Black"/>
                <a:sym typeface="Outfit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Outfit Black"/>
                <a:ea typeface="Outfit Black"/>
                <a:cs typeface="Outfit Black"/>
                <a:sym typeface="Outfit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Outfit Black"/>
                <a:ea typeface="Outfit Black"/>
                <a:cs typeface="Outfit Black"/>
                <a:sym typeface="Outfit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Outfit Black"/>
                <a:ea typeface="Outfit Black"/>
                <a:cs typeface="Outfit Black"/>
                <a:sym typeface="Outfit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Outfit Black"/>
                <a:ea typeface="Outfit Black"/>
                <a:cs typeface="Outfit Black"/>
                <a:sym typeface="Outfit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Outfit Black"/>
                <a:ea typeface="Outfit Black"/>
                <a:cs typeface="Outfit Black"/>
                <a:sym typeface="Outfit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Outfit Black"/>
                <a:ea typeface="Outfit Black"/>
                <a:cs typeface="Outfit Black"/>
                <a:sym typeface="Outfit Black"/>
              </a:defRPr>
            </a:lvl9pPr>
          </a:lstStyle>
          <a:p>
            <a:endParaRPr/>
          </a:p>
        </p:txBody>
      </p:sp>
      <p:sp>
        <p:nvSpPr>
          <p:cNvPr id="122" name="Google Shape;122;p22"/>
          <p:cNvSpPr txBox="1">
            <a:spLocks noGrp="1"/>
          </p:cNvSpPr>
          <p:nvPr>
            <p:ph type="subTitle" idx="8"/>
          </p:nvPr>
        </p:nvSpPr>
        <p:spPr>
          <a:xfrm>
            <a:off x="1739500" y="1689164"/>
            <a:ext cx="2648100" cy="5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2"/>
          <p:cNvSpPr txBox="1">
            <a:spLocks noGrp="1"/>
          </p:cNvSpPr>
          <p:nvPr>
            <p:ph type="subTitle" idx="9"/>
          </p:nvPr>
        </p:nvSpPr>
        <p:spPr>
          <a:xfrm>
            <a:off x="1739500" y="2440017"/>
            <a:ext cx="26481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Outfit Black"/>
                <a:ea typeface="Outfit Black"/>
                <a:cs typeface="Outfit Black"/>
                <a:sym typeface="Outfit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Outfit Black"/>
                <a:ea typeface="Outfit Black"/>
                <a:cs typeface="Outfit Black"/>
                <a:sym typeface="Outfit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Outfit Black"/>
                <a:ea typeface="Outfit Black"/>
                <a:cs typeface="Outfit Black"/>
                <a:sym typeface="Outfit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Outfit Black"/>
                <a:ea typeface="Outfit Black"/>
                <a:cs typeface="Outfit Black"/>
                <a:sym typeface="Outfit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Outfit Black"/>
                <a:ea typeface="Outfit Black"/>
                <a:cs typeface="Outfit Black"/>
                <a:sym typeface="Outfit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Outfit Black"/>
                <a:ea typeface="Outfit Black"/>
                <a:cs typeface="Outfit Black"/>
                <a:sym typeface="Outfit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Outfit Black"/>
                <a:ea typeface="Outfit Black"/>
                <a:cs typeface="Outfit Black"/>
                <a:sym typeface="Outfit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Outfit Black"/>
                <a:ea typeface="Outfit Black"/>
                <a:cs typeface="Outfit Black"/>
                <a:sym typeface="Outfit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Outfit Black"/>
                <a:ea typeface="Outfit Black"/>
                <a:cs typeface="Outfit Black"/>
                <a:sym typeface="Outfit Black"/>
              </a:defRPr>
            </a:lvl9pPr>
          </a:lstStyle>
          <a:p>
            <a:endParaRPr/>
          </a:p>
        </p:txBody>
      </p:sp>
      <p:sp>
        <p:nvSpPr>
          <p:cNvPr id="124" name="Google Shape;124;p22"/>
          <p:cNvSpPr txBox="1">
            <a:spLocks noGrp="1"/>
          </p:cNvSpPr>
          <p:nvPr>
            <p:ph type="subTitle" idx="13"/>
          </p:nvPr>
        </p:nvSpPr>
        <p:spPr>
          <a:xfrm>
            <a:off x="1739500" y="2812993"/>
            <a:ext cx="2648100" cy="5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22"/>
          <p:cNvSpPr txBox="1">
            <a:spLocks noGrp="1"/>
          </p:cNvSpPr>
          <p:nvPr>
            <p:ph type="subTitle" idx="14"/>
          </p:nvPr>
        </p:nvSpPr>
        <p:spPr>
          <a:xfrm>
            <a:off x="1739500" y="3563835"/>
            <a:ext cx="26481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Outfit Black"/>
                <a:ea typeface="Outfit Black"/>
                <a:cs typeface="Outfit Black"/>
                <a:sym typeface="Outfit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Outfit Black"/>
                <a:ea typeface="Outfit Black"/>
                <a:cs typeface="Outfit Black"/>
                <a:sym typeface="Outfit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Outfit Black"/>
                <a:ea typeface="Outfit Black"/>
                <a:cs typeface="Outfit Black"/>
                <a:sym typeface="Outfit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Outfit Black"/>
                <a:ea typeface="Outfit Black"/>
                <a:cs typeface="Outfit Black"/>
                <a:sym typeface="Outfit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Outfit Black"/>
                <a:ea typeface="Outfit Black"/>
                <a:cs typeface="Outfit Black"/>
                <a:sym typeface="Outfit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Outfit Black"/>
                <a:ea typeface="Outfit Black"/>
                <a:cs typeface="Outfit Black"/>
                <a:sym typeface="Outfit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Outfit Black"/>
                <a:ea typeface="Outfit Black"/>
                <a:cs typeface="Outfit Black"/>
                <a:sym typeface="Outfit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Outfit Black"/>
                <a:ea typeface="Outfit Black"/>
                <a:cs typeface="Outfit Black"/>
                <a:sym typeface="Outfit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Outfit Black"/>
                <a:ea typeface="Outfit Black"/>
                <a:cs typeface="Outfit Black"/>
                <a:sym typeface="Outfit Black"/>
              </a:defRPr>
            </a:lvl9pPr>
          </a:lstStyle>
          <a:p>
            <a:endParaRPr/>
          </a:p>
        </p:txBody>
      </p:sp>
      <p:sp>
        <p:nvSpPr>
          <p:cNvPr id="126" name="Google Shape;126;p22"/>
          <p:cNvSpPr txBox="1">
            <a:spLocks noGrp="1"/>
          </p:cNvSpPr>
          <p:nvPr>
            <p:ph type="subTitle" idx="15"/>
          </p:nvPr>
        </p:nvSpPr>
        <p:spPr>
          <a:xfrm>
            <a:off x="1739500" y="3936800"/>
            <a:ext cx="2648100" cy="5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127" name="Google Shape;127;p22"/>
          <p:cNvPicPr preferRelativeResize="0"/>
          <p:nvPr/>
        </p:nvPicPr>
        <p:blipFill rotWithShape="1">
          <a:blip r:embed="rId2">
            <a:alphaModFix/>
          </a:blip>
          <a:srcRect l="79527" b="21826"/>
          <a:stretch/>
        </p:blipFill>
        <p:spPr>
          <a:xfrm>
            <a:off x="7452325" y="-249675"/>
            <a:ext cx="1872026" cy="4021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24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7"/>
          <p:cNvPicPr preferRelativeResize="0"/>
          <p:nvPr/>
        </p:nvPicPr>
        <p:blipFill rotWithShape="1">
          <a:blip r:embed="rId2">
            <a:alphaModFix/>
          </a:blip>
          <a:srcRect t="36366" r="60971"/>
          <a:stretch/>
        </p:blipFill>
        <p:spPr>
          <a:xfrm>
            <a:off x="0" y="1870550"/>
            <a:ext cx="3568748" cy="327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25">
    <p:bg>
      <p:bgPr>
        <a:solidFill>
          <a:schemeClr val="accent1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0"/>
            <a:ext cx="9144003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46380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Outfit Black"/>
              <a:buNone/>
              <a:defRPr sz="2600">
                <a:solidFill>
                  <a:schemeClr val="lt1"/>
                </a:solidFill>
                <a:latin typeface="Outfit Black"/>
                <a:ea typeface="Outfit Black"/>
                <a:cs typeface="Outfit Black"/>
                <a:sym typeface="Outfit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Outfit Black"/>
              <a:buNone/>
              <a:defRPr sz="2600">
                <a:solidFill>
                  <a:schemeClr val="lt1"/>
                </a:solidFill>
                <a:latin typeface="Outfit Black"/>
                <a:ea typeface="Outfit Black"/>
                <a:cs typeface="Outfit Black"/>
                <a:sym typeface="Outfit Blac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Outfit Black"/>
              <a:buNone/>
              <a:defRPr sz="2600">
                <a:solidFill>
                  <a:schemeClr val="lt1"/>
                </a:solidFill>
                <a:latin typeface="Outfit Black"/>
                <a:ea typeface="Outfit Black"/>
                <a:cs typeface="Outfit Black"/>
                <a:sym typeface="Outfit Blac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Outfit Black"/>
              <a:buNone/>
              <a:defRPr sz="2600">
                <a:solidFill>
                  <a:schemeClr val="lt1"/>
                </a:solidFill>
                <a:latin typeface="Outfit Black"/>
                <a:ea typeface="Outfit Black"/>
                <a:cs typeface="Outfit Black"/>
                <a:sym typeface="Outfit Blac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Outfit Black"/>
              <a:buNone/>
              <a:defRPr sz="2600">
                <a:solidFill>
                  <a:schemeClr val="lt1"/>
                </a:solidFill>
                <a:latin typeface="Outfit Black"/>
                <a:ea typeface="Outfit Black"/>
                <a:cs typeface="Outfit Black"/>
                <a:sym typeface="Outfit Blac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Outfit Black"/>
              <a:buNone/>
              <a:defRPr sz="2600">
                <a:solidFill>
                  <a:schemeClr val="lt1"/>
                </a:solidFill>
                <a:latin typeface="Outfit Black"/>
                <a:ea typeface="Outfit Black"/>
                <a:cs typeface="Outfit Black"/>
                <a:sym typeface="Outfit Blac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Outfit Black"/>
              <a:buNone/>
              <a:defRPr sz="2600">
                <a:solidFill>
                  <a:schemeClr val="lt1"/>
                </a:solidFill>
                <a:latin typeface="Outfit Black"/>
                <a:ea typeface="Outfit Black"/>
                <a:cs typeface="Outfit Black"/>
                <a:sym typeface="Outfit Blac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Outfit Black"/>
              <a:buNone/>
              <a:defRPr sz="2600">
                <a:solidFill>
                  <a:schemeClr val="lt1"/>
                </a:solidFill>
                <a:latin typeface="Outfit Black"/>
                <a:ea typeface="Outfit Black"/>
                <a:cs typeface="Outfit Black"/>
                <a:sym typeface="Outfit Blac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Outfit Black"/>
              <a:buNone/>
              <a:defRPr sz="2600">
                <a:solidFill>
                  <a:schemeClr val="lt1"/>
                </a:solidFill>
                <a:latin typeface="Outfit Black"/>
                <a:ea typeface="Outfit Black"/>
                <a:cs typeface="Outfit Black"/>
                <a:sym typeface="Outfit Blac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300850"/>
            <a:ext cx="7704000" cy="3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■"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■"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■"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BD54128-512B-A998-B909-03BF8B86BE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1</a:t>
            </a:r>
            <a:endParaRPr lang="en-GB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8" r:id="rId11"/>
    <p:sldLayoutId id="2147483673" r:id="rId12"/>
    <p:sldLayoutId id="2147483674" r:id="rId13"/>
  </p:sldLayoutIdLst>
  <p:hf sldNum="0"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2"/>
          <p:cNvSpPr txBox="1">
            <a:spLocks noGrp="1"/>
          </p:cNvSpPr>
          <p:nvPr>
            <p:ph type="ctrTitle"/>
          </p:nvPr>
        </p:nvSpPr>
        <p:spPr>
          <a:xfrm>
            <a:off x="371708" y="1152290"/>
            <a:ext cx="7055005" cy="231635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latin typeface="+mj-lt"/>
              </a:rPr>
              <a:t>Digitization and Hazard Assessment of Energy Sector Infrastructure Data</a:t>
            </a:r>
            <a:endParaRPr sz="3600" dirty="0">
              <a:latin typeface="+mj-lt"/>
            </a:endParaRPr>
          </a:p>
        </p:txBody>
      </p:sp>
      <p:sp>
        <p:nvSpPr>
          <p:cNvPr id="162" name="Google Shape;162;p32"/>
          <p:cNvSpPr txBox="1">
            <a:spLocks noGrp="1"/>
          </p:cNvSpPr>
          <p:nvPr>
            <p:ph type="subTitle" idx="1"/>
          </p:nvPr>
        </p:nvSpPr>
        <p:spPr>
          <a:xfrm>
            <a:off x="0" y="4489428"/>
            <a:ext cx="4207727" cy="65407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Presented By: M. Taimoor Ashfaq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Presented To: Dr. Muhammad Shafeeq</a:t>
            </a:r>
            <a:endParaRPr sz="1400" dirty="0"/>
          </a:p>
        </p:txBody>
      </p:sp>
      <p:cxnSp>
        <p:nvCxnSpPr>
          <p:cNvPr id="163" name="Google Shape;163;p32"/>
          <p:cNvCxnSpPr/>
          <p:nvPr/>
        </p:nvCxnSpPr>
        <p:spPr>
          <a:xfrm>
            <a:off x="485305" y="3503239"/>
            <a:ext cx="2045700" cy="0"/>
          </a:xfrm>
          <a:prstGeom prst="straightConnector1">
            <a:avLst/>
          </a:prstGeom>
          <a:noFill/>
          <a:ln w="19050" cap="rnd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3"/>
          <p:cNvSpPr txBox="1">
            <a:spLocks noGrp="1"/>
          </p:cNvSpPr>
          <p:nvPr>
            <p:ph type="title"/>
          </p:nvPr>
        </p:nvSpPr>
        <p:spPr>
          <a:xfrm>
            <a:off x="720000" y="463800"/>
            <a:ext cx="7704000" cy="5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Outlines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169" name="Google Shape;169;p33"/>
          <p:cNvSpPr txBox="1"/>
          <p:nvPr/>
        </p:nvSpPr>
        <p:spPr>
          <a:xfrm>
            <a:off x="720000" y="1245049"/>
            <a:ext cx="7704000" cy="3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Key Points and Framework for Understanding the Concept</a:t>
            </a:r>
            <a:endParaRPr sz="1200" b="1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172" name="Google Shape;172;p33"/>
          <p:cNvGraphicFramePr/>
          <p:nvPr>
            <p:extLst>
              <p:ext uri="{D42A27DB-BD31-4B8C-83A1-F6EECF244321}">
                <p14:modId xmlns:p14="http://schemas.microsoft.com/office/powerpoint/2010/main" val="3586026591"/>
              </p:ext>
            </p:extLst>
          </p:nvPr>
        </p:nvGraphicFramePr>
        <p:xfrm>
          <a:off x="827275" y="1806400"/>
          <a:ext cx="7489450" cy="2103000"/>
        </p:xfrm>
        <a:graphic>
          <a:graphicData uri="http://schemas.openxmlformats.org/drawingml/2006/table">
            <a:tbl>
              <a:tblPr>
                <a:noFill/>
                <a:tableStyleId>{EA1E47AA-F55D-4114-B140-3033E189EDB9}</a:tableStyleId>
              </a:tblPr>
              <a:tblGrid>
                <a:gridCol w="2389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00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0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 dirty="0">
                          <a:solidFill>
                            <a:schemeClr val="dk1"/>
                          </a:solidFill>
                          <a:uFill>
                            <a:noFill/>
                          </a:uFill>
                          <a:latin typeface="Lato"/>
                          <a:ea typeface="Lato"/>
                          <a:cs typeface="Lato"/>
                          <a:sym typeface="Lato"/>
                        </a:rPr>
                        <a:t>Introduction</a:t>
                      </a:r>
                      <a:endParaRPr sz="1000" b="1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64000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Importance of Exposure Analysis, Types of V</a:t>
                      </a:r>
                      <a:r>
                        <a:rPr lang="en-GB" sz="1000" dirty="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</a:t>
                      </a:r>
                      <a:r>
                        <a:rPr lang="en" sz="1000" dirty="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lnerable I</a:t>
                      </a:r>
                      <a:r>
                        <a:rPr lang="en-GB" sz="1000" dirty="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</a:t>
                      </a:r>
                      <a:r>
                        <a:rPr lang="en" sz="1000" dirty="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frastructures</a:t>
                      </a:r>
                      <a:endParaRPr sz="1000" dirty="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64000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 dirty="0">
                          <a:solidFill>
                            <a:schemeClr val="dk1"/>
                          </a:solidFill>
                          <a:uFill>
                            <a:noFill/>
                          </a:uFill>
                          <a:latin typeface="Lato"/>
                          <a:ea typeface="Lato"/>
                          <a:cs typeface="Lato"/>
                          <a:sym typeface="Lato"/>
                        </a:rPr>
                        <a:t>Objectives</a:t>
                      </a:r>
                      <a:endParaRPr sz="1000" b="1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64000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</a:t>
                      </a:r>
                      <a:r>
                        <a:rPr lang="en-GB" sz="1000" dirty="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</a:t>
                      </a:r>
                      <a:r>
                        <a:rPr lang="en" sz="1000" dirty="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 Goals!</a:t>
                      </a:r>
                      <a:endParaRPr sz="1000" dirty="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64000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 dirty="0">
                          <a:solidFill>
                            <a:schemeClr val="dk1"/>
                          </a:solidFill>
                          <a:uFill>
                            <a:noFill/>
                          </a:uFill>
                          <a:latin typeface="Lato"/>
                          <a:ea typeface="Lato"/>
                          <a:cs typeface="Lato"/>
                          <a:sym typeface="Lato"/>
                        </a:rPr>
                        <a:t>Scope of Work</a:t>
                      </a:r>
                      <a:endParaRPr lang="en-GB" sz="1000" b="1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64000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Outline of digitization, hazard analysis, and reporting tasks.</a:t>
                      </a:r>
                      <a:endParaRPr sz="1000" dirty="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64000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 dirty="0">
                          <a:solidFill>
                            <a:schemeClr val="dk1"/>
                          </a:solidFill>
                          <a:uFill>
                            <a:noFill/>
                          </a:uFill>
                          <a:latin typeface="Lato"/>
                          <a:ea typeface="Lato"/>
                          <a:cs typeface="Lato"/>
                          <a:sym typeface="Lato"/>
                        </a:rPr>
                        <a:t>Methodology</a:t>
                      </a:r>
                      <a:endParaRPr sz="1000" b="1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64000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Implementation of Techniques</a:t>
                      </a:r>
                      <a:endParaRPr sz="1000" dirty="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64000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 dirty="0">
                          <a:solidFill>
                            <a:schemeClr val="dk1"/>
                          </a:solidFill>
                          <a:uFill>
                            <a:noFill/>
                          </a:uFill>
                          <a:latin typeface="Lato"/>
                          <a:ea typeface="Lato"/>
                          <a:cs typeface="Lato"/>
                          <a:sym typeface="Lato"/>
                        </a:rPr>
                        <a:t>Results and Discussion</a:t>
                      </a:r>
                      <a:endParaRPr sz="1000" b="1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64000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Unveiling Insights: What the Data Tells Us</a:t>
                      </a:r>
                      <a:endParaRPr sz="1000" dirty="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64000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Conclusion</a:t>
                      </a:r>
                      <a:endParaRPr sz="1000" b="1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64000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The Way Forward!</a:t>
                      </a:r>
                      <a:endParaRPr sz="1000" dirty="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64000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173" name="Google Shape;173;p33"/>
          <p:cNvCxnSpPr/>
          <p:nvPr/>
        </p:nvCxnSpPr>
        <p:spPr>
          <a:xfrm>
            <a:off x="825075" y="1095888"/>
            <a:ext cx="2045700" cy="0"/>
          </a:xfrm>
          <a:prstGeom prst="straightConnector1">
            <a:avLst/>
          </a:prstGeom>
          <a:noFill/>
          <a:ln w="19050" cap="rnd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Bar dir="vert"/>
      </p:transition>
    </mc:Choice>
    <mc:Fallback xmlns="">
      <p:transition spd="slow">
        <p:randomBar dir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alpha val="0"/>
          </a:schemeClr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4"/>
          <p:cNvSpPr txBox="1">
            <a:spLocks noGrp="1"/>
          </p:cNvSpPr>
          <p:nvPr>
            <p:ph type="subTitle" idx="1"/>
          </p:nvPr>
        </p:nvSpPr>
        <p:spPr>
          <a:xfrm>
            <a:off x="1837440" y="2542831"/>
            <a:ext cx="5469120" cy="15551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/>
              <a:t>One of the important components of Natural Catastrophe(NATCAT) model is exposure analysis to estimate national assets are risk from hydro-meteorological and geo-physical hazards.</a:t>
            </a:r>
          </a:p>
        </p:txBody>
      </p:sp>
      <p:sp>
        <p:nvSpPr>
          <p:cNvPr id="179" name="Google Shape;179;p34"/>
          <p:cNvSpPr txBox="1">
            <a:spLocks noGrp="1"/>
          </p:cNvSpPr>
          <p:nvPr>
            <p:ph type="title"/>
          </p:nvPr>
        </p:nvSpPr>
        <p:spPr>
          <a:xfrm>
            <a:off x="2497840" y="791398"/>
            <a:ext cx="4148320" cy="155514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Introduction</a:t>
            </a:r>
            <a:endParaRPr sz="3600" dirty="0"/>
          </a:p>
        </p:txBody>
      </p:sp>
      <p:cxnSp>
        <p:nvCxnSpPr>
          <p:cNvPr id="180" name="Google Shape;180;p34"/>
          <p:cNvCxnSpPr/>
          <p:nvPr/>
        </p:nvCxnSpPr>
        <p:spPr>
          <a:xfrm>
            <a:off x="2659200" y="2377023"/>
            <a:ext cx="3825600" cy="0"/>
          </a:xfrm>
          <a:prstGeom prst="straightConnector1">
            <a:avLst/>
          </a:prstGeom>
          <a:noFill/>
          <a:ln w="19050" cap="rnd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9C0A5A05-2EA1-3802-7E19-C41FFEF018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7004" y="163907"/>
            <a:ext cx="950871" cy="92336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alpha val="0"/>
          </a:schemeClr>
        </a:solidFill>
        <a:effectLst/>
      </p:bgPr>
    </p:bg>
    <p:spTree>
      <p:nvGrpSpPr>
        <p:cNvPr id="1" name="Shape 243">
          <a:extLst>
            <a:ext uri="{FF2B5EF4-FFF2-40B4-BE49-F238E27FC236}">
              <a16:creationId xmlns:a16="http://schemas.microsoft.com/office/drawing/2014/main" id="{6EA097B0-4A27-217B-4769-5164DF9B3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9">
            <a:extLst>
              <a:ext uri="{FF2B5EF4-FFF2-40B4-BE49-F238E27FC236}">
                <a16:creationId xmlns:a16="http://schemas.microsoft.com/office/drawing/2014/main" id="{AF5EC7E1-457E-80BD-AA19-49A8E66FE3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5214" y="-108456"/>
            <a:ext cx="4586791" cy="7839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Types of Energy Infrastructure Data</a:t>
            </a:r>
            <a:endParaRPr sz="2400" dirty="0"/>
          </a:p>
        </p:txBody>
      </p:sp>
      <p:cxnSp>
        <p:nvCxnSpPr>
          <p:cNvPr id="246" name="Google Shape;246;p39">
            <a:extLst>
              <a:ext uri="{FF2B5EF4-FFF2-40B4-BE49-F238E27FC236}">
                <a16:creationId xmlns:a16="http://schemas.microsoft.com/office/drawing/2014/main" id="{E5F94460-6F2D-73E2-F249-AD5F42D13649}"/>
              </a:ext>
            </a:extLst>
          </p:cNvPr>
          <p:cNvCxnSpPr>
            <a:cxnSpLocks/>
          </p:cNvCxnSpPr>
          <p:nvPr/>
        </p:nvCxnSpPr>
        <p:spPr>
          <a:xfrm>
            <a:off x="302619" y="675530"/>
            <a:ext cx="2633869" cy="0"/>
          </a:xfrm>
          <a:prstGeom prst="straightConnector1">
            <a:avLst/>
          </a:prstGeom>
          <a:noFill/>
          <a:ln w="19050" cap="rnd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Flowchart: Manual Operation 3">
            <a:extLst>
              <a:ext uri="{FF2B5EF4-FFF2-40B4-BE49-F238E27FC236}">
                <a16:creationId xmlns:a16="http://schemas.microsoft.com/office/drawing/2014/main" id="{B1C1C44D-3571-626A-075B-9D4916016984}"/>
              </a:ext>
            </a:extLst>
          </p:cNvPr>
          <p:cNvSpPr/>
          <p:nvPr/>
        </p:nvSpPr>
        <p:spPr>
          <a:xfrm rot="16200000">
            <a:off x="-224453" y="1966455"/>
            <a:ext cx="3456878" cy="1437649"/>
          </a:xfrm>
          <a:prstGeom prst="flowChartManualOperation">
            <a:avLst/>
          </a:prstGeom>
          <a:solidFill>
            <a:srgbClr val="FF00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Flowchart: Manual Operation 5">
            <a:extLst>
              <a:ext uri="{FF2B5EF4-FFF2-40B4-BE49-F238E27FC236}">
                <a16:creationId xmlns:a16="http://schemas.microsoft.com/office/drawing/2014/main" id="{3B39BE9B-9FAD-6E77-0395-684BCEDD4CD2}"/>
              </a:ext>
            </a:extLst>
          </p:cNvPr>
          <p:cNvSpPr/>
          <p:nvPr/>
        </p:nvSpPr>
        <p:spPr>
          <a:xfrm rot="16200000">
            <a:off x="1446836" y="1966455"/>
            <a:ext cx="3456878" cy="1437651"/>
          </a:xfrm>
          <a:prstGeom prst="flowChartManualOperation">
            <a:avLst/>
          </a:prstGeom>
          <a:solidFill>
            <a:srgbClr val="FF99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Flowchart: Manual Operation 15">
            <a:extLst>
              <a:ext uri="{FF2B5EF4-FFF2-40B4-BE49-F238E27FC236}">
                <a16:creationId xmlns:a16="http://schemas.microsoft.com/office/drawing/2014/main" id="{09D616FD-8ABE-F880-2727-172E8BAD7320}"/>
              </a:ext>
            </a:extLst>
          </p:cNvPr>
          <p:cNvSpPr/>
          <p:nvPr/>
        </p:nvSpPr>
        <p:spPr>
          <a:xfrm rot="16200000">
            <a:off x="3178319" y="1906258"/>
            <a:ext cx="3456878" cy="1558044"/>
          </a:xfrm>
          <a:prstGeom prst="flowChartManualOperation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 dirty="0"/>
          </a:p>
        </p:txBody>
      </p:sp>
      <p:sp>
        <p:nvSpPr>
          <p:cNvPr id="20" name="Flowchart: Manual Operation 19">
            <a:extLst>
              <a:ext uri="{FF2B5EF4-FFF2-40B4-BE49-F238E27FC236}">
                <a16:creationId xmlns:a16="http://schemas.microsoft.com/office/drawing/2014/main" id="{4B361935-FB23-E7E2-D32B-0C558DEA2D81}"/>
              </a:ext>
            </a:extLst>
          </p:cNvPr>
          <p:cNvSpPr/>
          <p:nvPr/>
        </p:nvSpPr>
        <p:spPr>
          <a:xfrm rot="16200000">
            <a:off x="4888147" y="1867717"/>
            <a:ext cx="3456878" cy="1635126"/>
          </a:xfrm>
          <a:prstGeom prst="flowChartManualOperation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6374C03-AA79-3D10-2A87-C62069651857}"/>
              </a:ext>
            </a:extLst>
          </p:cNvPr>
          <p:cNvSpPr txBox="1"/>
          <p:nvPr/>
        </p:nvSpPr>
        <p:spPr>
          <a:xfrm>
            <a:off x="927842" y="2217807"/>
            <a:ext cx="11522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</a:rPr>
              <a:t>Power Plants</a:t>
            </a:r>
            <a:endParaRPr lang="en-GB" sz="2000" dirty="0">
              <a:solidFill>
                <a:schemeClr val="bg1">
                  <a:lumMod val="95000"/>
                </a:schemeClr>
              </a:solidFill>
              <a:latin typeface="Helvetica" pitchFamily="2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5B2382C-DAB2-BD42-4DF1-361AA600885D}"/>
              </a:ext>
            </a:extLst>
          </p:cNvPr>
          <p:cNvSpPr txBox="1"/>
          <p:nvPr/>
        </p:nvSpPr>
        <p:spPr>
          <a:xfrm>
            <a:off x="5750895" y="2217807"/>
            <a:ext cx="17194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</a:rPr>
              <a:t>Transmission Lines</a:t>
            </a:r>
            <a:endParaRPr lang="en-GB" sz="2000" dirty="0">
              <a:solidFill>
                <a:schemeClr val="bg1">
                  <a:lumMod val="95000"/>
                </a:schemeClr>
              </a:solidFill>
              <a:latin typeface="Helvetica" pitchFamily="2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9B89D9A-E48C-13B0-DBC3-6D159243048E}"/>
              </a:ext>
            </a:extLst>
          </p:cNvPr>
          <p:cNvSpPr txBox="1"/>
          <p:nvPr/>
        </p:nvSpPr>
        <p:spPr>
          <a:xfrm>
            <a:off x="4067146" y="2239322"/>
            <a:ext cx="17194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</a:rPr>
              <a:t>Transmission Poles</a:t>
            </a:r>
            <a:endParaRPr lang="en-GB" sz="2000" dirty="0">
              <a:solidFill>
                <a:schemeClr val="bg1">
                  <a:lumMod val="95000"/>
                </a:schemeClr>
              </a:solidFill>
              <a:latin typeface="Helvetica" pitchFamily="2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5DF4DEF-6799-2F36-094E-8CC92066CE08}"/>
              </a:ext>
            </a:extLst>
          </p:cNvPr>
          <p:cNvSpPr txBox="1"/>
          <p:nvPr/>
        </p:nvSpPr>
        <p:spPr>
          <a:xfrm>
            <a:off x="2412406" y="2408599"/>
            <a:ext cx="1568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</a:rPr>
              <a:t>Grid Stations</a:t>
            </a:r>
            <a:endParaRPr lang="en-GB" sz="1800" dirty="0">
              <a:solidFill>
                <a:schemeClr val="bg1">
                  <a:lumMod val="95000"/>
                </a:schemeClr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8024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circle/>
      </p:transition>
    </mc:Choice>
    <mc:Fallback xmlns="">
      <p:transition spd="slow">
        <p:circl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7"/>
          <p:cNvSpPr txBox="1">
            <a:spLocks noGrp="1"/>
          </p:cNvSpPr>
          <p:nvPr>
            <p:ph type="title"/>
          </p:nvPr>
        </p:nvSpPr>
        <p:spPr>
          <a:xfrm>
            <a:off x="722375" y="2135225"/>
            <a:ext cx="4845900" cy="167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Objectives</a:t>
            </a:r>
            <a:endParaRPr dirty="0"/>
          </a:p>
        </p:txBody>
      </p:sp>
      <p:sp>
        <p:nvSpPr>
          <p:cNvPr id="229" name="Google Shape;229;p37"/>
          <p:cNvSpPr txBox="1">
            <a:spLocks noGrp="1"/>
          </p:cNvSpPr>
          <p:nvPr>
            <p:ph type="title" idx="2"/>
          </p:nvPr>
        </p:nvSpPr>
        <p:spPr>
          <a:xfrm>
            <a:off x="827275" y="699912"/>
            <a:ext cx="1313100" cy="1316700"/>
          </a:xfrm>
          <a:prstGeom prst="rect">
            <a:avLst/>
          </a:prstGeom>
          <a:solidFill>
            <a:schemeClr val="accent6">
              <a:lumMod val="95000"/>
            </a:schemeClr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230" name="Google Shape;230;p37"/>
          <p:cNvSpPr txBox="1">
            <a:spLocks noGrp="1"/>
          </p:cNvSpPr>
          <p:nvPr>
            <p:ph type="subTitle" idx="1"/>
          </p:nvPr>
        </p:nvSpPr>
        <p:spPr>
          <a:xfrm>
            <a:off x="722375" y="4172049"/>
            <a:ext cx="5217508" cy="6229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 </a:t>
            </a:r>
            <a:endParaRPr dirty="0"/>
          </a:p>
        </p:txBody>
      </p:sp>
      <p:cxnSp>
        <p:nvCxnSpPr>
          <p:cNvPr id="231" name="Google Shape;231;p37"/>
          <p:cNvCxnSpPr/>
          <p:nvPr/>
        </p:nvCxnSpPr>
        <p:spPr>
          <a:xfrm>
            <a:off x="827275" y="3929438"/>
            <a:ext cx="2045700" cy="0"/>
          </a:xfrm>
          <a:prstGeom prst="straightConnector1">
            <a:avLst/>
          </a:prstGeom>
          <a:noFill/>
          <a:ln w="19050" cap="rnd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Shape 693">
          <a:extLst>
            <a:ext uri="{FF2B5EF4-FFF2-40B4-BE49-F238E27FC236}">
              <a16:creationId xmlns:a16="http://schemas.microsoft.com/office/drawing/2014/main" id="{9184A334-C5CA-C8E8-B3F1-F83FCF68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49">
            <a:extLst>
              <a:ext uri="{FF2B5EF4-FFF2-40B4-BE49-F238E27FC236}">
                <a16:creationId xmlns:a16="http://schemas.microsoft.com/office/drawing/2014/main" id="{A42AA8B4-2947-4EC4-B922-06CDCB722D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63800"/>
            <a:ext cx="7704000" cy="5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</a:rPr>
              <a:t>Objectives</a:t>
            </a:r>
            <a:endParaRPr dirty="0">
              <a:solidFill>
                <a:schemeClr val="tx1"/>
              </a:solidFill>
            </a:endParaRPr>
          </a:p>
        </p:txBody>
      </p:sp>
      <p:cxnSp>
        <p:nvCxnSpPr>
          <p:cNvPr id="695" name="Google Shape;695;p49">
            <a:extLst>
              <a:ext uri="{FF2B5EF4-FFF2-40B4-BE49-F238E27FC236}">
                <a16:creationId xmlns:a16="http://schemas.microsoft.com/office/drawing/2014/main" id="{ACA00D9A-0501-1143-F84E-FCA1F209A423}"/>
              </a:ext>
            </a:extLst>
          </p:cNvPr>
          <p:cNvCxnSpPr>
            <a:cxnSpLocks/>
          </p:cNvCxnSpPr>
          <p:nvPr/>
        </p:nvCxnSpPr>
        <p:spPr>
          <a:xfrm>
            <a:off x="825075" y="1095888"/>
            <a:ext cx="4482905" cy="0"/>
          </a:xfrm>
          <a:prstGeom prst="straightConnector1">
            <a:avLst/>
          </a:prstGeom>
          <a:noFill/>
          <a:ln w="19050" cap="rnd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" name="Google Shape;695;p49">
            <a:extLst>
              <a:ext uri="{FF2B5EF4-FFF2-40B4-BE49-F238E27FC236}">
                <a16:creationId xmlns:a16="http://schemas.microsoft.com/office/drawing/2014/main" id="{94C880C5-36FF-DCE3-78D2-B278DD565F60}"/>
              </a:ext>
            </a:extLst>
          </p:cNvPr>
          <p:cNvCxnSpPr>
            <a:cxnSpLocks/>
          </p:cNvCxnSpPr>
          <p:nvPr/>
        </p:nvCxnSpPr>
        <p:spPr>
          <a:xfrm>
            <a:off x="1037340" y="1396692"/>
            <a:ext cx="6806076" cy="0"/>
          </a:xfrm>
          <a:prstGeom prst="straightConnector1">
            <a:avLst/>
          </a:prstGeom>
          <a:noFill/>
          <a:ln w="19050" cap="rnd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Google Shape;178;p34">
            <a:extLst>
              <a:ext uri="{FF2B5EF4-FFF2-40B4-BE49-F238E27FC236}">
                <a16:creationId xmlns:a16="http://schemas.microsoft.com/office/drawing/2014/main" id="{4AAE58FD-344A-BD71-6BA2-C7250E794FF6}"/>
              </a:ext>
            </a:extLst>
          </p:cNvPr>
          <p:cNvSpPr txBox="1">
            <a:spLocks/>
          </p:cNvSpPr>
          <p:nvPr/>
        </p:nvSpPr>
        <p:spPr>
          <a:xfrm>
            <a:off x="972717" y="1697163"/>
            <a:ext cx="7203688" cy="27527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Create accurate </a:t>
            </a:r>
            <a:r>
              <a:rPr lang="en-US" sz="1600" b="1" dirty="0">
                <a:solidFill>
                  <a:schemeClr val="tx1"/>
                </a:solidFill>
              </a:rPr>
              <a:t>geospatial datasets</a:t>
            </a:r>
            <a:r>
              <a:rPr lang="en-US" sz="1600" dirty="0">
                <a:solidFill>
                  <a:schemeClr val="tx1"/>
                </a:solidFill>
              </a:rPr>
              <a:t> for Pakistan’s energy sector infrastructure (</a:t>
            </a:r>
            <a:r>
              <a:rPr lang="en-US" sz="1600" b="1" dirty="0">
                <a:solidFill>
                  <a:schemeClr val="tx1"/>
                </a:solidFill>
              </a:rPr>
              <a:t>transmission lines </a:t>
            </a:r>
            <a:r>
              <a:rPr lang="en-US" sz="1600" dirty="0">
                <a:solidFill>
                  <a:schemeClr val="tx1"/>
                </a:solidFill>
              </a:rPr>
              <a:t>and </a:t>
            </a:r>
            <a:r>
              <a:rPr lang="en-US" sz="1600" b="1" dirty="0">
                <a:solidFill>
                  <a:schemeClr val="tx1"/>
                </a:solidFill>
              </a:rPr>
              <a:t>grid stations</a:t>
            </a:r>
            <a:r>
              <a:rPr lang="en-US" sz="1600" dirty="0">
                <a:solidFill>
                  <a:schemeClr val="tx1"/>
                </a:solidFill>
              </a:rPr>
              <a:t>) and evaluate their </a:t>
            </a:r>
            <a:r>
              <a:rPr lang="en-US" sz="1600" b="1" dirty="0">
                <a:solidFill>
                  <a:schemeClr val="tx1"/>
                </a:solidFill>
              </a:rPr>
              <a:t>susceptibility</a:t>
            </a:r>
            <a:r>
              <a:rPr lang="en-US" sz="1600" dirty="0">
                <a:solidFill>
                  <a:schemeClr val="tx1"/>
                </a:solidFill>
              </a:rPr>
              <a:t> to </a:t>
            </a:r>
            <a:r>
              <a:rPr lang="en-US" sz="1600" b="1" dirty="0">
                <a:solidFill>
                  <a:schemeClr val="tx1"/>
                </a:solidFill>
              </a:rPr>
              <a:t>natural hazards</a:t>
            </a:r>
            <a:r>
              <a:rPr lang="en-US" sz="1600" dirty="0">
                <a:solidFill>
                  <a:schemeClr val="tx1"/>
                </a:solidFill>
              </a:rPr>
              <a:t>, including floods (riverine and flash floods), cyclones, and earthquakes.</a:t>
            </a:r>
          </a:p>
          <a:p>
            <a:endParaRPr lang="en-US" sz="16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Deliver actionable insights through digitized data, </a:t>
            </a:r>
            <a:r>
              <a:rPr lang="en-US" sz="1600" b="1" dirty="0">
                <a:solidFill>
                  <a:schemeClr val="tx1"/>
                </a:solidFill>
              </a:rPr>
              <a:t>hazard assessment </a:t>
            </a:r>
            <a:r>
              <a:rPr lang="en-US" sz="1600" dirty="0">
                <a:solidFill>
                  <a:schemeClr val="tx1"/>
                </a:solidFill>
              </a:rPr>
              <a:t>tables, and maps to support risk mitigation and improve disaster preparedness for Pakistan’s energy sector.</a:t>
            </a:r>
          </a:p>
        </p:txBody>
      </p:sp>
      <p:cxnSp>
        <p:nvCxnSpPr>
          <p:cNvPr id="7" name="Google Shape;695;p49">
            <a:extLst>
              <a:ext uri="{FF2B5EF4-FFF2-40B4-BE49-F238E27FC236}">
                <a16:creationId xmlns:a16="http://schemas.microsoft.com/office/drawing/2014/main" id="{C8C49762-3AA5-D349-A287-CAC2DD74594B}"/>
              </a:ext>
            </a:extLst>
          </p:cNvPr>
          <p:cNvCxnSpPr>
            <a:cxnSpLocks/>
          </p:cNvCxnSpPr>
          <p:nvPr/>
        </p:nvCxnSpPr>
        <p:spPr>
          <a:xfrm>
            <a:off x="967595" y="4232258"/>
            <a:ext cx="6806076" cy="0"/>
          </a:xfrm>
          <a:prstGeom prst="straightConnector1">
            <a:avLst/>
          </a:prstGeom>
          <a:noFill/>
          <a:ln w="19050" cap="rnd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40236561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3"/>
          <p:cNvSpPr txBox="1">
            <a:spLocks noGrp="1"/>
          </p:cNvSpPr>
          <p:nvPr>
            <p:ph type="title"/>
          </p:nvPr>
        </p:nvSpPr>
        <p:spPr>
          <a:xfrm flipH="1">
            <a:off x="2426941" y="2359875"/>
            <a:ext cx="5999234" cy="94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SCOPE OF WORK</a:t>
            </a:r>
            <a:endParaRPr dirty="0"/>
          </a:p>
        </p:txBody>
      </p:sp>
      <p:sp>
        <p:nvSpPr>
          <p:cNvPr id="331" name="Google Shape;331;p43"/>
          <p:cNvSpPr txBox="1">
            <a:spLocks noGrp="1"/>
          </p:cNvSpPr>
          <p:nvPr>
            <p:ph type="title" idx="2"/>
          </p:nvPr>
        </p:nvSpPr>
        <p:spPr>
          <a:xfrm flipH="1">
            <a:off x="7008175" y="953562"/>
            <a:ext cx="1313100" cy="131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cxnSp>
        <p:nvCxnSpPr>
          <p:cNvPr id="332" name="Google Shape;332;p43"/>
          <p:cNvCxnSpPr/>
          <p:nvPr/>
        </p:nvCxnSpPr>
        <p:spPr>
          <a:xfrm rot="10800000">
            <a:off x="6717742" y="3421088"/>
            <a:ext cx="1625100" cy="0"/>
          </a:xfrm>
          <a:prstGeom prst="straightConnector1">
            <a:avLst/>
          </a:prstGeom>
          <a:noFill/>
          <a:ln w="19050" cap="rnd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3" name="Google Shape;333;p43"/>
          <p:cNvSpPr txBox="1">
            <a:spLocks noGrp="1"/>
          </p:cNvSpPr>
          <p:nvPr>
            <p:ph type="subTitle" idx="1"/>
          </p:nvPr>
        </p:nvSpPr>
        <p:spPr>
          <a:xfrm flipH="1">
            <a:off x="5637675" y="3663700"/>
            <a:ext cx="2788500" cy="62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 in-depth exploration!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50"/>
          <p:cNvSpPr txBox="1">
            <a:spLocks noGrp="1"/>
          </p:cNvSpPr>
          <p:nvPr>
            <p:ph type="title"/>
          </p:nvPr>
        </p:nvSpPr>
        <p:spPr>
          <a:xfrm>
            <a:off x="95532" y="58253"/>
            <a:ext cx="5026595" cy="5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tx1"/>
                </a:solidFill>
              </a:rPr>
              <a:t>Scope of Work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702" name="Google Shape;702;p50"/>
          <p:cNvSpPr txBox="1"/>
          <p:nvPr/>
        </p:nvSpPr>
        <p:spPr>
          <a:xfrm>
            <a:off x="2049230" y="3583790"/>
            <a:ext cx="2759245" cy="6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Natural Hazard Vulnerability Assessment</a:t>
            </a:r>
            <a:endParaRPr b="1" dirty="0">
              <a:solidFill>
                <a:schemeClr val="tx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03" name="Google Shape;703;p50"/>
          <p:cNvSpPr txBox="1"/>
          <p:nvPr/>
        </p:nvSpPr>
        <p:spPr>
          <a:xfrm>
            <a:off x="3553121" y="1997846"/>
            <a:ext cx="3049085" cy="6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Data Collection and Integration</a:t>
            </a:r>
            <a:endParaRPr b="1" dirty="0">
              <a:solidFill>
                <a:schemeClr val="tx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04" name="Google Shape;704;p50"/>
          <p:cNvSpPr txBox="1"/>
          <p:nvPr/>
        </p:nvSpPr>
        <p:spPr>
          <a:xfrm>
            <a:off x="2801176" y="2790818"/>
            <a:ext cx="2831985" cy="6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Geodatabase Development</a:t>
            </a:r>
            <a:endParaRPr b="1" dirty="0">
              <a:solidFill>
                <a:schemeClr val="tx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05" name="Google Shape;705;p50"/>
          <p:cNvSpPr txBox="1"/>
          <p:nvPr/>
        </p:nvSpPr>
        <p:spPr>
          <a:xfrm>
            <a:off x="4305066" y="1204874"/>
            <a:ext cx="2876319" cy="6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Geospatial Data Digitization</a:t>
            </a:r>
            <a:endParaRPr b="1" dirty="0">
              <a:solidFill>
                <a:schemeClr val="tx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06" name="Google Shape;706;p50"/>
          <p:cNvSpPr txBox="1"/>
          <p:nvPr/>
        </p:nvSpPr>
        <p:spPr>
          <a:xfrm>
            <a:off x="1293711" y="3583790"/>
            <a:ext cx="675900" cy="675900"/>
          </a:xfrm>
          <a:prstGeom prst="rect">
            <a:avLst/>
          </a:prstGeom>
          <a:solidFill>
            <a:schemeClr val="accent6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0" dirty="0">
              <a:solidFill>
                <a:schemeClr val="dk1"/>
              </a:solidFill>
              <a:latin typeface="Outfit Black"/>
              <a:ea typeface="Outfit Black"/>
              <a:cs typeface="Outfit Black"/>
              <a:sym typeface="Outfit Black"/>
            </a:endParaRPr>
          </a:p>
        </p:txBody>
      </p:sp>
      <p:sp>
        <p:nvSpPr>
          <p:cNvPr id="707" name="Google Shape;707;p50"/>
          <p:cNvSpPr txBox="1"/>
          <p:nvPr/>
        </p:nvSpPr>
        <p:spPr>
          <a:xfrm>
            <a:off x="2046239" y="2790809"/>
            <a:ext cx="675900" cy="675900"/>
          </a:xfrm>
          <a:prstGeom prst="rect">
            <a:avLst/>
          </a:prstGeom>
          <a:solidFill>
            <a:schemeClr val="accent6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0" dirty="0">
              <a:solidFill>
                <a:schemeClr val="dk1"/>
              </a:solidFill>
              <a:latin typeface="Outfit Black"/>
              <a:ea typeface="Outfit Black"/>
              <a:cs typeface="Outfit Black"/>
              <a:sym typeface="Outfit Black"/>
            </a:endParaRPr>
          </a:p>
        </p:txBody>
      </p:sp>
      <p:sp>
        <p:nvSpPr>
          <p:cNvPr id="708" name="Google Shape;708;p50"/>
          <p:cNvSpPr txBox="1"/>
          <p:nvPr/>
        </p:nvSpPr>
        <p:spPr>
          <a:xfrm>
            <a:off x="2798766" y="1997855"/>
            <a:ext cx="675900" cy="675900"/>
          </a:xfrm>
          <a:prstGeom prst="rect">
            <a:avLst/>
          </a:prstGeom>
          <a:solidFill>
            <a:schemeClr val="accent6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0" dirty="0">
              <a:solidFill>
                <a:schemeClr val="dk1"/>
              </a:solidFill>
              <a:latin typeface="Outfit Black"/>
              <a:ea typeface="Outfit Black"/>
              <a:cs typeface="Outfit Black"/>
              <a:sym typeface="Outfit Black"/>
            </a:endParaRPr>
          </a:p>
        </p:txBody>
      </p:sp>
      <p:sp>
        <p:nvSpPr>
          <p:cNvPr id="709" name="Google Shape;709;p50"/>
          <p:cNvSpPr txBox="1"/>
          <p:nvPr/>
        </p:nvSpPr>
        <p:spPr>
          <a:xfrm>
            <a:off x="3551294" y="1204874"/>
            <a:ext cx="675900" cy="675900"/>
          </a:xfrm>
          <a:prstGeom prst="rect">
            <a:avLst/>
          </a:prstGeom>
          <a:solidFill>
            <a:schemeClr val="accent6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0" dirty="0">
              <a:solidFill>
                <a:schemeClr val="dk1"/>
              </a:solidFill>
              <a:latin typeface="Outfit Black"/>
              <a:ea typeface="Outfit Black"/>
              <a:cs typeface="Outfit Black"/>
              <a:sym typeface="Outfit Black"/>
            </a:endParaRPr>
          </a:p>
        </p:txBody>
      </p:sp>
      <p:cxnSp>
        <p:nvCxnSpPr>
          <p:cNvPr id="710" name="Google Shape;710;p50"/>
          <p:cNvCxnSpPr>
            <a:cxnSpLocks/>
            <a:stCxn id="706" idx="0"/>
            <a:endCxn id="707" idx="1"/>
          </p:cNvCxnSpPr>
          <p:nvPr/>
        </p:nvCxnSpPr>
        <p:spPr>
          <a:xfrm rot="-5400000">
            <a:off x="1611411" y="3148940"/>
            <a:ext cx="455100" cy="414600"/>
          </a:xfrm>
          <a:prstGeom prst="bentConnector2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11" name="Google Shape;711;p50"/>
          <p:cNvCxnSpPr>
            <a:stCxn id="707" idx="0"/>
            <a:endCxn id="708" idx="1"/>
          </p:cNvCxnSpPr>
          <p:nvPr/>
        </p:nvCxnSpPr>
        <p:spPr>
          <a:xfrm rot="-5400000">
            <a:off x="2363939" y="2355959"/>
            <a:ext cx="455100" cy="414600"/>
          </a:xfrm>
          <a:prstGeom prst="bentConnector2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12" name="Google Shape;712;p50"/>
          <p:cNvCxnSpPr>
            <a:stCxn id="708" idx="0"/>
            <a:endCxn id="709" idx="1"/>
          </p:cNvCxnSpPr>
          <p:nvPr/>
        </p:nvCxnSpPr>
        <p:spPr>
          <a:xfrm rot="-5400000">
            <a:off x="3116466" y="1563005"/>
            <a:ext cx="455100" cy="414600"/>
          </a:xfrm>
          <a:prstGeom prst="bentConnector2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17" name="Google Shape;717;p50"/>
          <p:cNvCxnSpPr>
            <a:cxnSpLocks/>
          </p:cNvCxnSpPr>
          <p:nvPr/>
        </p:nvCxnSpPr>
        <p:spPr>
          <a:xfrm>
            <a:off x="200607" y="690341"/>
            <a:ext cx="4750534" cy="0"/>
          </a:xfrm>
          <a:prstGeom prst="straightConnector1">
            <a:avLst/>
          </a:prstGeom>
          <a:noFill/>
          <a:ln w="19050" cap="rnd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26" name="Picture 2" descr="5+ Hundred Geospatial Icon Royalty-Free Images, Stock Photos &amp; Pictures |  Shutterstock">
            <a:extLst>
              <a:ext uri="{FF2B5EF4-FFF2-40B4-BE49-F238E27FC236}">
                <a16:creationId xmlns:a16="http://schemas.microsoft.com/office/drawing/2014/main" id="{FAA83BED-26CA-BAD7-1FD3-C5B356FF1C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304"/>
          <a:stretch>
            <a:fillRect/>
          </a:stretch>
        </p:blipFill>
        <p:spPr bwMode="auto">
          <a:xfrm>
            <a:off x="3583740" y="1256882"/>
            <a:ext cx="619678" cy="571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ata integration - Free business and finance icons">
            <a:extLst>
              <a:ext uri="{FF2B5EF4-FFF2-40B4-BE49-F238E27FC236}">
                <a16:creationId xmlns:a16="http://schemas.microsoft.com/office/drawing/2014/main" id="{989CAD7B-070F-0137-F55F-79F6DCB9DF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1917" y="2023851"/>
            <a:ext cx="623891" cy="623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Understanding the Geodatabase Format in ArcGIS Pro - Part 2 - Geospatial  Training Services">
            <a:extLst>
              <a:ext uri="{FF2B5EF4-FFF2-40B4-BE49-F238E27FC236}">
                <a16:creationId xmlns:a16="http://schemas.microsoft.com/office/drawing/2014/main" id="{E9944151-D516-C931-FDFF-46989CCBCC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54" r="12190" b="4716"/>
          <a:stretch>
            <a:fillRect/>
          </a:stretch>
        </p:blipFill>
        <p:spPr bwMode="auto">
          <a:xfrm>
            <a:off x="2087198" y="2824480"/>
            <a:ext cx="542275" cy="614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Natural Disasters Icons - Free SVG &amp; PNG Natural Disasters Images - Noun  Project">
            <a:extLst>
              <a:ext uri="{FF2B5EF4-FFF2-40B4-BE49-F238E27FC236}">
                <a16:creationId xmlns:a16="http://schemas.microsoft.com/office/drawing/2014/main" id="{DAD8AE1F-CE44-7780-6647-F641207D47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4111" y="3689090"/>
            <a:ext cx="455100" cy="45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27">
          <a:extLst>
            <a:ext uri="{FF2B5EF4-FFF2-40B4-BE49-F238E27FC236}">
              <a16:creationId xmlns:a16="http://schemas.microsoft.com/office/drawing/2014/main" id="{3C6DE870-526B-37B8-FED5-5E4A3EA4D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7">
            <a:extLst>
              <a:ext uri="{FF2B5EF4-FFF2-40B4-BE49-F238E27FC236}">
                <a16:creationId xmlns:a16="http://schemas.microsoft.com/office/drawing/2014/main" id="{A96965FE-82A8-DC5C-3689-4275FC4427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74" y="2135225"/>
            <a:ext cx="5492571" cy="167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</a:rPr>
              <a:t>METHODOLOGY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29" name="Google Shape;229;p37">
            <a:extLst>
              <a:ext uri="{FF2B5EF4-FFF2-40B4-BE49-F238E27FC236}">
                <a16:creationId xmlns:a16="http://schemas.microsoft.com/office/drawing/2014/main" id="{EDB59793-2B28-6768-B141-29C3FA66FAA7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827275" y="699912"/>
            <a:ext cx="1313100" cy="1316700"/>
          </a:xfrm>
          <a:prstGeom prst="rect">
            <a:avLst/>
          </a:prstGeom>
          <a:solidFill>
            <a:schemeClr val="tx1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04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30" name="Google Shape;230;p37">
            <a:extLst>
              <a:ext uri="{FF2B5EF4-FFF2-40B4-BE49-F238E27FC236}">
                <a16:creationId xmlns:a16="http://schemas.microsoft.com/office/drawing/2014/main" id="{A7676DF5-BC8A-8543-1BCC-04763515432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22375" y="4172049"/>
            <a:ext cx="5217508" cy="6229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</a:rPr>
              <a:t>Getting on with spatial analysis!</a:t>
            </a:r>
            <a:endParaRPr dirty="0">
              <a:solidFill>
                <a:schemeClr val="tx1"/>
              </a:solidFill>
            </a:endParaRPr>
          </a:p>
        </p:txBody>
      </p:sp>
      <p:cxnSp>
        <p:nvCxnSpPr>
          <p:cNvPr id="231" name="Google Shape;231;p37">
            <a:extLst>
              <a:ext uri="{FF2B5EF4-FFF2-40B4-BE49-F238E27FC236}">
                <a16:creationId xmlns:a16="http://schemas.microsoft.com/office/drawing/2014/main" id="{C2CAC65D-083E-F4DD-AB7E-00144AF7C22D}"/>
              </a:ext>
            </a:extLst>
          </p:cNvPr>
          <p:cNvCxnSpPr/>
          <p:nvPr/>
        </p:nvCxnSpPr>
        <p:spPr>
          <a:xfrm>
            <a:off x="827275" y="3929438"/>
            <a:ext cx="2045700" cy="0"/>
          </a:xfrm>
          <a:prstGeom prst="straightConnector1">
            <a:avLst/>
          </a:prstGeom>
          <a:noFill/>
          <a:ln w="19050" cap="rnd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5818148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>
          <a:extLst>
            <a:ext uri="{FF2B5EF4-FFF2-40B4-BE49-F238E27FC236}">
              <a16:creationId xmlns:a16="http://schemas.microsoft.com/office/drawing/2014/main" id="{8E9AF4DA-3688-405F-5164-C2C1EAF7B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4">
            <a:extLst>
              <a:ext uri="{FF2B5EF4-FFF2-40B4-BE49-F238E27FC236}">
                <a16:creationId xmlns:a16="http://schemas.microsoft.com/office/drawing/2014/main" id="{55120F59-F6E8-B997-5FCE-AD35536B390F}"/>
              </a:ext>
            </a:extLst>
          </p:cNvPr>
          <p:cNvSpPr/>
          <p:nvPr/>
        </p:nvSpPr>
        <p:spPr>
          <a:xfrm>
            <a:off x="4765322" y="1852239"/>
            <a:ext cx="807300" cy="807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44">
            <a:extLst>
              <a:ext uri="{FF2B5EF4-FFF2-40B4-BE49-F238E27FC236}">
                <a16:creationId xmlns:a16="http://schemas.microsoft.com/office/drawing/2014/main" id="{23CB969C-6DF9-D033-451D-1D37B4C1D443}"/>
              </a:ext>
            </a:extLst>
          </p:cNvPr>
          <p:cNvSpPr/>
          <p:nvPr/>
        </p:nvSpPr>
        <p:spPr>
          <a:xfrm>
            <a:off x="4765322" y="2976051"/>
            <a:ext cx="807300" cy="807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44">
            <a:extLst>
              <a:ext uri="{FF2B5EF4-FFF2-40B4-BE49-F238E27FC236}">
                <a16:creationId xmlns:a16="http://schemas.microsoft.com/office/drawing/2014/main" id="{384952D2-9FA3-380C-FFDF-54287A17E98E}"/>
              </a:ext>
            </a:extLst>
          </p:cNvPr>
          <p:cNvSpPr/>
          <p:nvPr/>
        </p:nvSpPr>
        <p:spPr>
          <a:xfrm>
            <a:off x="825072" y="1852239"/>
            <a:ext cx="807300" cy="807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44">
            <a:extLst>
              <a:ext uri="{FF2B5EF4-FFF2-40B4-BE49-F238E27FC236}">
                <a16:creationId xmlns:a16="http://schemas.microsoft.com/office/drawing/2014/main" id="{423BE468-E8E7-64B1-FDF3-E0835A26F66F}"/>
              </a:ext>
            </a:extLst>
          </p:cNvPr>
          <p:cNvSpPr/>
          <p:nvPr/>
        </p:nvSpPr>
        <p:spPr>
          <a:xfrm>
            <a:off x="825072" y="2976051"/>
            <a:ext cx="807300" cy="807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44">
            <a:extLst>
              <a:ext uri="{FF2B5EF4-FFF2-40B4-BE49-F238E27FC236}">
                <a16:creationId xmlns:a16="http://schemas.microsoft.com/office/drawing/2014/main" id="{58171C0E-3ECB-BDA8-2A1C-238068F12BC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668750" y="3128883"/>
            <a:ext cx="26481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Storage</a:t>
            </a:r>
            <a:endParaRPr dirty="0"/>
          </a:p>
        </p:txBody>
      </p:sp>
      <p:sp>
        <p:nvSpPr>
          <p:cNvPr id="351" name="Google Shape;351;p44">
            <a:extLst>
              <a:ext uri="{FF2B5EF4-FFF2-40B4-BE49-F238E27FC236}">
                <a16:creationId xmlns:a16="http://schemas.microsoft.com/office/drawing/2014/main" id="{B3793153-EEDE-8BA4-176D-B841E12AAF49}"/>
              </a:ext>
            </a:extLst>
          </p:cNvPr>
          <p:cNvSpPr txBox="1">
            <a:spLocks noGrp="1"/>
          </p:cNvSpPr>
          <p:nvPr>
            <p:ph type="subTitle" idx="7"/>
          </p:nvPr>
        </p:nvSpPr>
        <p:spPr>
          <a:xfrm>
            <a:off x="1728500" y="2027289"/>
            <a:ext cx="26481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Collection</a:t>
            </a:r>
            <a:endParaRPr dirty="0"/>
          </a:p>
        </p:txBody>
      </p:sp>
      <p:sp>
        <p:nvSpPr>
          <p:cNvPr id="352" name="Google Shape;352;p44">
            <a:extLst>
              <a:ext uri="{FF2B5EF4-FFF2-40B4-BE49-F238E27FC236}">
                <a16:creationId xmlns:a16="http://schemas.microsoft.com/office/drawing/2014/main" id="{914CD9B7-4B7C-2841-A918-ECF9012A015F}"/>
              </a:ext>
            </a:extLst>
          </p:cNvPr>
          <p:cNvSpPr txBox="1">
            <a:spLocks noGrp="1"/>
          </p:cNvSpPr>
          <p:nvPr>
            <p:ph type="subTitle" idx="9"/>
          </p:nvPr>
        </p:nvSpPr>
        <p:spPr>
          <a:xfrm>
            <a:off x="1739500" y="3075654"/>
            <a:ext cx="2743290" cy="6494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Digitization of Energy Infrastructure</a:t>
            </a:r>
            <a:endParaRPr dirty="0"/>
          </a:p>
        </p:txBody>
      </p:sp>
      <p:sp>
        <p:nvSpPr>
          <p:cNvPr id="354" name="Google Shape;354;p44">
            <a:extLst>
              <a:ext uri="{FF2B5EF4-FFF2-40B4-BE49-F238E27FC236}">
                <a16:creationId xmlns:a16="http://schemas.microsoft.com/office/drawing/2014/main" id="{3F0E100F-98BD-9EEC-11B3-9E8F0DAD51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63800"/>
            <a:ext cx="3762790" cy="5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METHODOLOGY</a:t>
            </a:r>
            <a:endParaRPr dirty="0"/>
          </a:p>
        </p:txBody>
      </p:sp>
      <p:sp>
        <p:nvSpPr>
          <p:cNvPr id="355" name="Google Shape;355;p44">
            <a:extLst>
              <a:ext uri="{FF2B5EF4-FFF2-40B4-BE49-F238E27FC236}">
                <a16:creationId xmlns:a16="http://schemas.microsoft.com/office/drawing/2014/main" id="{B8A3C0FD-E784-F6CA-3E5D-57386A795858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5668750" y="1998394"/>
            <a:ext cx="2648100" cy="64285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Cleaning &amp; Validation</a:t>
            </a:r>
            <a:endParaRPr dirty="0"/>
          </a:p>
        </p:txBody>
      </p:sp>
      <p:cxnSp>
        <p:nvCxnSpPr>
          <p:cNvPr id="357" name="Google Shape;357;p44">
            <a:extLst>
              <a:ext uri="{FF2B5EF4-FFF2-40B4-BE49-F238E27FC236}">
                <a16:creationId xmlns:a16="http://schemas.microsoft.com/office/drawing/2014/main" id="{FB6EC835-DBD5-9B16-33F8-FB55C2837AC2}"/>
              </a:ext>
            </a:extLst>
          </p:cNvPr>
          <p:cNvCxnSpPr>
            <a:cxnSpLocks/>
          </p:cNvCxnSpPr>
          <p:nvPr/>
        </p:nvCxnSpPr>
        <p:spPr>
          <a:xfrm>
            <a:off x="825075" y="1095888"/>
            <a:ext cx="3562525" cy="0"/>
          </a:xfrm>
          <a:prstGeom prst="straightConnector1">
            <a:avLst/>
          </a:prstGeom>
          <a:noFill/>
          <a:ln w="19050" cap="rnd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354;p44">
            <a:extLst>
              <a:ext uri="{FF2B5EF4-FFF2-40B4-BE49-F238E27FC236}">
                <a16:creationId xmlns:a16="http://schemas.microsoft.com/office/drawing/2014/main" id="{50A4DF56-4474-7916-124A-F993259D8171}"/>
              </a:ext>
            </a:extLst>
          </p:cNvPr>
          <p:cNvSpPr txBox="1">
            <a:spLocks/>
          </p:cNvSpPr>
          <p:nvPr/>
        </p:nvSpPr>
        <p:spPr>
          <a:xfrm>
            <a:off x="960369" y="1841638"/>
            <a:ext cx="536706" cy="5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Outfit Black"/>
                <a:ea typeface="Outfit Black"/>
                <a:cs typeface="Outfit Black"/>
                <a:sym typeface="Outfit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r>
              <a:rPr lang="en-GB" sz="40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4" name="Google Shape;354;p44">
            <a:extLst>
              <a:ext uri="{FF2B5EF4-FFF2-40B4-BE49-F238E27FC236}">
                <a16:creationId xmlns:a16="http://schemas.microsoft.com/office/drawing/2014/main" id="{B055F00A-FCD7-AF25-78AD-73E772377D38}"/>
              </a:ext>
            </a:extLst>
          </p:cNvPr>
          <p:cNvSpPr txBox="1">
            <a:spLocks/>
          </p:cNvSpPr>
          <p:nvPr/>
        </p:nvSpPr>
        <p:spPr>
          <a:xfrm>
            <a:off x="960369" y="2976051"/>
            <a:ext cx="536706" cy="5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Outfit Black"/>
                <a:ea typeface="Outfit Black"/>
                <a:cs typeface="Outfit Black"/>
                <a:sym typeface="Outfit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r>
              <a:rPr lang="en-GB" sz="4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" name="Google Shape;354;p44">
            <a:extLst>
              <a:ext uri="{FF2B5EF4-FFF2-40B4-BE49-F238E27FC236}">
                <a16:creationId xmlns:a16="http://schemas.microsoft.com/office/drawing/2014/main" id="{773D494B-C503-3FD4-BDBD-1495A8B2443B}"/>
              </a:ext>
            </a:extLst>
          </p:cNvPr>
          <p:cNvSpPr txBox="1">
            <a:spLocks/>
          </p:cNvSpPr>
          <p:nvPr/>
        </p:nvSpPr>
        <p:spPr>
          <a:xfrm>
            <a:off x="4765322" y="1871140"/>
            <a:ext cx="807299" cy="5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Outfit Black"/>
                <a:ea typeface="Outfit Black"/>
                <a:cs typeface="Outfit Black"/>
                <a:sym typeface="Outfit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pPr algn="ctr"/>
            <a:r>
              <a:rPr lang="en-GB" sz="40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Google Shape;354;p44">
            <a:extLst>
              <a:ext uri="{FF2B5EF4-FFF2-40B4-BE49-F238E27FC236}">
                <a16:creationId xmlns:a16="http://schemas.microsoft.com/office/drawing/2014/main" id="{C95C1B8D-84CA-C4C4-B5A3-CBA1D7B21426}"/>
              </a:ext>
            </a:extLst>
          </p:cNvPr>
          <p:cNvSpPr txBox="1">
            <a:spLocks/>
          </p:cNvSpPr>
          <p:nvPr/>
        </p:nvSpPr>
        <p:spPr>
          <a:xfrm>
            <a:off x="4900618" y="2976051"/>
            <a:ext cx="536706" cy="5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Outfit Black"/>
                <a:ea typeface="Outfit Black"/>
                <a:cs typeface="Outfit Black"/>
                <a:sym typeface="Outfit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r>
              <a:rPr lang="en-GB" sz="4000" dirty="0">
                <a:solidFill>
                  <a:schemeClr val="tx1"/>
                </a:solidFill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21022771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693">
          <a:extLst>
            <a:ext uri="{FF2B5EF4-FFF2-40B4-BE49-F238E27FC236}">
              <a16:creationId xmlns:a16="http://schemas.microsoft.com/office/drawing/2014/main" id="{FE37BA61-35E8-4731-3B29-FE31EB92F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0625F45-5ECA-F29A-4436-EE78A50BB839}"/>
              </a:ext>
            </a:extLst>
          </p:cNvPr>
          <p:cNvSpPr/>
          <p:nvPr/>
        </p:nvSpPr>
        <p:spPr>
          <a:xfrm>
            <a:off x="426720" y="3243001"/>
            <a:ext cx="6797040" cy="1089184"/>
          </a:xfrm>
          <a:prstGeom prst="rect">
            <a:avLst/>
          </a:prstGeom>
          <a:ln>
            <a:solidFill>
              <a:schemeClr val="accent2">
                <a:lumMod val="10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4F8949D-B7C7-A52D-7B54-1F622A0941F2}"/>
              </a:ext>
            </a:extLst>
          </p:cNvPr>
          <p:cNvSpPr/>
          <p:nvPr/>
        </p:nvSpPr>
        <p:spPr>
          <a:xfrm>
            <a:off x="426720" y="1465259"/>
            <a:ext cx="6797040" cy="1089184"/>
          </a:xfrm>
          <a:prstGeom prst="rect">
            <a:avLst/>
          </a:prstGeom>
          <a:ln>
            <a:solidFill>
              <a:schemeClr val="accent2">
                <a:lumMod val="10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94" name="Google Shape;694;p49">
            <a:extLst>
              <a:ext uri="{FF2B5EF4-FFF2-40B4-BE49-F238E27FC236}">
                <a16:creationId xmlns:a16="http://schemas.microsoft.com/office/drawing/2014/main" id="{ADD587D4-B299-91B0-4988-5D8C2FA458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0400" y="106392"/>
            <a:ext cx="3394800" cy="5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</a:rPr>
              <a:t>DATA SOURCES</a:t>
            </a:r>
            <a:endParaRPr dirty="0">
              <a:solidFill>
                <a:schemeClr val="tx1"/>
              </a:solidFill>
            </a:endParaRPr>
          </a:p>
        </p:txBody>
      </p:sp>
      <p:cxnSp>
        <p:nvCxnSpPr>
          <p:cNvPr id="695" name="Google Shape;695;p49">
            <a:extLst>
              <a:ext uri="{FF2B5EF4-FFF2-40B4-BE49-F238E27FC236}">
                <a16:creationId xmlns:a16="http://schemas.microsoft.com/office/drawing/2014/main" id="{DA2F5C17-5DE3-8F1F-F689-5B2865380135}"/>
              </a:ext>
            </a:extLst>
          </p:cNvPr>
          <p:cNvCxnSpPr>
            <a:cxnSpLocks/>
          </p:cNvCxnSpPr>
          <p:nvPr/>
        </p:nvCxnSpPr>
        <p:spPr>
          <a:xfrm>
            <a:off x="215475" y="738480"/>
            <a:ext cx="4482905" cy="0"/>
          </a:xfrm>
          <a:prstGeom prst="straightConnector1">
            <a:avLst/>
          </a:prstGeom>
          <a:noFill/>
          <a:ln w="19050" cap="rnd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Google Shape;178;p34">
            <a:extLst>
              <a:ext uri="{FF2B5EF4-FFF2-40B4-BE49-F238E27FC236}">
                <a16:creationId xmlns:a16="http://schemas.microsoft.com/office/drawing/2014/main" id="{E8C2DC85-7B04-541B-610D-8E54F9ED5398}"/>
              </a:ext>
            </a:extLst>
          </p:cNvPr>
          <p:cNvSpPr txBox="1">
            <a:spLocks/>
          </p:cNvSpPr>
          <p:nvPr/>
        </p:nvSpPr>
        <p:spPr>
          <a:xfrm>
            <a:off x="636176" y="3451032"/>
            <a:ext cx="7113921" cy="79117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OpenStreetMap (OSM)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Google Imagery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NATCAT Hazard Layers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1B09376-5FEA-DA9F-657D-03016A809E12}"/>
              </a:ext>
            </a:extLst>
          </p:cNvPr>
          <p:cNvSpPr/>
          <p:nvPr/>
        </p:nvSpPr>
        <p:spPr>
          <a:xfrm>
            <a:off x="1303020" y="1275877"/>
            <a:ext cx="3268980" cy="477784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F581A8E-9E1D-6869-5923-B857584A47DD}"/>
              </a:ext>
            </a:extLst>
          </p:cNvPr>
          <p:cNvSpPr/>
          <p:nvPr/>
        </p:nvSpPr>
        <p:spPr>
          <a:xfrm>
            <a:off x="1303020" y="3037017"/>
            <a:ext cx="3268980" cy="434340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Google Shape;694;p49">
            <a:extLst>
              <a:ext uri="{FF2B5EF4-FFF2-40B4-BE49-F238E27FC236}">
                <a16:creationId xmlns:a16="http://schemas.microsoft.com/office/drawing/2014/main" id="{FA00EA64-9355-FC77-3271-08D8D45F8E91}"/>
              </a:ext>
            </a:extLst>
          </p:cNvPr>
          <p:cNvSpPr txBox="1">
            <a:spLocks/>
          </p:cNvSpPr>
          <p:nvPr/>
        </p:nvSpPr>
        <p:spPr>
          <a:xfrm>
            <a:off x="1474566" y="1227126"/>
            <a:ext cx="1811327" cy="564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Outfit Black"/>
                <a:ea typeface="Outfit Black"/>
                <a:cs typeface="Outfit Black"/>
                <a:sym typeface="Outfit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r>
              <a:rPr lang="en-GB" dirty="0">
                <a:solidFill>
                  <a:schemeClr val="bg1"/>
                </a:solidFill>
              </a:rPr>
              <a:t>PRIMARY</a:t>
            </a:r>
          </a:p>
        </p:txBody>
      </p:sp>
      <p:sp>
        <p:nvSpPr>
          <p:cNvPr id="14" name="Google Shape;694;p49">
            <a:extLst>
              <a:ext uri="{FF2B5EF4-FFF2-40B4-BE49-F238E27FC236}">
                <a16:creationId xmlns:a16="http://schemas.microsoft.com/office/drawing/2014/main" id="{99161E57-3F15-C392-CEAC-B501D35BF221}"/>
              </a:ext>
            </a:extLst>
          </p:cNvPr>
          <p:cNvSpPr txBox="1">
            <a:spLocks/>
          </p:cNvSpPr>
          <p:nvPr/>
        </p:nvSpPr>
        <p:spPr>
          <a:xfrm>
            <a:off x="1474565" y="2958087"/>
            <a:ext cx="2722122" cy="5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Outfit Black"/>
                <a:ea typeface="Outfit Black"/>
                <a:cs typeface="Outfit Black"/>
                <a:sym typeface="Outfit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ADDITIONAL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16" name="Google Shape;178;p34">
            <a:extLst>
              <a:ext uri="{FF2B5EF4-FFF2-40B4-BE49-F238E27FC236}">
                <a16:creationId xmlns:a16="http://schemas.microsoft.com/office/drawing/2014/main" id="{0D7BA86A-E0BD-A6CD-5E57-694D1BAE2ACE}"/>
              </a:ext>
            </a:extLst>
          </p:cNvPr>
          <p:cNvSpPr txBox="1">
            <a:spLocks/>
          </p:cNvSpPr>
          <p:nvPr/>
        </p:nvSpPr>
        <p:spPr>
          <a:xfrm>
            <a:off x="636177" y="1858109"/>
            <a:ext cx="7113921" cy="5770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Consolidated List of Data Sources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Requisite Data By NTDC</a:t>
            </a:r>
          </a:p>
        </p:txBody>
      </p:sp>
    </p:spTree>
    <p:extLst>
      <p:ext uri="{BB962C8B-B14F-4D97-AF65-F5344CB8AC3E}">
        <p14:creationId xmlns:p14="http://schemas.microsoft.com/office/powerpoint/2010/main" val="17024747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Shape 693">
          <a:extLst>
            <a:ext uri="{FF2B5EF4-FFF2-40B4-BE49-F238E27FC236}">
              <a16:creationId xmlns:a16="http://schemas.microsoft.com/office/drawing/2014/main" id="{6D77B877-5621-D747-AACD-9E2516FE3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49">
            <a:extLst>
              <a:ext uri="{FF2B5EF4-FFF2-40B4-BE49-F238E27FC236}">
                <a16:creationId xmlns:a16="http://schemas.microsoft.com/office/drawing/2014/main" id="{C5FEED66-6EBA-8768-18E8-387E7BBF28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-6531"/>
            <a:ext cx="7704000" cy="5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</a:rPr>
              <a:t>Primary Data Source </a:t>
            </a:r>
            <a:endParaRPr dirty="0">
              <a:solidFill>
                <a:schemeClr val="tx1"/>
              </a:solidFill>
            </a:endParaRPr>
          </a:p>
        </p:txBody>
      </p:sp>
      <p:cxnSp>
        <p:nvCxnSpPr>
          <p:cNvPr id="695" name="Google Shape;695;p49">
            <a:extLst>
              <a:ext uri="{FF2B5EF4-FFF2-40B4-BE49-F238E27FC236}">
                <a16:creationId xmlns:a16="http://schemas.microsoft.com/office/drawing/2014/main" id="{1414823A-D3FC-BC84-DEE1-F1BF167627E9}"/>
              </a:ext>
            </a:extLst>
          </p:cNvPr>
          <p:cNvCxnSpPr>
            <a:cxnSpLocks/>
          </p:cNvCxnSpPr>
          <p:nvPr/>
        </p:nvCxnSpPr>
        <p:spPr>
          <a:xfrm>
            <a:off x="55079" y="454414"/>
            <a:ext cx="3445767" cy="0"/>
          </a:xfrm>
          <a:prstGeom prst="straightConnector1">
            <a:avLst/>
          </a:prstGeom>
          <a:noFill/>
          <a:ln w="19050" cap="rnd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68BE352-A4B5-949A-DB1B-9A87EE3743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6639096"/>
              </p:ext>
            </p:extLst>
          </p:nvPr>
        </p:nvGraphicFramePr>
        <p:xfrm>
          <a:off x="1175658" y="585669"/>
          <a:ext cx="6583680" cy="4774128"/>
        </p:xfrm>
        <a:graphic>
          <a:graphicData uri="http://schemas.openxmlformats.org/drawingml/2006/table">
            <a:tbl>
              <a:tblPr firstRow="1" firstCol="1" bandRow="1">
                <a:tableStyleId>{7E9639D4-E3E2-4D34-9284-5A2195B3D0D7}</a:tableStyleId>
              </a:tblPr>
              <a:tblGrid>
                <a:gridCol w="360660">
                  <a:extLst>
                    <a:ext uri="{9D8B030D-6E8A-4147-A177-3AD203B41FA5}">
                      <a16:colId xmlns:a16="http://schemas.microsoft.com/office/drawing/2014/main" val="1691154788"/>
                    </a:ext>
                  </a:extLst>
                </a:gridCol>
                <a:gridCol w="1547559">
                  <a:extLst>
                    <a:ext uri="{9D8B030D-6E8A-4147-A177-3AD203B41FA5}">
                      <a16:colId xmlns:a16="http://schemas.microsoft.com/office/drawing/2014/main" val="3753829964"/>
                    </a:ext>
                  </a:extLst>
                </a:gridCol>
                <a:gridCol w="2351584">
                  <a:extLst>
                    <a:ext uri="{9D8B030D-6E8A-4147-A177-3AD203B41FA5}">
                      <a16:colId xmlns:a16="http://schemas.microsoft.com/office/drawing/2014/main" val="1522179804"/>
                    </a:ext>
                  </a:extLst>
                </a:gridCol>
                <a:gridCol w="1602560">
                  <a:extLst>
                    <a:ext uri="{9D8B030D-6E8A-4147-A177-3AD203B41FA5}">
                      <a16:colId xmlns:a16="http://schemas.microsoft.com/office/drawing/2014/main" val="3574032156"/>
                    </a:ext>
                  </a:extLst>
                </a:gridCol>
                <a:gridCol w="721317">
                  <a:extLst>
                    <a:ext uri="{9D8B030D-6E8A-4147-A177-3AD203B41FA5}">
                      <a16:colId xmlns:a16="http://schemas.microsoft.com/office/drawing/2014/main" val="961237501"/>
                    </a:ext>
                  </a:extLst>
                </a:gridCol>
              </a:tblGrid>
              <a:tr h="32423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S.No.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8031" marR="1803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Organization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8031" marR="1803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Authority/Division/</a:t>
                      </a:r>
                      <a:endParaRPr lang="en-GB" sz="800">
                        <a:effectLst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Department/Subsidiary/Facility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8031" marR="1803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Core Areas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8031" marR="1803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Data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8031" marR="18031" marT="0" marB="0"/>
                </a:tc>
                <a:extLst>
                  <a:ext uri="{0D108BD9-81ED-4DB2-BD59-A6C34878D82A}">
                    <a16:rowId xmlns:a16="http://schemas.microsoft.com/office/drawing/2014/main" val="2294848973"/>
                  </a:ext>
                </a:extLst>
              </a:tr>
              <a:tr h="108458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1.</a:t>
                      </a:r>
                      <a:endParaRPr lang="en-GB" sz="800">
                        <a:effectLst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 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8031" marR="18031" marT="0" marB="0"/>
                </a:tc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dirty="0">
                          <a:effectLst/>
                        </a:rPr>
                        <a:t>Ministry of Energy </a:t>
                      </a:r>
                      <a:endParaRPr lang="en-GB" sz="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8031" marR="1803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Power Division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8031" marR="1803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Electric Power 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8031" marR="1803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Spatial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8031" marR="18031" marT="0" marB="0"/>
                </a:tc>
                <a:extLst>
                  <a:ext uri="{0D108BD9-81ED-4DB2-BD59-A6C34878D82A}">
                    <a16:rowId xmlns:a16="http://schemas.microsoft.com/office/drawing/2014/main" val="3750432691"/>
                  </a:ext>
                </a:extLst>
              </a:tr>
              <a:tr h="324231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dirty="0">
                          <a:effectLst/>
                        </a:rPr>
                        <a:t>Private Power and Infrastructure Board (PPIB)</a:t>
                      </a:r>
                      <a:endParaRPr lang="en-GB" sz="800" dirty="0">
                        <a:effectLst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dirty="0">
                          <a:effectLst/>
                        </a:rPr>
                        <a:t>Alternate Energy Development Board (ADB) </a:t>
                      </a:r>
                      <a:endParaRPr lang="en-GB" sz="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8031" marR="1803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Alternate Energy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8031" marR="1803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 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8031" marR="18031" marT="0" marB="0"/>
                </a:tc>
                <a:extLst>
                  <a:ext uri="{0D108BD9-81ED-4DB2-BD59-A6C34878D82A}">
                    <a16:rowId xmlns:a16="http://schemas.microsoft.com/office/drawing/2014/main" val="966636470"/>
                  </a:ext>
                </a:extLst>
              </a:tr>
              <a:tr h="67932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2.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8031" marR="1803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Ministry of Water Resources 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8031" marR="1803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dirty="0">
                          <a:effectLst/>
                        </a:rPr>
                        <a:t>Water and Power Development Authority (WAPDA)</a:t>
                      </a:r>
                      <a:endParaRPr lang="en-GB" sz="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8031" marR="1803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Generation of Power, Prevention of Water Logging &amp; Reclamation of Saline Land, Irrigation, Water Supply &amp; Drainage, Flood Control, Hydro Reservoir, Hydropower Generation, River Flow Information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8031" marR="1803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Spatial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8031" marR="18031" marT="0" marB="0"/>
                </a:tc>
                <a:extLst>
                  <a:ext uri="{0D108BD9-81ED-4DB2-BD59-A6C34878D82A}">
                    <a16:rowId xmlns:a16="http://schemas.microsoft.com/office/drawing/2014/main" val="3197948624"/>
                  </a:ext>
                </a:extLst>
              </a:tr>
              <a:tr h="22263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3.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8031" marR="1803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dirty="0">
                          <a:effectLst/>
                        </a:rPr>
                        <a:t>National Transmission &amp; </a:t>
                      </a:r>
                      <a:r>
                        <a:rPr lang="en-US" sz="700" dirty="0" err="1">
                          <a:effectLst/>
                        </a:rPr>
                        <a:t>Despatch</a:t>
                      </a:r>
                      <a:r>
                        <a:rPr lang="en-US" sz="700" dirty="0">
                          <a:effectLst/>
                        </a:rPr>
                        <a:t> Company (NTDC)</a:t>
                      </a:r>
                      <a:endParaRPr lang="en-GB" sz="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8031" marR="1803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Asset Management System (Grid Station Information System (GSIS))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8031" marR="1803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 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8031" marR="1803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Spatial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8031" marR="18031" marT="0" marB="0"/>
                </a:tc>
                <a:extLst>
                  <a:ext uri="{0D108BD9-81ED-4DB2-BD59-A6C34878D82A}">
                    <a16:rowId xmlns:a16="http://schemas.microsoft.com/office/drawing/2014/main" val="2798345824"/>
                  </a:ext>
                </a:extLst>
              </a:tr>
              <a:tr h="33680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4.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8031" marR="1803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National Electric Power Regulatory Authority (NEPRA)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8031" marR="1803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 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8031" marR="1803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Regulation of Generation, Transmission and Distribution of Electric Power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8031" marR="1803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 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8031" marR="18031" marT="0" marB="0"/>
                </a:tc>
                <a:extLst>
                  <a:ext uri="{0D108BD9-81ED-4DB2-BD59-A6C34878D82A}">
                    <a16:rowId xmlns:a16="http://schemas.microsoft.com/office/drawing/2014/main" val="3944708190"/>
                  </a:ext>
                </a:extLst>
              </a:tr>
              <a:tr h="22263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5.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8031" marR="1803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Karachi Electric Supply Corporation Limited (KESC)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8031" marR="1803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 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8031" marR="1803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Utility company for electricity supply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8031" marR="1803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 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8031" marR="18031" marT="0" marB="0"/>
                </a:tc>
                <a:extLst>
                  <a:ext uri="{0D108BD9-81ED-4DB2-BD59-A6C34878D82A}">
                    <a16:rowId xmlns:a16="http://schemas.microsoft.com/office/drawing/2014/main" val="3558729907"/>
                  </a:ext>
                </a:extLst>
              </a:tr>
              <a:tr h="22263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6.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8031" marR="1803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Oil &amp; Gas Development Company Limited 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8031" marR="1803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Pirkoh Gas Company Private Limited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8031" marR="18031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Oil &amp; Gas 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8031" marR="1803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 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8031" marR="18031" marT="0" marB="0"/>
                </a:tc>
                <a:extLst>
                  <a:ext uri="{0D108BD9-81ED-4DB2-BD59-A6C34878D82A}">
                    <a16:rowId xmlns:a16="http://schemas.microsoft.com/office/drawing/2014/main" val="185164498"/>
                  </a:ext>
                </a:extLst>
              </a:tr>
              <a:tr h="33680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7.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8031" marR="1803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Pakistan Atomic Energy Commission (PAEC)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8031" marR="1803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Karachi Nuclear Power Plant (KANUPP) Unit 1, Unit-2 (K-2) &amp; Unit-3 (K-3), Chashma Nuclear Power Generating Station (CNPGS)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8031" marR="18031" marT="0" marB="0"/>
                </a:tc>
                <a:tc rowSpan="2"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dirty="0">
                          <a:effectLst/>
                        </a:rPr>
                        <a:t>Nuclear Power generation </a:t>
                      </a:r>
                      <a:endParaRPr lang="en-GB" sz="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8031" marR="18031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 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8031" marR="18031" marT="0" marB="0"/>
                </a:tc>
                <a:extLst>
                  <a:ext uri="{0D108BD9-81ED-4DB2-BD59-A6C34878D82A}">
                    <a16:rowId xmlns:a16="http://schemas.microsoft.com/office/drawing/2014/main" val="1081647591"/>
                  </a:ext>
                </a:extLst>
              </a:tr>
              <a:tr h="22263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8.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8031" marR="1803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Chashma Nuclear Power Plant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8031" marR="1803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CHASHNUPP-I, CHASHNUPP-II, CHASHNUPP-III CHASHNUPP-IV) and ((CHASHNUPP-V)- planned unit)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8031" marR="18031" marT="0" marB="0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 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8031" marR="18031" marT="0" marB="0"/>
                </a:tc>
                <a:extLst>
                  <a:ext uri="{0D108BD9-81ED-4DB2-BD59-A6C34878D82A}">
                    <a16:rowId xmlns:a16="http://schemas.microsoft.com/office/drawing/2014/main" val="682379221"/>
                  </a:ext>
                </a:extLst>
              </a:tr>
              <a:tr h="22263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9.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8031" marR="1803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NESPAK National Engineering Services Pakistan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8031" marR="1803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 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8031" marR="18031" marT="0" marB="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dirty="0">
                          <a:effectLst/>
                        </a:rPr>
                        <a:t>State-owned enterprise and an energy contractor</a:t>
                      </a:r>
                      <a:endParaRPr lang="en-GB" sz="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8031" marR="18031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dirty="0">
                          <a:effectLst/>
                        </a:rPr>
                        <a:t>Spatial</a:t>
                      </a:r>
                      <a:endParaRPr lang="en-GB" sz="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8031" marR="18031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821319936"/>
                  </a:ext>
                </a:extLst>
              </a:tr>
              <a:tr h="10845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10.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8031" marR="1803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Engro Energy Limited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8031" marR="1803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Engro Powergen Qadirpur Limited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8031" marR="18031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Fossil Fuel 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8031" marR="18031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Spatial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8031" marR="18031" marT="0" marB="0"/>
                </a:tc>
                <a:extLst>
                  <a:ext uri="{0D108BD9-81ED-4DB2-BD59-A6C34878D82A}">
                    <a16:rowId xmlns:a16="http://schemas.microsoft.com/office/drawing/2014/main" val="506740406"/>
                  </a:ext>
                </a:extLst>
              </a:tr>
              <a:tr h="108458">
                <a:tc rowSpan="3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11.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8031" marR="18031" marT="0" marB="0"/>
                </a:tc>
                <a:tc rowSpan="3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Independent Power Producers (IPPs)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8031" marR="1803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The Hub Power Company Limited (HUBCO)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8031" marR="18031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Fossil Fuel 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8031" marR="1803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 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8031" marR="18031" marT="0" marB="0"/>
                </a:tc>
                <a:extLst>
                  <a:ext uri="{0D108BD9-81ED-4DB2-BD59-A6C34878D82A}">
                    <a16:rowId xmlns:a16="http://schemas.microsoft.com/office/drawing/2014/main" val="2802620789"/>
                  </a:ext>
                </a:extLst>
              </a:tr>
              <a:tr h="108458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Rousch (Pakistan) Power Limited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8031" marR="18031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Natural Gas as fuel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8031" marR="1803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 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8031" marR="18031" marT="0" marB="0"/>
                </a:tc>
                <a:extLst>
                  <a:ext uri="{0D108BD9-81ED-4DB2-BD59-A6C34878D82A}">
                    <a16:rowId xmlns:a16="http://schemas.microsoft.com/office/drawing/2014/main" val="432913444"/>
                  </a:ext>
                </a:extLst>
              </a:tr>
              <a:tr h="108458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Uch Power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8031" marR="1803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Gas - Thermal Power Generation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8031" marR="1803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 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8031" marR="18031" marT="0" marB="0"/>
                </a:tc>
                <a:extLst>
                  <a:ext uri="{0D108BD9-81ED-4DB2-BD59-A6C34878D82A}">
                    <a16:rowId xmlns:a16="http://schemas.microsoft.com/office/drawing/2014/main" val="2135997648"/>
                  </a:ext>
                </a:extLst>
              </a:tr>
              <a:tr h="13545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12. 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8031" marR="18031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Pakistan Bureau of Statistics (PBS)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8031" marR="18031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 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8031" marR="1803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Census of Electricity Establishments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8031" marR="1803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Statistical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8031" marR="18031" marT="0" marB="0"/>
                </a:tc>
                <a:extLst>
                  <a:ext uri="{0D108BD9-81ED-4DB2-BD59-A6C34878D82A}">
                    <a16:rowId xmlns:a16="http://schemas.microsoft.com/office/drawing/2014/main" val="3723627939"/>
                  </a:ext>
                </a:extLst>
              </a:tr>
              <a:tr h="108458">
                <a:tc rowSpan="8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13. 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8031" marR="18031" marT="0" marB="0"/>
                </a:tc>
                <a:tc rowSpan="8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Energy Department (Government of Punjab)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8031" marR="1803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Punjab Thermal Power Private Limited (PTPL)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8031" marR="18031" marT="0" marB="0"/>
                </a:tc>
                <a:tc rowSpan="8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 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8031" marR="18031" marT="0" marB="0"/>
                </a:tc>
                <a:tc rowSpan="8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 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8031" marR="18031" marT="0" marB="0"/>
                </a:tc>
                <a:extLst>
                  <a:ext uri="{0D108BD9-81ED-4DB2-BD59-A6C34878D82A}">
                    <a16:rowId xmlns:a16="http://schemas.microsoft.com/office/drawing/2014/main" val="350656858"/>
                  </a:ext>
                </a:extLst>
              </a:tr>
              <a:tr h="222631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Punjab Energy Efficiency &amp; Conservation Agency (PEECA)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8031" marR="18031" marT="0" marB="0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7946102"/>
                  </a:ext>
                </a:extLst>
              </a:tr>
              <a:tr h="108458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Punjab Energy Holding Company Limited (PEHCL)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8031" marR="18031" marT="0" marB="0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5273081"/>
                  </a:ext>
                </a:extLst>
              </a:tr>
              <a:tr h="108458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Quaid-e-Azam Thermal Power Limited (QATPL)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8031" marR="18031" marT="0" marB="0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5364338"/>
                  </a:ext>
                </a:extLst>
              </a:tr>
              <a:tr h="108458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Directorate of Power Projects (DoPP)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8031" marR="18031" marT="0" marB="0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3673157"/>
                  </a:ext>
                </a:extLst>
              </a:tr>
              <a:tr h="108458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Punjab Power Management Unit (PPMU)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8031" marR="18031" marT="0" marB="0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295777"/>
                  </a:ext>
                </a:extLst>
              </a:tr>
              <a:tr h="108458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Punjab Power Development Co. Ltd (PPDCL)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8031" marR="18031" marT="0" marB="0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645375"/>
                  </a:ext>
                </a:extLst>
              </a:tr>
              <a:tr h="108458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dirty="0">
                          <a:effectLst/>
                        </a:rPr>
                        <a:t>Punjab Power Development Board (PPDB)</a:t>
                      </a:r>
                      <a:endParaRPr lang="en-GB" sz="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8031" marR="18031" marT="0" marB="0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07121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69355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Shape 693">
          <a:extLst>
            <a:ext uri="{FF2B5EF4-FFF2-40B4-BE49-F238E27FC236}">
              <a16:creationId xmlns:a16="http://schemas.microsoft.com/office/drawing/2014/main" id="{9AB5E1CB-8047-41C4-BBAE-1FCA30E01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EF22F45-E013-47C7-050B-A09C65B16A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6384" y="225574"/>
            <a:ext cx="4911232" cy="4692351"/>
          </a:xfrm>
          <a:prstGeom prst="rect">
            <a:avLst/>
          </a:prstGeom>
        </p:spPr>
      </p:pic>
      <p:sp>
        <p:nvSpPr>
          <p:cNvPr id="694" name="Google Shape;694;p49">
            <a:extLst>
              <a:ext uri="{FF2B5EF4-FFF2-40B4-BE49-F238E27FC236}">
                <a16:creationId xmlns:a16="http://schemas.microsoft.com/office/drawing/2014/main" id="{5B5F20EE-8C70-3F20-D19D-E81A8276D5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-6531"/>
            <a:ext cx="7704000" cy="5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</a:rPr>
              <a:t>PrimaryData Sources</a:t>
            </a:r>
            <a:endParaRPr dirty="0">
              <a:solidFill>
                <a:schemeClr val="tx1"/>
              </a:solidFill>
            </a:endParaRPr>
          </a:p>
        </p:txBody>
      </p:sp>
      <p:cxnSp>
        <p:nvCxnSpPr>
          <p:cNvPr id="695" name="Google Shape;695;p49">
            <a:extLst>
              <a:ext uri="{FF2B5EF4-FFF2-40B4-BE49-F238E27FC236}">
                <a16:creationId xmlns:a16="http://schemas.microsoft.com/office/drawing/2014/main" id="{9733AB76-0413-5489-5966-6CE74E62FE6C}"/>
              </a:ext>
            </a:extLst>
          </p:cNvPr>
          <p:cNvCxnSpPr>
            <a:cxnSpLocks/>
          </p:cNvCxnSpPr>
          <p:nvPr/>
        </p:nvCxnSpPr>
        <p:spPr>
          <a:xfrm>
            <a:off x="55079" y="454414"/>
            <a:ext cx="3471892" cy="0"/>
          </a:xfrm>
          <a:prstGeom prst="straightConnector1">
            <a:avLst/>
          </a:prstGeom>
          <a:noFill/>
          <a:ln w="19050" cap="rnd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2972382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Shape 693">
          <a:extLst>
            <a:ext uri="{FF2B5EF4-FFF2-40B4-BE49-F238E27FC236}">
              <a16:creationId xmlns:a16="http://schemas.microsoft.com/office/drawing/2014/main" id="{7E59D1AD-298D-8893-676D-B5D9A2A47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49">
            <a:extLst>
              <a:ext uri="{FF2B5EF4-FFF2-40B4-BE49-F238E27FC236}">
                <a16:creationId xmlns:a16="http://schemas.microsoft.com/office/drawing/2014/main" id="{18E990F5-5C6D-7B22-8E75-9DF998A28F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-6531"/>
            <a:ext cx="7704000" cy="5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</a:rPr>
              <a:t>Data Sources</a:t>
            </a:r>
            <a:endParaRPr dirty="0">
              <a:solidFill>
                <a:schemeClr val="tx1"/>
              </a:solidFill>
            </a:endParaRPr>
          </a:p>
        </p:txBody>
      </p:sp>
      <p:cxnSp>
        <p:nvCxnSpPr>
          <p:cNvPr id="695" name="Google Shape;695;p49">
            <a:extLst>
              <a:ext uri="{FF2B5EF4-FFF2-40B4-BE49-F238E27FC236}">
                <a16:creationId xmlns:a16="http://schemas.microsoft.com/office/drawing/2014/main" id="{CD6C8951-57D5-9473-4531-AA4509048D1B}"/>
              </a:ext>
            </a:extLst>
          </p:cNvPr>
          <p:cNvCxnSpPr>
            <a:cxnSpLocks/>
          </p:cNvCxnSpPr>
          <p:nvPr/>
        </p:nvCxnSpPr>
        <p:spPr>
          <a:xfrm>
            <a:off x="55079" y="454414"/>
            <a:ext cx="2152544" cy="0"/>
          </a:xfrm>
          <a:prstGeom prst="straightConnector1">
            <a:avLst/>
          </a:prstGeom>
          <a:noFill/>
          <a:ln w="19050" cap="rnd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FFB60BAE-95D8-0C6D-DF08-CFD7901644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1943" y="155061"/>
            <a:ext cx="4815672" cy="4833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0300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Shape 693">
          <a:extLst>
            <a:ext uri="{FF2B5EF4-FFF2-40B4-BE49-F238E27FC236}">
              <a16:creationId xmlns:a16="http://schemas.microsoft.com/office/drawing/2014/main" id="{178D9A47-D279-A034-3352-9455FD5DC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49">
            <a:extLst>
              <a:ext uri="{FF2B5EF4-FFF2-40B4-BE49-F238E27FC236}">
                <a16:creationId xmlns:a16="http://schemas.microsoft.com/office/drawing/2014/main" id="{DBDBFCB3-FE7A-2EB6-56E7-DC2567916B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9416" y="299116"/>
            <a:ext cx="7704000" cy="5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</a:rPr>
              <a:t>Data Collection</a:t>
            </a:r>
            <a:endParaRPr dirty="0">
              <a:solidFill>
                <a:schemeClr val="tx1"/>
              </a:solidFill>
            </a:endParaRPr>
          </a:p>
        </p:txBody>
      </p:sp>
      <p:cxnSp>
        <p:nvCxnSpPr>
          <p:cNvPr id="695" name="Google Shape;695;p49">
            <a:extLst>
              <a:ext uri="{FF2B5EF4-FFF2-40B4-BE49-F238E27FC236}">
                <a16:creationId xmlns:a16="http://schemas.microsoft.com/office/drawing/2014/main" id="{12F85581-3F7D-7EE8-AD9F-E23AD34ADC97}"/>
              </a:ext>
            </a:extLst>
          </p:cNvPr>
          <p:cNvCxnSpPr>
            <a:cxnSpLocks/>
          </p:cNvCxnSpPr>
          <p:nvPr/>
        </p:nvCxnSpPr>
        <p:spPr>
          <a:xfrm>
            <a:off x="244491" y="846299"/>
            <a:ext cx="2577086" cy="0"/>
          </a:xfrm>
          <a:prstGeom prst="straightConnector1">
            <a:avLst/>
          </a:prstGeom>
          <a:noFill/>
          <a:ln w="19050" cap="rnd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Google Shape;178;p34">
            <a:extLst>
              <a:ext uri="{FF2B5EF4-FFF2-40B4-BE49-F238E27FC236}">
                <a16:creationId xmlns:a16="http://schemas.microsoft.com/office/drawing/2014/main" id="{6878DD72-94E3-D094-191E-8D9090CA9A47}"/>
              </a:ext>
            </a:extLst>
          </p:cNvPr>
          <p:cNvSpPr txBox="1">
            <a:spLocks/>
          </p:cNvSpPr>
          <p:nvPr/>
        </p:nvSpPr>
        <p:spPr>
          <a:xfrm>
            <a:off x="382176" y="1710032"/>
            <a:ext cx="4154454" cy="27527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dirty="0">
                <a:solidFill>
                  <a:schemeClr val="tx1"/>
                </a:solidFill>
              </a:rPr>
              <a:t>Following Energy Sector Data was acquired using forementioned data sources:</a:t>
            </a:r>
          </a:p>
          <a:p>
            <a:endParaRPr lang="en-US" sz="16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Transmission Lines </a:t>
            </a:r>
            <a:r>
              <a:rPr lang="en-US" sz="1600" dirty="0">
                <a:solidFill>
                  <a:schemeClr val="tx1"/>
                </a:solidFill>
              </a:rPr>
              <a:t>acquisition using Open-source platforms and NTDC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Grid Stations </a:t>
            </a:r>
            <a:r>
              <a:rPr lang="en-US" sz="1600" dirty="0">
                <a:solidFill>
                  <a:schemeClr val="tx1"/>
                </a:solidFill>
              </a:rPr>
              <a:t>acquisition using requisite NTDC Energy Sector data</a:t>
            </a:r>
            <a:endParaRPr lang="en-US" sz="1600" b="1" dirty="0">
              <a:solidFill>
                <a:schemeClr val="tx1"/>
              </a:solidFill>
            </a:endParaRPr>
          </a:p>
        </p:txBody>
      </p:sp>
      <p:pic>
        <p:nvPicPr>
          <p:cNvPr id="1026" name="Picture 2" descr="What is geospatial data collection? | Fulcrum">
            <a:extLst>
              <a:ext uri="{FF2B5EF4-FFF2-40B4-BE49-F238E27FC236}">
                <a16:creationId xmlns:a16="http://schemas.microsoft.com/office/drawing/2014/main" id="{A0A6F05B-C824-6F97-5317-AAD4D100C70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0676" r="16486"/>
          <a:stretch>
            <a:fillRect/>
          </a:stretch>
        </p:blipFill>
        <p:spPr bwMode="auto">
          <a:xfrm>
            <a:off x="4759199" y="1102420"/>
            <a:ext cx="3573562" cy="3197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37945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27">
          <a:extLst>
            <a:ext uri="{FF2B5EF4-FFF2-40B4-BE49-F238E27FC236}">
              <a16:creationId xmlns:a16="http://schemas.microsoft.com/office/drawing/2014/main" id="{8176A5ED-BBAA-F970-C517-01E564A83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7">
            <a:extLst>
              <a:ext uri="{FF2B5EF4-FFF2-40B4-BE49-F238E27FC236}">
                <a16:creationId xmlns:a16="http://schemas.microsoft.com/office/drawing/2014/main" id="{13DA69D7-BDA5-5EBC-A23C-42717E7840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74" y="2135225"/>
            <a:ext cx="5492571" cy="167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</a:rPr>
              <a:t>RESULTS AND DISCUSSION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29" name="Google Shape;229;p37">
            <a:extLst>
              <a:ext uri="{FF2B5EF4-FFF2-40B4-BE49-F238E27FC236}">
                <a16:creationId xmlns:a16="http://schemas.microsoft.com/office/drawing/2014/main" id="{CF4BC2C2-86A1-639D-0521-AE00549F4A89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827275" y="699912"/>
            <a:ext cx="1313100" cy="1316700"/>
          </a:xfrm>
          <a:prstGeom prst="rect">
            <a:avLst/>
          </a:prstGeom>
          <a:solidFill>
            <a:schemeClr val="tx1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05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30" name="Google Shape;230;p37">
            <a:extLst>
              <a:ext uri="{FF2B5EF4-FFF2-40B4-BE49-F238E27FC236}">
                <a16:creationId xmlns:a16="http://schemas.microsoft.com/office/drawing/2014/main" id="{9C3DB7A9-2FD5-99C5-9C21-37B959408F0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22375" y="4172049"/>
            <a:ext cx="5217508" cy="6229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</a:rPr>
              <a:t>Getting on with spatial analysis!</a:t>
            </a:r>
            <a:endParaRPr dirty="0">
              <a:solidFill>
                <a:schemeClr val="tx1"/>
              </a:solidFill>
            </a:endParaRPr>
          </a:p>
        </p:txBody>
      </p:sp>
      <p:cxnSp>
        <p:nvCxnSpPr>
          <p:cNvPr id="231" name="Google Shape;231;p37">
            <a:extLst>
              <a:ext uri="{FF2B5EF4-FFF2-40B4-BE49-F238E27FC236}">
                <a16:creationId xmlns:a16="http://schemas.microsoft.com/office/drawing/2014/main" id="{BB6DF545-5041-C990-E642-EBC0E255A82A}"/>
              </a:ext>
            </a:extLst>
          </p:cNvPr>
          <p:cNvCxnSpPr/>
          <p:nvPr/>
        </p:nvCxnSpPr>
        <p:spPr>
          <a:xfrm>
            <a:off x="827275" y="3929438"/>
            <a:ext cx="2045700" cy="0"/>
          </a:xfrm>
          <a:prstGeom prst="straightConnector1">
            <a:avLst/>
          </a:prstGeom>
          <a:noFill/>
          <a:ln w="19050" cap="rnd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57072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693">
          <a:extLst>
            <a:ext uri="{FF2B5EF4-FFF2-40B4-BE49-F238E27FC236}">
              <a16:creationId xmlns:a16="http://schemas.microsoft.com/office/drawing/2014/main" id="{D174C645-42CD-E143-1EB6-40868CFFD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694;p49">
            <a:extLst>
              <a:ext uri="{FF2B5EF4-FFF2-40B4-BE49-F238E27FC236}">
                <a16:creationId xmlns:a16="http://schemas.microsoft.com/office/drawing/2014/main" id="{14597661-77FB-9654-18EF-70DBBA37B7DB}"/>
              </a:ext>
            </a:extLst>
          </p:cNvPr>
          <p:cNvSpPr txBox="1">
            <a:spLocks/>
          </p:cNvSpPr>
          <p:nvPr/>
        </p:nvSpPr>
        <p:spPr>
          <a:xfrm>
            <a:off x="0" y="37171"/>
            <a:ext cx="2772937" cy="600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Outfit Black"/>
                <a:ea typeface="Outfit Black"/>
                <a:cs typeface="Outfit Black"/>
                <a:sym typeface="Outfit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r>
              <a:rPr lang="en-US" sz="3600" dirty="0">
                <a:solidFill>
                  <a:schemeClr val="tx1"/>
                </a:solidFill>
              </a:rPr>
              <a:t>Results</a:t>
            </a:r>
          </a:p>
        </p:txBody>
      </p:sp>
      <p:cxnSp>
        <p:nvCxnSpPr>
          <p:cNvPr id="4" name="Google Shape;180;p34">
            <a:extLst>
              <a:ext uri="{FF2B5EF4-FFF2-40B4-BE49-F238E27FC236}">
                <a16:creationId xmlns:a16="http://schemas.microsoft.com/office/drawing/2014/main" id="{241E7945-1493-A1CC-4E4E-B14AD0C77E88}"/>
              </a:ext>
            </a:extLst>
          </p:cNvPr>
          <p:cNvCxnSpPr>
            <a:cxnSpLocks/>
          </p:cNvCxnSpPr>
          <p:nvPr/>
        </p:nvCxnSpPr>
        <p:spPr>
          <a:xfrm>
            <a:off x="57249" y="637432"/>
            <a:ext cx="1771551" cy="1"/>
          </a:xfrm>
          <a:prstGeom prst="straightConnector1">
            <a:avLst/>
          </a:prstGeom>
          <a:noFill/>
          <a:ln w="19050" cap="rnd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A6CAF746-7F14-D841-D13B-9CD209F25B7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9464" y="215382"/>
            <a:ext cx="3719227" cy="4813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2303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693">
          <a:extLst>
            <a:ext uri="{FF2B5EF4-FFF2-40B4-BE49-F238E27FC236}">
              <a16:creationId xmlns:a16="http://schemas.microsoft.com/office/drawing/2014/main" id="{CFB84F0E-AF4F-F5A7-4F08-18030EB8B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694;p49">
            <a:extLst>
              <a:ext uri="{FF2B5EF4-FFF2-40B4-BE49-F238E27FC236}">
                <a16:creationId xmlns:a16="http://schemas.microsoft.com/office/drawing/2014/main" id="{BF133EB4-E377-0714-E952-4A34AE906DAD}"/>
              </a:ext>
            </a:extLst>
          </p:cNvPr>
          <p:cNvSpPr txBox="1">
            <a:spLocks/>
          </p:cNvSpPr>
          <p:nvPr/>
        </p:nvSpPr>
        <p:spPr>
          <a:xfrm>
            <a:off x="0" y="37171"/>
            <a:ext cx="2772937" cy="600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Outfit Black"/>
                <a:ea typeface="Outfit Black"/>
                <a:cs typeface="Outfit Black"/>
                <a:sym typeface="Outfit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r>
              <a:rPr lang="en-US" sz="3600" dirty="0">
                <a:solidFill>
                  <a:schemeClr val="tx1"/>
                </a:solidFill>
              </a:rPr>
              <a:t>Results</a:t>
            </a:r>
          </a:p>
        </p:txBody>
      </p:sp>
      <p:cxnSp>
        <p:nvCxnSpPr>
          <p:cNvPr id="4" name="Google Shape;180;p34">
            <a:extLst>
              <a:ext uri="{FF2B5EF4-FFF2-40B4-BE49-F238E27FC236}">
                <a16:creationId xmlns:a16="http://schemas.microsoft.com/office/drawing/2014/main" id="{11707B48-A468-6D42-0E9E-F4EB8C12CC9F}"/>
              </a:ext>
            </a:extLst>
          </p:cNvPr>
          <p:cNvCxnSpPr>
            <a:cxnSpLocks/>
          </p:cNvCxnSpPr>
          <p:nvPr/>
        </p:nvCxnSpPr>
        <p:spPr>
          <a:xfrm>
            <a:off x="57249" y="637432"/>
            <a:ext cx="1771551" cy="1"/>
          </a:xfrm>
          <a:prstGeom prst="straightConnector1">
            <a:avLst/>
          </a:prstGeom>
          <a:noFill/>
          <a:ln w="19050" cap="rnd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EDCFD317-D012-86D8-E85A-EA291C7B06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7996" y="995142"/>
            <a:ext cx="5068007" cy="3153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976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693">
          <a:extLst>
            <a:ext uri="{FF2B5EF4-FFF2-40B4-BE49-F238E27FC236}">
              <a16:creationId xmlns:a16="http://schemas.microsoft.com/office/drawing/2014/main" id="{0EE0E087-7027-FABE-CE64-4944FC15B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694;p49">
            <a:extLst>
              <a:ext uri="{FF2B5EF4-FFF2-40B4-BE49-F238E27FC236}">
                <a16:creationId xmlns:a16="http://schemas.microsoft.com/office/drawing/2014/main" id="{DB1B23C6-2782-76AB-FCA2-15CEB4B929B9}"/>
              </a:ext>
            </a:extLst>
          </p:cNvPr>
          <p:cNvSpPr txBox="1">
            <a:spLocks/>
          </p:cNvSpPr>
          <p:nvPr/>
        </p:nvSpPr>
        <p:spPr>
          <a:xfrm>
            <a:off x="0" y="37171"/>
            <a:ext cx="2772937" cy="600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Outfit Black"/>
                <a:ea typeface="Outfit Black"/>
                <a:cs typeface="Outfit Black"/>
                <a:sym typeface="Outfit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r>
              <a:rPr lang="en-US" sz="3600" dirty="0">
                <a:solidFill>
                  <a:schemeClr val="tx1"/>
                </a:solidFill>
              </a:rPr>
              <a:t>Results</a:t>
            </a:r>
          </a:p>
        </p:txBody>
      </p:sp>
      <p:cxnSp>
        <p:nvCxnSpPr>
          <p:cNvPr id="4" name="Google Shape;180;p34">
            <a:extLst>
              <a:ext uri="{FF2B5EF4-FFF2-40B4-BE49-F238E27FC236}">
                <a16:creationId xmlns:a16="http://schemas.microsoft.com/office/drawing/2014/main" id="{E841296C-7800-BEC3-8DD4-302B1774DE82}"/>
              </a:ext>
            </a:extLst>
          </p:cNvPr>
          <p:cNvCxnSpPr>
            <a:cxnSpLocks/>
          </p:cNvCxnSpPr>
          <p:nvPr/>
        </p:nvCxnSpPr>
        <p:spPr>
          <a:xfrm>
            <a:off x="57249" y="637432"/>
            <a:ext cx="1771551" cy="1"/>
          </a:xfrm>
          <a:prstGeom prst="straightConnector1">
            <a:avLst/>
          </a:prstGeom>
          <a:noFill/>
          <a:ln w="19050" cap="rnd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D5EBFCD0-28DB-6502-DEE9-B25DC6AF3C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03425"/>
            <a:ext cx="9144000" cy="2336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0453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693">
          <a:extLst>
            <a:ext uri="{FF2B5EF4-FFF2-40B4-BE49-F238E27FC236}">
              <a16:creationId xmlns:a16="http://schemas.microsoft.com/office/drawing/2014/main" id="{309CAD5B-BDC6-3920-D88B-C17CD83F3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694;p49">
            <a:extLst>
              <a:ext uri="{FF2B5EF4-FFF2-40B4-BE49-F238E27FC236}">
                <a16:creationId xmlns:a16="http://schemas.microsoft.com/office/drawing/2014/main" id="{E2B1B297-7B8A-0D61-F0F0-10ED4A920C1E}"/>
              </a:ext>
            </a:extLst>
          </p:cNvPr>
          <p:cNvSpPr txBox="1">
            <a:spLocks/>
          </p:cNvSpPr>
          <p:nvPr/>
        </p:nvSpPr>
        <p:spPr>
          <a:xfrm>
            <a:off x="0" y="37171"/>
            <a:ext cx="2772937" cy="600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Outfit Black"/>
                <a:ea typeface="Outfit Black"/>
                <a:cs typeface="Outfit Black"/>
                <a:sym typeface="Outfit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r>
              <a:rPr lang="en-US" sz="3600" dirty="0">
                <a:solidFill>
                  <a:schemeClr val="tx1"/>
                </a:solidFill>
              </a:rPr>
              <a:t>Results</a:t>
            </a:r>
          </a:p>
        </p:txBody>
      </p:sp>
      <p:cxnSp>
        <p:nvCxnSpPr>
          <p:cNvPr id="4" name="Google Shape;180;p34">
            <a:extLst>
              <a:ext uri="{FF2B5EF4-FFF2-40B4-BE49-F238E27FC236}">
                <a16:creationId xmlns:a16="http://schemas.microsoft.com/office/drawing/2014/main" id="{5607D032-F836-1F2E-9227-87F67E11EB23}"/>
              </a:ext>
            </a:extLst>
          </p:cNvPr>
          <p:cNvCxnSpPr>
            <a:cxnSpLocks/>
          </p:cNvCxnSpPr>
          <p:nvPr/>
        </p:nvCxnSpPr>
        <p:spPr>
          <a:xfrm>
            <a:off x="57249" y="637432"/>
            <a:ext cx="1725831" cy="1"/>
          </a:xfrm>
          <a:prstGeom prst="straightConnector1">
            <a:avLst/>
          </a:prstGeom>
          <a:noFill/>
          <a:ln w="19050" cap="rnd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3FBCBDFE-A9BE-5565-447A-37F0DE8EFD5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5125" y="877217"/>
            <a:ext cx="5873750" cy="4152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3195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693">
          <a:extLst>
            <a:ext uri="{FF2B5EF4-FFF2-40B4-BE49-F238E27FC236}">
              <a16:creationId xmlns:a16="http://schemas.microsoft.com/office/drawing/2014/main" id="{412ECE23-6959-45B4-6906-1FE79729C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694;p49">
            <a:extLst>
              <a:ext uri="{FF2B5EF4-FFF2-40B4-BE49-F238E27FC236}">
                <a16:creationId xmlns:a16="http://schemas.microsoft.com/office/drawing/2014/main" id="{EF583A8D-9821-D0EE-92E0-193864CC8ADD}"/>
              </a:ext>
            </a:extLst>
          </p:cNvPr>
          <p:cNvSpPr txBox="1">
            <a:spLocks/>
          </p:cNvSpPr>
          <p:nvPr/>
        </p:nvSpPr>
        <p:spPr>
          <a:xfrm>
            <a:off x="0" y="37171"/>
            <a:ext cx="2772937" cy="600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Outfit Black"/>
                <a:ea typeface="Outfit Black"/>
                <a:cs typeface="Outfit Black"/>
                <a:sym typeface="Outfit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r>
              <a:rPr lang="en-US" sz="3600" dirty="0">
                <a:solidFill>
                  <a:schemeClr val="tx1"/>
                </a:solidFill>
              </a:rPr>
              <a:t>Results</a:t>
            </a:r>
          </a:p>
        </p:txBody>
      </p:sp>
      <p:cxnSp>
        <p:nvCxnSpPr>
          <p:cNvPr id="4" name="Google Shape;180;p34">
            <a:extLst>
              <a:ext uri="{FF2B5EF4-FFF2-40B4-BE49-F238E27FC236}">
                <a16:creationId xmlns:a16="http://schemas.microsoft.com/office/drawing/2014/main" id="{9FF6076B-9A8C-C174-6056-0D790B3AFC5F}"/>
              </a:ext>
            </a:extLst>
          </p:cNvPr>
          <p:cNvCxnSpPr>
            <a:cxnSpLocks/>
          </p:cNvCxnSpPr>
          <p:nvPr/>
        </p:nvCxnSpPr>
        <p:spPr>
          <a:xfrm>
            <a:off x="57249" y="637432"/>
            <a:ext cx="1692351" cy="1"/>
          </a:xfrm>
          <a:prstGeom prst="straightConnector1">
            <a:avLst/>
          </a:prstGeom>
          <a:noFill/>
          <a:ln w="19050" cap="rnd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D2E091E3-9FD7-4E9C-BA05-8A9EDE4B79A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5125" y="754817"/>
            <a:ext cx="5873750" cy="4152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638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693">
          <a:extLst>
            <a:ext uri="{FF2B5EF4-FFF2-40B4-BE49-F238E27FC236}">
              <a16:creationId xmlns:a16="http://schemas.microsoft.com/office/drawing/2014/main" id="{673277C9-D0CA-5F83-977F-D3703A0FC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694;p49">
            <a:extLst>
              <a:ext uri="{FF2B5EF4-FFF2-40B4-BE49-F238E27FC236}">
                <a16:creationId xmlns:a16="http://schemas.microsoft.com/office/drawing/2014/main" id="{706849DF-DDA1-28F3-F432-707AC17D4A2D}"/>
              </a:ext>
            </a:extLst>
          </p:cNvPr>
          <p:cNvSpPr txBox="1">
            <a:spLocks/>
          </p:cNvSpPr>
          <p:nvPr/>
        </p:nvSpPr>
        <p:spPr>
          <a:xfrm>
            <a:off x="0" y="37171"/>
            <a:ext cx="2772937" cy="600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Outfit Black"/>
                <a:ea typeface="Outfit Black"/>
                <a:cs typeface="Outfit Black"/>
                <a:sym typeface="Outfit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r>
              <a:rPr lang="en-US" sz="3600" dirty="0">
                <a:solidFill>
                  <a:schemeClr val="tx1"/>
                </a:solidFill>
              </a:rPr>
              <a:t>Results</a:t>
            </a:r>
          </a:p>
        </p:txBody>
      </p:sp>
      <p:cxnSp>
        <p:nvCxnSpPr>
          <p:cNvPr id="4" name="Google Shape;180;p34">
            <a:extLst>
              <a:ext uri="{FF2B5EF4-FFF2-40B4-BE49-F238E27FC236}">
                <a16:creationId xmlns:a16="http://schemas.microsoft.com/office/drawing/2014/main" id="{FF329394-B8FA-C37C-7F67-E99B89900EB6}"/>
              </a:ext>
            </a:extLst>
          </p:cNvPr>
          <p:cNvCxnSpPr>
            <a:cxnSpLocks/>
          </p:cNvCxnSpPr>
          <p:nvPr/>
        </p:nvCxnSpPr>
        <p:spPr>
          <a:xfrm>
            <a:off x="57249" y="637432"/>
            <a:ext cx="2514966" cy="0"/>
          </a:xfrm>
          <a:prstGeom prst="straightConnector1">
            <a:avLst/>
          </a:prstGeom>
          <a:noFill/>
          <a:ln w="19050" cap="rnd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46A64B4E-273A-0E79-8363-9FB8603D0A9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5125" y="877217"/>
            <a:ext cx="5873750" cy="4152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521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693">
          <a:extLst>
            <a:ext uri="{FF2B5EF4-FFF2-40B4-BE49-F238E27FC236}">
              <a16:creationId xmlns:a16="http://schemas.microsoft.com/office/drawing/2014/main" id="{EEC1E156-8767-C059-9714-5F351E95E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694;p49">
            <a:extLst>
              <a:ext uri="{FF2B5EF4-FFF2-40B4-BE49-F238E27FC236}">
                <a16:creationId xmlns:a16="http://schemas.microsoft.com/office/drawing/2014/main" id="{C141B077-2B66-1349-A796-B7BA7B6719E1}"/>
              </a:ext>
            </a:extLst>
          </p:cNvPr>
          <p:cNvSpPr txBox="1">
            <a:spLocks/>
          </p:cNvSpPr>
          <p:nvPr/>
        </p:nvSpPr>
        <p:spPr>
          <a:xfrm>
            <a:off x="0" y="37171"/>
            <a:ext cx="2772937" cy="600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Outfit Black"/>
                <a:ea typeface="Outfit Black"/>
                <a:cs typeface="Outfit Black"/>
                <a:sym typeface="Outfit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r>
              <a:rPr lang="en-US" sz="3600" dirty="0">
                <a:solidFill>
                  <a:schemeClr val="tx1"/>
                </a:solidFill>
              </a:rPr>
              <a:t>Results</a:t>
            </a:r>
          </a:p>
        </p:txBody>
      </p:sp>
      <p:cxnSp>
        <p:nvCxnSpPr>
          <p:cNvPr id="4" name="Google Shape;180;p34">
            <a:extLst>
              <a:ext uri="{FF2B5EF4-FFF2-40B4-BE49-F238E27FC236}">
                <a16:creationId xmlns:a16="http://schemas.microsoft.com/office/drawing/2014/main" id="{38426A15-73F1-D6B9-2CA7-33C8B29458EC}"/>
              </a:ext>
            </a:extLst>
          </p:cNvPr>
          <p:cNvCxnSpPr>
            <a:cxnSpLocks/>
          </p:cNvCxnSpPr>
          <p:nvPr/>
        </p:nvCxnSpPr>
        <p:spPr>
          <a:xfrm>
            <a:off x="57249" y="637432"/>
            <a:ext cx="2514966" cy="0"/>
          </a:xfrm>
          <a:prstGeom prst="straightConnector1">
            <a:avLst/>
          </a:prstGeom>
          <a:noFill/>
          <a:ln w="19050" cap="rnd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Picture 4" descr="A map of a flood hazard">
            <a:extLst>
              <a:ext uri="{FF2B5EF4-FFF2-40B4-BE49-F238E27FC236}">
                <a16:creationId xmlns:a16="http://schemas.microsoft.com/office/drawing/2014/main" id="{DE91D4CC-DF82-D9CF-5D10-5A2347033B1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5125" y="954064"/>
            <a:ext cx="5873750" cy="4152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4275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693">
          <a:extLst>
            <a:ext uri="{FF2B5EF4-FFF2-40B4-BE49-F238E27FC236}">
              <a16:creationId xmlns:a16="http://schemas.microsoft.com/office/drawing/2014/main" id="{E652E54E-F931-3AA8-C4CE-3E96BBBDF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694;p49">
            <a:extLst>
              <a:ext uri="{FF2B5EF4-FFF2-40B4-BE49-F238E27FC236}">
                <a16:creationId xmlns:a16="http://schemas.microsoft.com/office/drawing/2014/main" id="{05ABBA95-0B3D-ED16-6355-BF2CAB39ADE8}"/>
              </a:ext>
            </a:extLst>
          </p:cNvPr>
          <p:cNvSpPr txBox="1">
            <a:spLocks/>
          </p:cNvSpPr>
          <p:nvPr/>
        </p:nvSpPr>
        <p:spPr>
          <a:xfrm>
            <a:off x="0" y="37171"/>
            <a:ext cx="2772937" cy="600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Outfit Black"/>
                <a:ea typeface="Outfit Black"/>
                <a:cs typeface="Outfit Black"/>
                <a:sym typeface="Outfit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r>
              <a:rPr lang="en-US" sz="3600" dirty="0">
                <a:solidFill>
                  <a:schemeClr val="tx1"/>
                </a:solidFill>
              </a:rPr>
              <a:t>Results</a:t>
            </a:r>
          </a:p>
        </p:txBody>
      </p:sp>
      <p:cxnSp>
        <p:nvCxnSpPr>
          <p:cNvPr id="4" name="Google Shape;180;p34">
            <a:extLst>
              <a:ext uri="{FF2B5EF4-FFF2-40B4-BE49-F238E27FC236}">
                <a16:creationId xmlns:a16="http://schemas.microsoft.com/office/drawing/2014/main" id="{8809F34F-8049-3D5A-F071-D70E0B6115AC}"/>
              </a:ext>
            </a:extLst>
          </p:cNvPr>
          <p:cNvCxnSpPr>
            <a:cxnSpLocks/>
          </p:cNvCxnSpPr>
          <p:nvPr/>
        </p:nvCxnSpPr>
        <p:spPr>
          <a:xfrm>
            <a:off x="57249" y="637432"/>
            <a:ext cx="2514966" cy="0"/>
          </a:xfrm>
          <a:prstGeom prst="straightConnector1">
            <a:avLst/>
          </a:prstGeom>
          <a:noFill/>
          <a:ln w="19050" cap="rnd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" name="Picture 1" descr="A map of a flood hazard&#10;&#10;AI-generated content may be incorrect.">
            <a:extLst>
              <a:ext uri="{FF2B5EF4-FFF2-40B4-BE49-F238E27FC236}">
                <a16:creationId xmlns:a16="http://schemas.microsoft.com/office/drawing/2014/main" id="{0272B30C-D097-CCDD-2DAC-28CC455310A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5125" y="954064"/>
            <a:ext cx="5873750" cy="4152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3768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693">
          <a:extLst>
            <a:ext uri="{FF2B5EF4-FFF2-40B4-BE49-F238E27FC236}">
              <a16:creationId xmlns:a16="http://schemas.microsoft.com/office/drawing/2014/main" id="{733C6B24-26DF-EC5D-DA82-7EBE41461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694;p49">
            <a:extLst>
              <a:ext uri="{FF2B5EF4-FFF2-40B4-BE49-F238E27FC236}">
                <a16:creationId xmlns:a16="http://schemas.microsoft.com/office/drawing/2014/main" id="{83CC8105-3A71-32BE-BD87-080666A339A2}"/>
              </a:ext>
            </a:extLst>
          </p:cNvPr>
          <p:cNvSpPr txBox="1">
            <a:spLocks/>
          </p:cNvSpPr>
          <p:nvPr/>
        </p:nvSpPr>
        <p:spPr>
          <a:xfrm>
            <a:off x="0" y="37171"/>
            <a:ext cx="6357600" cy="600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Outfit Black"/>
                <a:ea typeface="Outfit Black"/>
                <a:cs typeface="Outfit Black"/>
                <a:sym typeface="Outfit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r>
              <a:rPr lang="en-US" sz="2800" dirty="0">
                <a:solidFill>
                  <a:schemeClr val="tx1"/>
                </a:solidFill>
              </a:rPr>
              <a:t>Flood Severity Assessment</a:t>
            </a:r>
          </a:p>
        </p:txBody>
      </p:sp>
      <p:cxnSp>
        <p:nvCxnSpPr>
          <p:cNvPr id="4" name="Google Shape;180;p34">
            <a:extLst>
              <a:ext uri="{FF2B5EF4-FFF2-40B4-BE49-F238E27FC236}">
                <a16:creationId xmlns:a16="http://schemas.microsoft.com/office/drawing/2014/main" id="{69ECDD58-43F9-7528-AD9A-C03D1AED9780}"/>
              </a:ext>
            </a:extLst>
          </p:cNvPr>
          <p:cNvCxnSpPr>
            <a:cxnSpLocks/>
          </p:cNvCxnSpPr>
          <p:nvPr/>
        </p:nvCxnSpPr>
        <p:spPr>
          <a:xfrm>
            <a:off x="57249" y="637432"/>
            <a:ext cx="4608351" cy="0"/>
          </a:xfrm>
          <a:prstGeom prst="straightConnector1">
            <a:avLst/>
          </a:prstGeom>
          <a:noFill/>
          <a:ln w="19050" cap="rnd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20689DF-B853-71A3-818E-77ECA5F1A4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5291682"/>
              </p:ext>
            </p:extLst>
          </p:nvPr>
        </p:nvGraphicFramePr>
        <p:xfrm>
          <a:off x="303126" y="897508"/>
          <a:ext cx="7702548" cy="3688080"/>
        </p:xfrm>
        <a:graphic>
          <a:graphicData uri="http://schemas.openxmlformats.org/drawingml/2006/table">
            <a:tbl>
              <a:tblPr firstRow="1" firstCol="1" bandRow="1">
                <a:tableStyleId>{7E9639D4-E3E2-4D34-9284-5A2195B3D0D7}</a:tableStyleId>
              </a:tblPr>
              <a:tblGrid>
                <a:gridCol w="1283758">
                  <a:extLst>
                    <a:ext uri="{9D8B030D-6E8A-4147-A177-3AD203B41FA5}">
                      <a16:colId xmlns:a16="http://schemas.microsoft.com/office/drawing/2014/main" val="3838552529"/>
                    </a:ext>
                  </a:extLst>
                </a:gridCol>
                <a:gridCol w="1283758">
                  <a:extLst>
                    <a:ext uri="{9D8B030D-6E8A-4147-A177-3AD203B41FA5}">
                      <a16:colId xmlns:a16="http://schemas.microsoft.com/office/drawing/2014/main" val="3356449628"/>
                    </a:ext>
                  </a:extLst>
                </a:gridCol>
                <a:gridCol w="1283758">
                  <a:extLst>
                    <a:ext uri="{9D8B030D-6E8A-4147-A177-3AD203B41FA5}">
                      <a16:colId xmlns:a16="http://schemas.microsoft.com/office/drawing/2014/main" val="1590545508"/>
                    </a:ext>
                  </a:extLst>
                </a:gridCol>
                <a:gridCol w="1283758">
                  <a:extLst>
                    <a:ext uri="{9D8B030D-6E8A-4147-A177-3AD203B41FA5}">
                      <a16:colId xmlns:a16="http://schemas.microsoft.com/office/drawing/2014/main" val="1939860118"/>
                    </a:ext>
                  </a:extLst>
                </a:gridCol>
                <a:gridCol w="1283758">
                  <a:extLst>
                    <a:ext uri="{9D8B030D-6E8A-4147-A177-3AD203B41FA5}">
                      <a16:colId xmlns:a16="http://schemas.microsoft.com/office/drawing/2014/main" val="3426465555"/>
                    </a:ext>
                  </a:extLst>
                </a:gridCol>
                <a:gridCol w="1283758">
                  <a:extLst>
                    <a:ext uri="{9D8B030D-6E8A-4147-A177-3AD203B41FA5}">
                      <a16:colId xmlns:a16="http://schemas.microsoft.com/office/drawing/2014/main" val="1475474509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100">
                          <a:effectLst/>
                        </a:rPr>
                        <a:t>Sr.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100">
                          <a:effectLst/>
                        </a:rPr>
                        <a:t>Name of Grid Station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100">
                          <a:effectLst/>
                        </a:rPr>
                        <a:t>District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100">
                          <a:effectLst/>
                        </a:rPr>
                        <a:t>Tehsil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100">
                          <a:effectLst/>
                        </a:rPr>
                        <a:t>Severity Level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100">
                          <a:effectLst/>
                        </a:rPr>
                        <a:t>Voltage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063999401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100">
                          <a:effectLst/>
                        </a:rPr>
                        <a:t>1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100">
                          <a:effectLst/>
                        </a:rPr>
                        <a:t>500kV Grid Station NTDC Dadu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100">
                          <a:effectLst/>
                        </a:rPr>
                        <a:t>Dadu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100">
                          <a:effectLst/>
                        </a:rPr>
                        <a:t>Dadu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100">
                          <a:effectLst/>
                        </a:rPr>
                        <a:t>Moderate-Very High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100">
                          <a:effectLst/>
                        </a:rPr>
                        <a:t>500kV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1948669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100">
                          <a:effectLst/>
                        </a:rPr>
                        <a:t>2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100">
                          <a:effectLst/>
                        </a:rPr>
                        <a:t>220kV Grid Station NTDC Rohri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100">
                          <a:effectLst/>
                        </a:rPr>
                        <a:t>Sukkur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100">
                          <a:effectLst/>
                        </a:rPr>
                        <a:t>Rohri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100">
                          <a:effectLst/>
                        </a:rPr>
                        <a:t>Very High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100">
                          <a:effectLst/>
                        </a:rPr>
                        <a:t>220kV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0288395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100">
                          <a:effectLst/>
                        </a:rPr>
                        <a:t>3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100">
                          <a:effectLst/>
                        </a:rPr>
                        <a:t>500kV Grid Station NTDC Shikarpur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100">
                          <a:effectLst/>
                        </a:rPr>
                        <a:t>Shikarpur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100">
                          <a:effectLst/>
                        </a:rPr>
                        <a:t>Shikarpur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100">
                          <a:effectLst/>
                        </a:rPr>
                        <a:t>Moderate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100">
                          <a:effectLst/>
                        </a:rPr>
                        <a:t>500kV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89305155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100">
                          <a:effectLst/>
                        </a:rPr>
                        <a:t>4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100">
                          <a:effectLst/>
                        </a:rPr>
                        <a:t>500kV Grid Station Sheikhupura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100">
                          <a:effectLst/>
                        </a:rPr>
                        <a:t>Sheikhupura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100">
                          <a:effectLst/>
                        </a:rPr>
                        <a:t>Sheikhupura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100">
                          <a:effectLst/>
                        </a:rPr>
                        <a:t>Low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100">
                          <a:effectLst/>
                        </a:rPr>
                        <a:t>500kV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99327521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100">
                          <a:effectLst/>
                        </a:rPr>
                        <a:t>5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100">
                          <a:effectLst/>
                        </a:rPr>
                        <a:t>500 kV Grid Station Guddu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100">
                          <a:effectLst/>
                        </a:rPr>
                        <a:t>Rajanpur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100">
                          <a:effectLst/>
                        </a:rPr>
                        <a:t>Rajanpur (Tribal Area)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100">
                          <a:effectLst/>
                        </a:rPr>
                        <a:t>High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100">
                          <a:effectLst/>
                        </a:rPr>
                        <a:t>500kV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068123361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1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100">
                          <a:effectLst/>
                        </a:rPr>
                        <a:t>Natural Gas Power Station PiranGheb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100">
                          <a:effectLst/>
                        </a:rPr>
                        <a:t>Multan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100">
                          <a:effectLst/>
                        </a:rPr>
                        <a:t>Multan Saddar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100">
                          <a:effectLst/>
                        </a:rPr>
                        <a:t>Very High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100">
                          <a:effectLst/>
                        </a:rPr>
                        <a:t>N/A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046600329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100" dirty="0">
                          <a:effectLst/>
                        </a:rPr>
                        <a:t>7</a:t>
                      </a:r>
                      <a:endParaRPr lang="en-GB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100">
                          <a:effectLst/>
                        </a:rPr>
                        <a:t>660kV Convertor Station Faqir Noorthiani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100">
                          <a:effectLst/>
                        </a:rPr>
                        <a:t>Matiari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100">
                          <a:effectLst/>
                        </a:rPr>
                        <a:t>Matiari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100">
                          <a:effectLst/>
                        </a:rPr>
                        <a:t>Moderate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100" dirty="0">
                          <a:effectLst/>
                        </a:rPr>
                        <a:t>660kV</a:t>
                      </a:r>
                      <a:endParaRPr lang="en-GB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4365375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68457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693">
          <a:extLst>
            <a:ext uri="{FF2B5EF4-FFF2-40B4-BE49-F238E27FC236}">
              <a16:creationId xmlns:a16="http://schemas.microsoft.com/office/drawing/2014/main" id="{84A69C29-BFFA-D051-E158-0C6149346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694;p49">
            <a:extLst>
              <a:ext uri="{FF2B5EF4-FFF2-40B4-BE49-F238E27FC236}">
                <a16:creationId xmlns:a16="http://schemas.microsoft.com/office/drawing/2014/main" id="{3CB88130-1616-FE2C-210E-8FA5C9B353C3}"/>
              </a:ext>
            </a:extLst>
          </p:cNvPr>
          <p:cNvSpPr txBox="1">
            <a:spLocks/>
          </p:cNvSpPr>
          <p:nvPr/>
        </p:nvSpPr>
        <p:spPr>
          <a:xfrm>
            <a:off x="0" y="37171"/>
            <a:ext cx="6588000" cy="600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Outfit Black"/>
                <a:ea typeface="Outfit Black"/>
                <a:cs typeface="Outfit Black"/>
                <a:sym typeface="Outfit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r>
              <a:rPr lang="en-US" sz="2800" dirty="0">
                <a:solidFill>
                  <a:schemeClr val="tx1"/>
                </a:solidFill>
              </a:rPr>
              <a:t>Cyclone Severity Assessment</a:t>
            </a:r>
          </a:p>
        </p:txBody>
      </p:sp>
      <p:cxnSp>
        <p:nvCxnSpPr>
          <p:cNvPr id="4" name="Google Shape;180;p34">
            <a:extLst>
              <a:ext uri="{FF2B5EF4-FFF2-40B4-BE49-F238E27FC236}">
                <a16:creationId xmlns:a16="http://schemas.microsoft.com/office/drawing/2014/main" id="{FDDBAD23-ABBE-1120-040C-C4E51DD00112}"/>
              </a:ext>
            </a:extLst>
          </p:cNvPr>
          <p:cNvCxnSpPr>
            <a:cxnSpLocks/>
          </p:cNvCxnSpPr>
          <p:nvPr/>
        </p:nvCxnSpPr>
        <p:spPr>
          <a:xfrm>
            <a:off x="57249" y="637432"/>
            <a:ext cx="4982751" cy="0"/>
          </a:xfrm>
          <a:prstGeom prst="straightConnector1">
            <a:avLst/>
          </a:prstGeom>
          <a:noFill/>
          <a:ln w="19050" cap="rnd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D90924D-C592-CF23-8C9E-FFD5E95517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0770"/>
              </p:ext>
            </p:extLst>
          </p:nvPr>
        </p:nvGraphicFramePr>
        <p:xfrm>
          <a:off x="792000" y="815644"/>
          <a:ext cx="7264800" cy="3690424"/>
        </p:xfrm>
        <a:graphic>
          <a:graphicData uri="http://schemas.openxmlformats.org/drawingml/2006/table">
            <a:tbl>
              <a:tblPr firstRow="1" firstCol="1" bandRow="1">
                <a:tableStyleId>{7E9639D4-E3E2-4D34-9284-5A2195B3D0D7}</a:tableStyleId>
              </a:tblPr>
              <a:tblGrid>
                <a:gridCol w="571347">
                  <a:extLst>
                    <a:ext uri="{9D8B030D-6E8A-4147-A177-3AD203B41FA5}">
                      <a16:colId xmlns:a16="http://schemas.microsoft.com/office/drawing/2014/main" val="1266996115"/>
                    </a:ext>
                  </a:extLst>
                </a:gridCol>
                <a:gridCol w="3336243">
                  <a:extLst>
                    <a:ext uri="{9D8B030D-6E8A-4147-A177-3AD203B41FA5}">
                      <a16:colId xmlns:a16="http://schemas.microsoft.com/office/drawing/2014/main" val="1361514241"/>
                    </a:ext>
                  </a:extLst>
                </a:gridCol>
                <a:gridCol w="671442">
                  <a:extLst>
                    <a:ext uri="{9D8B030D-6E8A-4147-A177-3AD203B41FA5}">
                      <a16:colId xmlns:a16="http://schemas.microsoft.com/office/drawing/2014/main" val="1981153322"/>
                    </a:ext>
                  </a:extLst>
                </a:gridCol>
                <a:gridCol w="671442">
                  <a:extLst>
                    <a:ext uri="{9D8B030D-6E8A-4147-A177-3AD203B41FA5}">
                      <a16:colId xmlns:a16="http://schemas.microsoft.com/office/drawing/2014/main" val="3081730440"/>
                    </a:ext>
                  </a:extLst>
                </a:gridCol>
                <a:gridCol w="671442">
                  <a:extLst>
                    <a:ext uri="{9D8B030D-6E8A-4147-A177-3AD203B41FA5}">
                      <a16:colId xmlns:a16="http://schemas.microsoft.com/office/drawing/2014/main" val="1496218032"/>
                    </a:ext>
                  </a:extLst>
                </a:gridCol>
                <a:gridCol w="709284">
                  <a:extLst>
                    <a:ext uri="{9D8B030D-6E8A-4147-A177-3AD203B41FA5}">
                      <a16:colId xmlns:a16="http://schemas.microsoft.com/office/drawing/2014/main" val="4256537601"/>
                    </a:ext>
                  </a:extLst>
                </a:gridCol>
                <a:gridCol w="633600">
                  <a:extLst>
                    <a:ext uri="{9D8B030D-6E8A-4147-A177-3AD203B41FA5}">
                      <a16:colId xmlns:a16="http://schemas.microsoft.com/office/drawing/2014/main" val="2251665963"/>
                    </a:ext>
                  </a:extLst>
                </a:gridCol>
              </a:tblGrid>
              <a:tr h="450051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900" dirty="0">
                          <a:effectLst/>
                        </a:rPr>
                        <a:t>Sr.</a:t>
                      </a:r>
                      <a:endParaRPr lang="en-GB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3010" marR="3301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900">
                          <a:effectLst/>
                        </a:rPr>
                        <a:t>Name of Transmission Line</a:t>
                      </a:r>
                      <a:endParaRPr lang="en-GB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3010" marR="3301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900">
                          <a:effectLst/>
                        </a:rPr>
                        <a:t>District</a:t>
                      </a:r>
                      <a:endParaRPr lang="en-GB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3010" marR="3301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900">
                          <a:effectLst/>
                        </a:rPr>
                        <a:t>Tehsil</a:t>
                      </a:r>
                      <a:endParaRPr lang="en-GB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3010" marR="3301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900">
                          <a:effectLst/>
                        </a:rPr>
                        <a:t>Severity Level</a:t>
                      </a:r>
                      <a:endParaRPr lang="en-GB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3010" marR="3301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900">
                          <a:effectLst/>
                        </a:rPr>
                        <a:t>Affected Length(km)</a:t>
                      </a:r>
                      <a:endParaRPr lang="en-GB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3010" marR="3301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900">
                          <a:effectLst/>
                        </a:rPr>
                        <a:t>Voltage</a:t>
                      </a:r>
                      <a:endParaRPr lang="en-GB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3010" marR="33010" marT="0" marB="0" anchor="b"/>
                </a:tc>
                <a:extLst>
                  <a:ext uri="{0D108BD9-81ED-4DB2-BD59-A6C34878D82A}">
                    <a16:rowId xmlns:a16="http://schemas.microsoft.com/office/drawing/2014/main" val="3288823985"/>
                  </a:ext>
                </a:extLst>
              </a:tr>
              <a:tr h="180021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900">
                          <a:effectLst/>
                        </a:rPr>
                        <a:t>1</a:t>
                      </a:r>
                      <a:endParaRPr lang="en-GB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3010" marR="3301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900" dirty="0">
                          <a:effectLst/>
                        </a:rPr>
                        <a:t>Shikarpur – Dadu II (Guddu – Dadu II )</a:t>
                      </a:r>
                      <a:endParaRPr lang="en-GB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3010" marR="3301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900">
                          <a:effectLst/>
                        </a:rPr>
                        <a:t>Dadu</a:t>
                      </a:r>
                      <a:endParaRPr lang="en-GB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3010" marR="3301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900">
                          <a:effectLst/>
                        </a:rPr>
                        <a:t>Dadu</a:t>
                      </a:r>
                      <a:endParaRPr lang="en-GB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3010" marR="3301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900">
                          <a:effectLst/>
                        </a:rPr>
                        <a:t>Very Low</a:t>
                      </a:r>
                      <a:endParaRPr lang="en-GB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3010" marR="3301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900" dirty="0">
                          <a:effectLst/>
                        </a:rPr>
                        <a:t>53.57</a:t>
                      </a:r>
                      <a:endParaRPr lang="en-GB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3010" marR="3301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900">
                          <a:effectLst/>
                        </a:rPr>
                        <a:t>500kV</a:t>
                      </a:r>
                      <a:endParaRPr lang="en-GB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3010" marR="33010" marT="0" marB="0" anchor="b"/>
                </a:tc>
                <a:extLst>
                  <a:ext uri="{0D108BD9-81ED-4DB2-BD59-A6C34878D82A}">
                    <a16:rowId xmlns:a16="http://schemas.microsoft.com/office/drawing/2014/main" val="974785864"/>
                  </a:ext>
                </a:extLst>
              </a:tr>
              <a:tr h="180021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900">
                          <a:effectLst/>
                        </a:rPr>
                        <a:t>2</a:t>
                      </a:r>
                      <a:endParaRPr lang="en-GB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3010" marR="3301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pl-PL" sz="900">
                          <a:effectLst/>
                        </a:rPr>
                        <a:t>Shikarpur – Dadu I (Guddu – Dadu I )</a:t>
                      </a:r>
                      <a:endParaRPr lang="en-GB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3010" marR="3301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900">
                          <a:effectLst/>
                        </a:rPr>
                        <a:t>Dadu</a:t>
                      </a:r>
                      <a:endParaRPr lang="en-GB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3010" marR="3301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900">
                          <a:effectLst/>
                        </a:rPr>
                        <a:t>Dadu</a:t>
                      </a:r>
                      <a:endParaRPr lang="en-GB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3010" marR="3301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900">
                          <a:effectLst/>
                        </a:rPr>
                        <a:t>Very Low</a:t>
                      </a:r>
                      <a:endParaRPr lang="en-GB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3010" marR="3301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900">
                          <a:effectLst/>
                        </a:rPr>
                        <a:t>47.53</a:t>
                      </a:r>
                      <a:endParaRPr lang="en-GB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3010" marR="3301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900">
                          <a:effectLst/>
                        </a:rPr>
                        <a:t>500kV</a:t>
                      </a:r>
                      <a:endParaRPr lang="en-GB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3010" marR="33010" marT="0" marB="0" anchor="b"/>
                </a:tc>
                <a:extLst>
                  <a:ext uri="{0D108BD9-81ED-4DB2-BD59-A6C34878D82A}">
                    <a16:rowId xmlns:a16="http://schemas.microsoft.com/office/drawing/2014/main" val="2578969920"/>
                  </a:ext>
                </a:extLst>
              </a:tr>
              <a:tr h="540062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900">
                          <a:effectLst/>
                        </a:rPr>
                        <a:t>3</a:t>
                      </a:r>
                      <a:endParaRPr lang="en-GB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3010" marR="3301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900" dirty="0">
                          <a:effectLst/>
                        </a:rPr>
                        <a:t>D.G. Khan – Guddu (Multan – Guddu III )</a:t>
                      </a:r>
                      <a:endParaRPr lang="en-GB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3010" marR="3301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900">
                          <a:effectLst/>
                        </a:rPr>
                        <a:t>Dera Ghazi Khan</a:t>
                      </a:r>
                      <a:endParaRPr lang="en-GB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3010" marR="3301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900">
                          <a:effectLst/>
                        </a:rPr>
                        <a:t>Kot Chatta</a:t>
                      </a:r>
                      <a:endParaRPr lang="en-GB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3010" marR="3301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900">
                          <a:effectLst/>
                        </a:rPr>
                        <a:t>Very Low</a:t>
                      </a:r>
                      <a:endParaRPr lang="en-GB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3010" marR="3301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900">
                          <a:effectLst/>
                        </a:rPr>
                        <a:t>178.40</a:t>
                      </a:r>
                      <a:endParaRPr lang="en-GB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3010" marR="3301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900">
                          <a:effectLst/>
                        </a:rPr>
                        <a:t>500kV</a:t>
                      </a:r>
                      <a:endParaRPr lang="en-GB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3010" marR="33010" marT="0" marB="0" anchor="b"/>
                </a:tc>
                <a:extLst>
                  <a:ext uri="{0D108BD9-81ED-4DB2-BD59-A6C34878D82A}">
                    <a16:rowId xmlns:a16="http://schemas.microsoft.com/office/drawing/2014/main" val="3881905805"/>
                  </a:ext>
                </a:extLst>
              </a:tr>
              <a:tr h="270031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900">
                          <a:effectLst/>
                        </a:rPr>
                        <a:t>4</a:t>
                      </a:r>
                      <a:endParaRPr lang="en-GB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3010" marR="3301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pl-PL" sz="900">
                          <a:effectLst/>
                        </a:rPr>
                        <a:t>NKI – Jamshoro (Hub PP – Jamshoro I )</a:t>
                      </a:r>
                      <a:endParaRPr lang="en-GB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3010" marR="3301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900">
                          <a:effectLst/>
                        </a:rPr>
                        <a:t>Jamshoro</a:t>
                      </a:r>
                      <a:endParaRPr lang="en-GB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3010" marR="3301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900">
                          <a:effectLst/>
                        </a:rPr>
                        <a:t>Kotri</a:t>
                      </a:r>
                      <a:endParaRPr lang="en-GB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3010" marR="3301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900">
                          <a:effectLst/>
                        </a:rPr>
                        <a:t>Moderate</a:t>
                      </a:r>
                      <a:endParaRPr lang="en-GB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3010" marR="3301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900">
                          <a:effectLst/>
                        </a:rPr>
                        <a:t>157.75</a:t>
                      </a:r>
                      <a:endParaRPr lang="en-GB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3010" marR="3301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900">
                          <a:effectLst/>
                        </a:rPr>
                        <a:t>500kV</a:t>
                      </a:r>
                      <a:endParaRPr lang="en-GB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3010" marR="33010" marT="0" marB="0" anchor="b"/>
                </a:tc>
                <a:extLst>
                  <a:ext uri="{0D108BD9-81ED-4DB2-BD59-A6C34878D82A}">
                    <a16:rowId xmlns:a16="http://schemas.microsoft.com/office/drawing/2014/main" val="3895627888"/>
                  </a:ext>
                </a:extLst>
              </a:tr>
              <a:tr h="270031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900">
                          <a:effectLst/>
                        </a:rPr>
                        <a:t>5</a:t>
                      </a:r>
                      <a:endParaRPr lang="en-GB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3010" marR="3301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900">
                          <a:effectLst/>
                        </a:rPr>
                        <a:t>Dadu – Khuzdar I &amp; II</a:t>
                      </a:r>
                      <a:endParaRPr lang="en-GB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3010" marR="3301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900">
                          <a:effectLst/>
                        </a:rPr>
                        <a:t>Jhal Magsi</a:t>
                      </a:r>
                      <a:endParaRPr lang="en-GB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3010" marR="3301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900">
                          <a:effectLst/>
                        </a:rPr>
                        <a:t>Jhal Magsi</a:t>
                      </a:r>
                      <a:endParaRPr lang="en-GB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3010" marR="3301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900">
                          <a:effectLst/>
                        </a:rPr>
                        <a:t>Very Low</a:t>
                      </a:r>
                      <a:endParaRPr lang="en-GB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3010" marR="3301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900">
                          <a:effectLst/>
                        </a:rPr>
                        <a:t>46.90</a:t>
                      </a:r>
                      <a:endParaRPr lang="en-GB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3010" marR="3301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900">
                          <a:effectLst/>
                        </a:rPr>
                        <a:t>220kV</a:t>
                      </a:r>
                      <a:endParaRPr lang="en-GB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3010" marR="33010" marT="0" marB="0" anchor="b"/>
                </a:tc>
                <a:extLst>
                  <a:ext uri="{0D108BD9-81ED-4DB2-BD59-A6C34878D82A}">
                    <a16:rowId xmlns:a16="http://schemas.microsoft.com/office/drawing/2014/main" val="2225507133"/>
                  </a:ext>
                </a:extLst>
              </a:tr>
              <a:tr h="180021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900">
                          <a:effectLst/>
                        </a:rPr>
                        <a:t>6</a:t>
                      </a:r>
                      <a:endParaRPr lang="en-GB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3010" marR="3301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pl-PL" sz="900">
                          <a:effectLst/>
                        </a:rPr>
                        <a:t>Sibbi – D.M. Jamali(Sibbi – Uch-II PP I &amp; II )</a:t>
                      </a:r>
                      <a:endParaRPr lang="en-GB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3010" marR="3301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900">
                          <a:effectLst/>
                        </a:rPr>
                        <a:t>Kachhi</a:t>
                      </a:r>
                      <a:endParaRPr lang="en-GB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3010" marR="3301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900">
                          <a:effectLst/>
                        </a:rPr>
                        <a:t>Balanari</a:t>
                      </a:r>
                      <a:endParaRPr lang="en-GB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3010" marR="3301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900">
                          <a:effectLst/>
                        </a:rPr>
                        <a:t>Very Low</a:t>
                      </a:r>
                      <a:endParaRPr lang="en-GB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3010" marR="3301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900">
                          <a:effectLst/>
                        </a:rPr>
                        <a:t>52.75</a:t>
                      </a:r>
                      <a:endParaRPr lang="en-GB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3010" marR="3301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900">
                          <a:effectLst/>
                        </a:rPr>
                        <a:t>220kV</a:t>
                      </a:r>
                      <a:endParaRPr lang="en-GB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3010" marR="33010" marT="0" marB="0" anchor="b"/>
                </a:tc>
                <a:extLst>
                  <a:ext uri="{0D108BD9-81ED-4DB2-BD59-A6C34878D82A}">
                    <a16:rowId xmlns:a16="http://schemas.microsoft.com/office/drawing/2014/main" val="3866599219"/>
                  </a:ext>
                </a:extLst>
              </a:tr>
              <a:tr h="540062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900">
                          <a:effectLst/>
                        </a:rPr>
                        <a:t>7</a:t>
                      </a:r>
                      <a:endParaRPr lang="en-GB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3010" marR="3301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pl-PL" sz="900">
                          <a:effectLst/>
                        </a:rPr>
                        <a:t>D.M. Jamali – Uch-I PP (Sibbi – Uch-II PP I &amp; II )</a:t>
                      </a:r>
                      <a:endParaRPr lang="en-GB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3010" marR="3301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900">
                          <a:effectLst/>
                        </a:rPr>
                        <a:t>Nasirabad</a:t>
                      </a:r>
                      <a:endParaRPr lang="en-GB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3010" marR="3301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900">
                          <a:effectLst/>
                        </a:rPr>
                        <a:t>Dera Murad Jamali</a:t>
                      </a:r>
                      <a:endParaRPr lang="en-GB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3010" marR="3301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900">
                          <a:effectLst/>
                        </a:rPr>
                        <a:t>Very Low</a:t>
                      </a:r>
                      <a:endParaRPr lang="en-GB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3010" marR="3301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900">
                          <a:effectLst/>
                        </a:rPr>
                        <a:t>43.87</a:t>
                      </a:r>
                      <a:endParaRPr lang="en-GB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3010" marR="3301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900">
                          <a:effectLst/>
                        </a:rPr>
                        <a:t>220kV</a:t>
                      </a:r>
                      <a:endParaRPr lang="en-GB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3010" marR="33010" marT="0" marB="0" anchor="b"/>
                </a:tc>
                <a:extLst>
                  <a:ext uri="{0D108BD9-81ED-4DB2-BD59-A6C34878D82A}">
                    <a16:rowId xmlns:a16="http://schemas.microsoft.com/office/drawing/2014/main" val="1211063345"/>
                  </a:ext>
                </a:extLst>
              </a:tr>
              <a:tr h="450051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900">
                          <a:effectLst/>
                        </a:rPr>
                        <a:t>8</a:t>
                      </a:r>
                      <a:endParaRPr lang="en-GB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3010" marR="3301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900">
                          <a:effectLst/>
                        </a:rPr>
                        <a:t>Gharo - Jhimpir II (Jhimpir – Gharo I &amp; II )</a:t>
                      </a:r>
                      <a:endParaRPr lang="en-GB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3010" marR="3301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900">
                          <a:effectLst/>
                        </a:rPr>
                        <a:t>Malir Karachi</a:t>
                      </a:r>
                      <a:endParaRPr lang="en-GB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3010" marR="3301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900">
                          <a:effectLst/>
                        </a:rPr>
                        <a:t>Bin Qasim Town</a:t>
                      </a:r>
                      <a:endParaRPr lang="en-GB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3010" marR="3301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900">
                          <a:effectLst/>
                        </a:rPr>
                        <a:t>High</a:t>
                      </a:r>
                      <a:endParaRPr lang="en-GB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3010" marR="3301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900">
                          <a:effectLst/>
                        </a:rPr>
                        <a:t>3.23</a:t>
                      </a:r>
                      <a:endParaRPr lang="en-GB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3010" marR="3301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900">
                          <a:effectLst/>
                        </a:rPr>
                        <a:t>220kV</a:t>
                      </a:r>
                      <a:endParaRPr lang="en-GB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3010" marR="33010" marT="0" marB="0" anchor="b"/>
                </a:tc>
                <a:extLst>
                  <a:ext uri="{0D108BD9-81ED-4DB2-BD59-A6C34878D82A}">
                    <a16:rowId xmlns:a16="http://schemas.microsoft.com/office/drawing/2014/main" val="1308577004"/>
                  </a:ext>
                </a:extLst>
              </a:tr>
              <a:tr h="270031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900">
                          <a:effectLst/>
                        </a:rPr>
                        <a:t>9</a:t>
                      </a:r>
                      <a:endParaRPr lang="en-GB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3010" marR="3301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900">
                          <a:effectLst/>
                        </a:rPr>
                        <a:t>Port Qasim CFPP – Matiari I &amp; II</a:t>
                      </a:r>
                      <a:endParaRPr lang="en-GB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3010" marR="3301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900">
                          <a:effectLst/>
                        </a:rPr>
                        <a:t>Matiari</a:t>
                      </a:r>
                      <a:endParaRPr lang="en-GB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3010" marR="3301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900">
                          <a:effectLst/>
                        </a:rPr>
                        <a:t>Matiari</a:t>
                      </a:r>
                      <a:endParaRPr lang="en-GB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3010" marR="3301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900">
                          <a:effectLst/>
                        </a:rPr>
                        <a:t>Moderate</a:t>
                      </a:r>
                      <a:endParaRPr lang="en-GB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3010" marR="3301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900">
                          <a:effectLst/>
                        </a:rPr>
                        <a:t>31.96</a:t>
                      </a:r>
                      <a:endParaRPr lang="en-GB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3010" marR="3301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900">
                          <a:effectLst/>
                        </a:rPr>
                        <a:t>220kV</a:t>
                      </a:r>
                      <a:endParaRPr lang="en-GB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3010" marR="33010" marT="0" marB="0" anchor="b"/>
                </a:tc>
                <a:extLst>
                  <a:ext uri="{0D108BD9-81ED-4DB2-BD59-A6C34878D82A}">
                    <a16:rowId xmlns:a16="http://schemas.microsoft.com/office/drawing/2014/main" val="2782901757"/>
                  </a:ext>
                </a:extLst>
              </a:tr>
              <a:tr h="180021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900">
                          <a:effectLst/>
                        </a:rPr>
                        <a:t>10</a:t>
                      </a:r>
                      <a:endParaRPr lang="en-GB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3010" marR="3301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900">
                          <a:effectLst/>
                        </a:rPr>
                        <a:t>Dadu – Jamshoro II</a:t>
                      </a:r>
                      <a:endParaRPr lang="en-GB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3010" marR="3301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900">
                          <a:effectLst/>
                        </a:rPr>
                        <a:t>Dadu</a:t>
                      </a:r>
                      <a:endParaRPr lang="en-GB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3010" marR="3301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900">
                          <a:effectLst/>
                        </a:rPr>
                        <a:t>Dadu</a:t>
                      </a:r>
                      <a:endParaRPr lang="en-GB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3010" marR="3301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900">
                          <a:effectLst/>
                        </a:rPr>
                        <a:t>Very Low</a:t>
                      </a:r>
                      <a:endParaRPr lang="en-GB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3010" marR="3301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900">
                          <a:effectLst/>
                        </a:rPr>
                        <a:t>29.39</a:t>
                      </a:r>
                      <a:endParaRPr lang="en-GB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3010" marR="3301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900">
                          <a:effectLst/>
                        </a:rPr>
                        <a:t>500kV</a:t>
                      </a:r>
                      <a:endParaRPr lang="en-GB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3010" marR="33010" marT="0" marB="0" anchor="b"/>
                </a:tc>
                <a:extLst>
                  <a:ext uri="{0D108BD9-81ED-4DB2-BD59-A6C34878D82A}">
                    <a16:rowId xmlns:a16="http://schemas.microsoft.com/office/drawing/2014/main" val="2810158525"/>
                  </a:ext>
                </a:extLst>
              </a:tr>
              <a:tr h="180021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900">
                          <a:effectLst/>
                        </a:rPr>
                        <a:t>11</a:t>
                      </a:r>
                      <a:endParaRPr lang="en-GB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3010" marR="3301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900">
                          <a:effectLst/>
                        </a:rPr>
                        <a:t>Dadu – Jamshoro I</a:t>
                      </a:r>
                      <a:endParaRPr lang="en-GB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3010" marR="3301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900">
                          <a:effectLst/>
                        </a:rPr>
                        <a:t>Dadu</a:t>
                      </a:r>
                      <a:endParaRPr lang="en-GB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3010" marR="3301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900">
                          <a:effectLst/>
                        </a:rPr>
                        <a:t>Dadu</a:t>
                      </a:r>
                      <a:endParaRPr lang="en-GB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3010" marR="3301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900">
                          <a:effectLst/>
                        </a:rPr>
                        <a:t>Very Low</a:t>
                      </a:r>
                      <a:endParaRPr lang="en-GB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3010" marR="3301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900">
                          <a:effectLst/>
                        </a:rPr>
                        <a:t>20.78</a:t>
                      </a:r>
                      <a:endParaRPr lang="en-GB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3010" marR="3301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900" dirty="0">
                          <a:effectLst/>
                        </a:rPr>
                        <a:t>220kV</a:t>
                      </a:r>
                      <a:endParaRPr lang="en-GB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3010" marR="33010" marT="0" marB="0" anchor="b"/>
                </a:tc>
                <a:extLst>
                  <a:ext uri="{0D108BD9-81ED-4DB2-BD59-A6C34878D82A}">
                    <a16:rowId xmlns:a16="http://schemas.microsoft.com/office/drawing/2014/main" val="18096860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3084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693">
          <a:extLst>
            <a:ext uri="{FF2B5EF4-FFF2-40B4-BE49-F238E27FC236}">
              <a16:creationId xmlns:a16="http://schemas.microsoft.com/office/drawing/2014/main" id="{F17888A5-4BA8-3076-2AE0-A56DDF8A6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694;p49">
            <a:extLst>
              <a:ext uri="{FF2B5EF4-FFF2-40B4-BE49-F238E27FC236}">
                <a16:creationId xmlns:a16="http://schemas.microsoft.com/office/drawing/2014/main" id="{84BA9B9A-F038-E600-9E87-92CF27191ABE}"/>
              </a:ext>
            </a:extLst>
          </p:cNvPr>
          <p:cNvSpPr txBox="1">
            <a:spLocks/>
          </p:cNvSpPr>
          <p:nvPr/>
        </p:nvSpPr>
        <p:spPr>
          <a:xfrm>
            <a:off x="0" y="37171"/>
            <a:ext cx="6588000" cy="600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Outfit Black"/>
                <a:ea typeface="Outfit Black"/>
                <a:cs typeface="Outfit Black"/>
                <a:sym typeface="Outfit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r>
              <a:rPr lang="en-US" sz="2800" dirty="0">
                <a:solidFill>
                  <a:schemeClr val="tx1"/>
                </a:solidFill>
              </a:rPr>
              <a:t>Earthquake Severity Assessment</a:t>
            </a:r>
          </a:p>
        </p:txBody>
      </p:sp>
      <p:cxnSp>
        <p:nvCxnSpPr>
          <p:cNvPr id="4" name="Google Shape;180;p34">
            <a:extLst>
              <a:ext uri="{FF2B5EF4-FFF2-40B4-BE49-F238E27FC236}">
                <a16:creationId xmlns:a16="http://schemas.microsoft.com/office/drawing/2014/main" id="{1A6FEB86-3471-9994-1A26-9797274174EE}"/>
              </a:ext>
            </a:extLst>
          </p:cNvPr>
          <p:cNvCxnSpPr>
            <a:cxnSpLocks/>
          </p:cNvCxnSpPr>
          <p:nvPr/>
        </p:nvCxnSpPr>
        <p:spPr>
          <a:xfrm>
            <a:off x="57249" y="637432"/>
            <a:ext cx="5666751" cy="0"/>
          </a:xfrm>
          <a:prstGeom prst="straightConnector1">
            <a:avLst/>
          </a:prstGeom>
          <a:noFill/>
          <a:ln w="19050" cap="rnd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5AED630-A5D8-CC99-6653-F09D435297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6066120"/>
              </p:ext>
            </p:extLst>
          </p:nvPr>
        </p:nvGraphicFramePr>
        <p:xfrm>
          <a:off x="641526" y="922948"/>
          <a:ext cx="7702548" cy="3878580"/>
        </p:xfrm>
        <a:graphic>
          <a:graphicData uri="http://schemas.openxmlformats.org/drawingml/2006/table">
            <a:tbl>
              <a:tblPr firstRow="1" firstCol="1" bandRow="1">
                <a:tableStyleId>{793D81CF-94F2-401A-BA57-92F5A7B2D0C5}</a:tableStyleId>
              </a:tblPr>
              <a:tblGrid>
                <a:gridCol w="1283758">
                  <a:extLst>
                    <a:ext uri="{9D8B030D-6E8A-4147-A177-3AD203B41FA5}">
                      <a16:colId xmlns:a16="http://schemas.microsoft.com/office/drawing/2014/main" val="2614671280"/>
                    </a:ext>
                  </a:extLst>
                </a:gridCol>
                <a:gridCol w="1283758">
                  <a:extLst>
                    <a:ext uri="{9D8B030D-6E8A-4147-A177-3AD203B41FA5}">
                      <a16:colId xmlns:a16="http://schemas.microsoft.com/office/drawing/2014/main" val="4160975275"/>
                    </a:ext>
                  </a:extLst>
                </a:gridCol>
                <a:gridCol w="1283758">
                  <a:extLst>
                    <a:ext uri="{9D8B030D-6E8A-4147-A177-3AD203B41FA5}">
                      <a16:colId xmlns:a16="http://schemas.microsoft.com/office/drawing/2014/main" val="3942903494"/>
                    </a:ext>
                  </a:extLst>
                </a:gridCol>
                <a:gridCol w="1283758">
                  <a:extLst>
                    <a:ext uri="{9D8B030D-6E8A-4147-A177-3AD203B41FA5}">
                      <a16:colId xmlns:a16="http://schemas.microsoft.com/office/drawing/2014/main" val="1565966317"/>
                    </a:ext>
                  </a:extLst>
                </a:gridCol>
                <a:gridCol w="1283758">
                  <a:extLst>
                    <a:ext uri="{9D8B030D-6E8A-4147-A177-3AD203B41FA5}">
                      <a16:colId xmlns:a16="http://schemas.microsoft.com/office/drawing/2014/main" val="4262791735"/>
                    </a:ext>
                  </a:extLst>
                </a:gridCol>
                <a:gridCol w="1283758">
                  <a:extLst>
                    <a:ext uri="{9D8B030D-6E8A-4147-A177-3AD203B41FA5}">
                      <a16:colId xmlns:a16="http://schemas.microsoft.com/office/drawing/2014/main" val="2956262174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100">
                          <a:effectLst/>
                        </a:rPr>
                        <a:t>Sr.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100">
                          <a:effectLst/>
                        </a:rPr>
                        <a:t>Name of Grid Station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100">
                          <a:effectLst/>
                        </a:rPr>
                        <a:t>District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100">
                          <a:effectLst/>
                        </a:rPr>
                        <a:t>Tehsil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100">
                          <a:effectLst/>
                        </a:rPr>
                        <a:t>Severity Level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100">
                          <a:effectLst/>
                        </a:rPr>
                        <a:t>Voltage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830578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100">
                          <a:effectLst/>
                        </a:rPr>
                        <a:t>1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100">
                          <a:effectLst/>
                        </a:rPr>
                        <a:t>220kV Grid Station NTDC Dera Murad Jamali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100">
                          <a:effectLst/>
                        </a:rPr>
                        <a:t>Nasirabad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100">
                          <a:effectLst/>
                        </a:rPr>
                        <a:t>Dera Murad Jamali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100">
                          <a:effectLst/>
                        </a:rPr>
                        <a:t>Severe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100">
                          <a:effectLst/>
                        </a:rPr>
                        <a:t>220k V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6055138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100">
                          <a:effectLst/>
                        </a:rPr>
                        <a:t>2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100">
                          <a:effectLst/>
                        </a:rPr>
                        <a:t>Grid Station Sibbi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100">
                          <a:effectLst/>
                        </a:rPr>
                        <a:t>Sibbi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100">
                          <a:effectLst/>
                        </a:rPr>
                        <a:t>Sibbi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100">
                          <a:effectLst/>
                        </a:rPr>
                        <a:t>Severe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100">
                          <a:effectLst/>
                        </a:rPr>
                        <a:t>220kV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4043105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100">
                          <a:effectLst/>
                        </a:rPr>
                        <a:t>3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100">
                          <a:effectLst/>
                        </a:rPr>
                        <a:t>500kV Grid Station NTDC Rawat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100">
                          <a:effectLst/>
                        </a:rPr>
                        <a:t>Rawalpindi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100">
                          <a:effectLst/>
                        </a:rPr>
                        <a:t>Rawalpindi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100">
                          <a:effectLst/>
                        </a:rPr>
                        <a:t>Severe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100">
                          <a:effectLst/>
                        </a:rPr>
                        <a:t>500kV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5075554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100">
                          <a:effectLst/>
                        </a:rPr>
                        <a:t>4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100">
                          <a:effectLst/>
                        </a:rPr>
                        <a:t>Duber Khwar Hydroelectic Plant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100">
                          <a:effectLst/>
                        </a:rPr>
                        <a:t>Kohistan Lower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100">
                          <a:effectLst/>
                        </a:rPr>
                        <a:t>Pattan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100">
                          <a:effectLst/>
                        </a:rPr>
                        <a:t>Severe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100">
                          <a:effectLst/>
                        </a:rPr>
                        <a:t>132kV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7327631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100">
                          <a:effectLst/>
                        </a:rPr>
                        <a:t>5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100">
                          <a:effectLst/>
                        </a:rPr>
                        <a:t>17 MW Ranolia Hydro Power Station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100">
                          <a:effectLst/>
                        </a:rPr>
                        <a:t>Kohistan Lower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100">
                          <a:effectLst/>
                        </a:rPr>
                        <a:t>Bankad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100">
                          <a:effectLst/>
                        </a:rPr>
                        <a:t>Severe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100">
                          <a:effectLst/>
                        </a:rPr>
                        <a:t>132kV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1944361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1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100">
                          <a:effectLst/>
                        </a:rPr>
                        <a:t>Khan Khwar Hydel Power Station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100">
                          <a:effectLst/>
                        </a:rPr>
                        <a:t>Shangla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100">
                          <a:effectLst/>
                        </a:rPr>
                        <a:t>Bisham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100">
                          <a:effectLst/>
                        </a:rPr>
                        <a:t>Severe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100">
                          <a:effectLst/>
                        </a:rPr>
                        <a:t>132kV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3229528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100">
                          <a:effectLst/>
                        </a:rPr>
                        <a:t>7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100">
                          <a:effectLst/>
                        </a:rPr>
                        <a:t>220kV Grid Station Bannu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100">
                          <a:effectLst/>
                        </a:rPr>
                        <a:t>Bannu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100">
                          <a:effectLst/>
                        </a:rPr>
                        <a:t>Domel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100">
                          <a:effectLst/>
                        </a:rPr>
                        <a:t>Very Strong to Severe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100">
                          <a:effectLst/>
                        </a:rPr>
                        <a:t>220kV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6856774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1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100" dirty="0">
                          <a:effectLst/>
                        </a:rPr>
                        <a:t>220KV Grid Station Sheikh Muhammadi</a:t>
                      </a:r>
                      <a:endParaRPr lang="en-GB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100">
                          <a:effectLst/>
                        </a:rPr>
                        <a:t>Peshawar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100">
                          <a:effectLst/>
                        </a:rPr>
                        <a:t>Peshawar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100">
                          <a:effectLst/>
                        </a:rPr>
                        <a:t>Very Strong to Severe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100" dirty="0">
                          <a:effectLst/>
                        </a:rPr>
                        <a:t>500/220/132kV</a:t>
                      </a:r>
                      <a:endParaRPr lang="en-GB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171099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04296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27">
          <a:extLst>
            <a:ext uri="{FF2B5EF4-FFF2-40B4-BE49-F238E27FC236}">
              <a16:creationId xmlns:a16="http://schemas.microsoft.com/office/drawing/2014/main" id="{27D3B6C7-0B8B-E52B-4B84-DC287C9FF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7">
            <a:extLst>
              <a:ext uri="{FF2B5EF4-FFF2-40B4-BE49-F238E27FC236}">
                <a16:creationId xmlns:a16="http://schemas.microsoft.com/office/drawing/2014/main" id="{AEFCC49F-0C57-3124-3864-4C6CB37FD9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74" y="2135225"/>
            <a:ext cx="5492571" cy="167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</a:rPr>
              <a:t>CONCLUSION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29" name="Google Shape;229;p37">
            <a:extLst>
              <a:ext uri="{FF2B5EF4-FFF2-40B4-BE49-F238E27FC236}">
                <a16:creationId xmlns:a16="http://schemas.microsoft.com/office/drawing/2014/main" id="{E06D9431-A3F8-6FC8-0D61-3526805A49FA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827275" y="699912"/>
            <a:ext cx="1313100" cy="1316700"/>
          </a:xfrm>
          <a:prstGeom prst="rect">
            <a:avLst/>
          </a:prstGeom>
          <a:solidFill>
            <a:schemeClr val="tx1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06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30" name="Google Shape;230;p37">
            <a:extLst>
              <a:ext uri="{FF2B5EF4-FFF2-40B4-BE49-F238E27FC236}">
                <a16:creationId xmlns:a16="http://schemas.microsoft.com/office/drawing/2014/main" id="{64E0A5BD-F868-D66D-4402-89740E978EE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22375" y="4172049"/>
            <a:ext cx="5217508" cy="6229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</a:rPr>
              <a:t>The Way Forward!</a:t>
            </a:r>
            <a:endParaRPr dirty="0">
              <a:solidFill>
                <a:schemeClr val="tx1"/>
              </a:solidFill>
            </a:endParaRPr>
          </a:p>
        </p:txBody>
      </p:sp>
      <p:cxnSp>
        <p:nvCxnSpPr>
          <p:cNvPr id="231" name="Google Shape;231;p37">
            <a:extLst>
              <a:ext uri="{FF2B5EF4-FFF2-40B4-BE49-F238E27FC236}">
                <a16:creationId xmlns:a16="http://schemas.microsoft.com/office/drawing/2014/main" id="{BD51C573-6C53-8356-5A06-B605A3FFAFCF}"/>
              </a:ext>
            </a:extLst>
          </p:cNvPr>
          <p:cNvCxnSpPr/>
          <p:nvPr/>
        </p:nvCxnSpPr>
        <p:spPr>
          <a:xfrm>
            <a:off x="827275" y="3929438"/>
            <a:ext cx="2045700" cy="0"/>
          </a:xfrm>
          <a:prstGeom prst="straightConnector1">
            <a:avLst/>
          </a:prstGeom>
          <a:noFill/>
          <a:ln w="19050" cap="rnd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8027799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693">
          <a:extLst>
            <a:ext uri="{FF2B5EF4-FFF2-40B4-BE49-F238E27FC236}">
              <a16:creationId xmlns:a16="http://schemas.microsoft.com/office/drawing/2014/main" id="{98CBAFA9-AAFD-3167-00D5-8A0711A5D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694;p49">
            <a:extLst>
              <a:ext uri="{FF2B5EF4-FFF2-40B4-BE49-F238E27FC236}">
                <a16:creationId xmlns:a16="http://schemas.microsoft.com/office/drawing/2014/main" id="{3DF9A2C7-9919-C675-242F-D5195926DD88}"/>
              </a:ext>
            </a:extLst>
          </p:cNvPr>
          <p:cNvSpPr txBox="1">
            <a:spLocks/>
          </p:cNvSpPr>
          <p:nvPr/>
        </p:nvSpPr>
        <p:spPr>
          <a:xfrm>
            <a:off x="0" y="37171"/>
            <a:ext cx="2564441" cy="706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Outfit Black"/>
                <a:ea typeface="Outfit Black"/>
                <a:cs typeface="Outfit Black"/>
                <a:sym typeface="Outfit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r>
              <a:rPr lang="en-US" sz="3600" dirty="0">
                <a:solidFill>
                  <a:schemeClr val="tx1"/>
                </a:solidFill>
              </a:rPr>
              <a:t>Conclusion</a:t>
            </a:r>
            <a:endParaRPr lang="en-GB" sz="3600" dirty="0">
              <a:solidFill>
                <a:schemeClr val="tx1"/>
              </a:solidFill>
            </a:endParaRPr>
          </a:p>
        </p:txBody>
      </p:sp>
      <p:cxnSp>
        <p:nvCxnSpPr>
          <p:cNvPr id="4" name="Google Shape;180;p34">
            <a:extLst>
              <a:ext uri="{FF2B5EF4-FFF2-40B4-BE49-F238E27FC236}">
                <a16:creationId xmlns:a16="http://schemas.microsoft.com/office/drawing/2014/main" id="{FC49E299-F6E3-6E80-F27C-34FB93C032A0}"/>
              </a:ext>
            </a:extLst>
          </p:cNvPr>
          <p:cNvCxnSpPr>
            <a:cxnSpLocks/>
          </p:cNvCxnSpPr>
          <p:nvPr/>
        </p:nvCxnSpPr>
        <p:spPr>
          <a:xfrm>
            <a:off x="57249" y="592828"/>
            <a:ext cx="2299375" cy="0"/>
          </a:xfrm>
          <a:prstGeom prst="straightConnector1">
            <a:avLst/>
          </a:prstGeom>
          <a:noFill/>
          <a:ln w="19050" cap="rnd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09F4E6C-AC11-329B-09BF-9D33D47A112E}"/>
              </a:ext>
            </a:extLst>
          </p:cNvPr>
          <p:cNvSpPr txBox="1"/>
          <p:nvPr/>
        </p:nvSpPr>
        <p:spPr>
          <a:xfrm>
            <a:off x="811696" y="1148486"/>
            <a:ext cx="6409903" cy="2177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The task successfully digitized energy infrastructure data.</a:t>
            </a:r>
          </a:p>
          <a:p>
            <a:pPr marL="285750" marR="0" lvl="0" indent="-285750" algn="l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Vulnerabilities of energy infrastructure to floods, cyclones, and earthquakes was assessed.</a:t>
            </a:r>
          </a:p>
          <a:p>
            <a:pPr marL="285750" marR="0" lvl="0" indent="-285750" algn="l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The Hazard Assessment Provided critical insights for risk mitigation and infrastructure resilience planning.</a:t>
            </a:r>
            <a:endParaRPr kumimoji="0" lang="en-GB" sz="1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0769620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227">
          <a:extLst>
            <a:ext uri="{FF2B5EF4-FFF2-40B4-BE49-F238E27FC236}">
              <a16:creationId xmlns:a16="http://schemas.microsoft.com/office/drawing/2014/main" id="{CF8BF184-4F1A-0949-E4CA-95D053859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867;p57">
            <a:extLst>
              <a:ext uri="{FF2B5EF4-FFF2-40B4-BE49-F238E27FC236}">
                <a16:creationId xmlns:a16="http://schemas.microsoft.com/office/drawing/2014/main" id="{6B6227C7-F9C7-5C16-F9AB-55948B90FA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7825" y="1346390"/>
            <a:ext cx="3849600" cy="97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7" name="Google Shape;868;p57">
            <a:extLst>
              <a:ext uri="{FF2B5EF4-FFF2-40B4-BE49-F238E27FC236}">
                <a16:creationId xmlns:a16="http://schemas.microsoft.com/office/drawing/2014/main" id="{DB17B045-503C-49B5-5C09-BB891C4AEC6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7825" y="2441243"/>
            <a:ext cx="3849600" cy="101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Do you have any questions?</a:t>
            </a:r>
            <a:endParaRPr b="1" dirty="0"/>
          </a:p>
        </p:txBody>
      </p:sp>
      <p:cxnSp>
        <p:nvCxnSpPr>
          <p:cNvPr id="8" name="Google Shape;869;p57">
            <a:extLst>
              <a:ext uri="{FF2B5EF4-FFF2-40B4-BE49-F238E27FC236}">
                <a16:creationId xmlns:a16="http://schemas.microsoft.com/office/drawing/2014/main" id="{72DF1609-7AF3-0986-ED02-0A53C93A8E54}"/>
              </a:ext>
            </a:extLst>
          </p:cNvPr>
          <p:cNvCxnSpPr/>
          <p:nvPr/>
        </p:nvCxnSpPr>
        <p:spPr>
          <a:xfrm>
            <a:off x="822725" y="2343000"/>
            <a:ext cx="2796900" cy="0"/>
          </a:xfrm>
          <a:prstGeom prst="straightConnector1">
            <a:avLst/>
          </a:prstGeom>
          <a:noFill/>
          <a:ln w="19050" cap="rnd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3C0608DC-413D-D0D4-EC8D-D5BDA07BFD14}"/>
              </a:ext>
            </a:extLst>
          </p:cNvPr>
          <p:cNvSpPr txBox="1"/>
          <p:nvPr/>
        </p:nvSpPr>
        <p:spPr>
          <a:xfrm>
            <a:off x="4347992" y="4783684"/>
            <a:ext cx="4480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31</a:t>
            </a:r>
            <a:endParaRPr lang="en-GB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34107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Geopolitic Conference by Slidesgo">
  <a:themeElements>
    <a:clrScheme name="Simple Light">
      <a:dk1>
        <a:srgbClr val="092E4B"/>
      </a:dk1>
      <a:lt1>
        <a:srgbClr val="FFFFFF"/>
      </a:lt1>
      <a:dk2>
        <a:srgbClr val="52A9D4"/>
      </a:dk2>
      <a:lt2>
        <a:srgbClr val="06BB8A"/>
      </a:lt2>
      <a:accent1>
        <a:srgbClr val="577D90"/>
      </a:accent1>
      <a:accent2>
        <a:srgbClr val="CFCFCF"/>
      </a:accent2>
      <a:accent3>
        <a:srgbClr val="979797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B14674E-A938-4936-877E-1B00CCEAD763}">
  <we:reference id="wa200005566" version="3.0.0.2" store="en-US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1064</TotalTime>
  <Words>1169</Words>
  <Application>Microsoft Office PowerPoint</Application>
  <PresentationFormat>On-screen Show (16:9)</PresentationFormat>
  <Paragraphs>365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8" baseType="lpstr">
      <vt:lpstr>Times New Roman</vt:lpstr>
      <vt:lpstr>Lato</vt:lpstr>
      <vt:lpstr>Fredoka One</vt:lpstr>
      <vt:lpstr>Helvetica</vt:lpstr>
      <vt:lpstr>Calibri</vt:lpstr>
      <vt:lpstr>Outfit Black</vt:lpstr>
      <vt:lpstr>Arial</vt:lpstr>
      <vt:lpstr>Geopolitic Conference by Slidesgo</vt:lpstr>
      <vt:lpstr>Digitization and Hazard Assessment of Energy Sector Infrastructure Data</vt:lpstr>
      <vt:lpstr>Outlines</vt:lpstr>
      <vt:lpstr>Introduction</vt:lpstr>
      <vt:lpstr>Types of Energy Infrastructure Data</vt:lpstr>
      <vt:lpstr>Objectives</vt:lpstr>
      <vt:lpstr>Objectives</vt:lpstr>
      <vt:lpstr>SCOPE OF WORK</vt:lpstr>
      <vt:lpstr>Scope of Work</vt:lpstr>
      <vt:lpstr>METHODOLOGY</vt:lpstr>
      <vt:lpstr>METHODOLOGY</vt:lpstr>
      <vt:lpstr>DATA SOURCES</vt:lpstr>
      <vt:lpstr>Primary Data Source </vt:lpstr>
      <vt:lpstr>PrimaryData Sources</vt:lpstr>
      <vt:lpstr>Data Sources</vt:lpstr>
      <vt:lpstr>Data Collection</vt:lpstr>
      <vt:lpstr>RESULTS AND DISCUSSION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PowerPoint Presentation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Muhammad Taimoor Ashfaq</dc:creator>
  <cp:lastModifiedBy>Muhammad Taimoor Ashfaq</cp:lastModifiedBy>
  <cp:revision>56</cp:revision>
  <dcterms:modified xsi:type="dcterms:W3CDTF">2025-08-08T06:27:12Z</dcterms:modified>
</cp:coreProperties>
</file>