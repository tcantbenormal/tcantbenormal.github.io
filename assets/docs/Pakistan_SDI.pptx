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7" r:id="rId1"/>
  </p:sldMasterIdLst>
  <p:notesMasterIdLst>
    <p:notesMasterId r:id="rId29"/>
  </p:notesMasterIdLst>
  <p:handoutMasterIdLst>
    <p:handoutMasterId r:id="rId30"/>
  </p:handoutMasterIdLst>
  <p:sldIdLst>
    <p:sldId id="256" r:id="rId2"/>
    <p:sldId id="331" r:id="rId3"/>
    <p:sldId id="257" r:id="rId4"/>
    <p:sldId id="258" r:id="rId5"/>
    <p:sldId id="304" r:id="rId6"/>
    <p:sldId id="261" r:id="rId7"/>
    <p:sldId id="274" r:id="rId8"/>
    <p:sldId id="267" r:id="rId9"/>
    <p:sldId id="263" r:id="rId10"/>
    <p:sldId id="310" r:id="rId11"/>
    <p:sldId id="309" r:id="rId12"/>
    <p:sldId id="332" r:id="rId13"/>
    <p:sldId id="314" r:id="rId14"/>
    <p:sldId id="333" r:id="rId15"/>
    <p:sldId id="320" r:id="rId16"/>
    <p:sldId id="336" r:id="rId17"/>
    <p:sldId id="337" r:id="rId18"/>
    <p:sldId id="338" r:id="rId19"/>
    <p:sldId id="339" r:id="rId20"/>
    <p:sldId id="340" r:id="rId21"/>
    <p:sldId id="341" r:id="rId22"/>
    <p:sldId id="334" r:id="rId23"/>
    <p:sldId id="342" r:id="rId24"/>
    <p:sldId id="335" r:id="rId25"/>
    <p:sldId id="328" r:id="rId26"/>
    <p:sldId id="330" r:id="rId27"/>
    <p:sldId id="329" r:id="rId28"/>
  </p:sldIdLst>
  <p:sldSz cx="9144000" cy="5143500" type="screen16x9"/>
  <p:notesSz cx="6858000" cy="9144000"/>
  <p:embeddedFontLst>
    <p:embeddedFont>
      <p:font typeface="Fredoka One" panose="02000000000000000000" pitchFamily="2" charset="0"/>
      <p:regular r:id="rId31"/>
    </p:embeddedFont>
    <p:embeddedFont>
      <p:font typeface="Helvetica" pitchFamily="2" charset="0"/>
      <p:regular r:id="rId32"/>
      <p:bold r:id="rId33"/>
      <p:italic r:id="rId34"/>
      <p:boldItalic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Outfit Black" panose="020B0604020202020204" charset="0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CA08"/>
    <a:srgbClr val="FF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1E47AA-F55D-4114-B140-3033E189EDB9}">
  <a:tblStyle styleId="{EA1E47AA-F55D-4114-B140-3033E189ED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6F1D21-6152-A572-0AF8-BC98F755B0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D8630-B4D2-0D24-C685-0A309B9BFD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4176A-A769-4BAF-B8F0-ED2AFEFC0A51}" type="datetimeFigureOut">
              <a:rPr lang="en-GB" smtClean="0"/>
              <a:t>29/01/2025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6F5749-C9D8-1B91-397A-5C6B832217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933E4-AEA3-FE40-7804-BC00A009D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2C507-2719-40ED-A1A2-10CEBDEFFB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59650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FB6A9278-CD23-30A9-B602-096AA83C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>
            <a:extLst>
              <a:ext uri="{FF2B5EF4-FFF2-40B4-BE49-F238E27FC236}">
                <a16:creationId xmlns:a16="http://schemas.microsoft.com/office/drawing/2014/main" id="{E11FEC99-4C1E-CCC7-25DA-0701C770F6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>
            <a:extLst>
              <a:ext uri="{FF2B5EF4-FFF2-40B4-BE49-F238E27FC236}">
                <a16:creationId xmlns:a16="http://schemas.microsoft.com/office/drawing/2014/main" id="{C75D8B23-1A04-5B26-F19F-A1E3910A0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0428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5cf8b5f36_0_6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5cf8b5f36_0_6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e1b4d88e7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e1b4d88e7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5EBD2307-02A4-2D5F-33A6-05CFEBBC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e1b4d88e7e_0_499:notes">
            <a:extLst>
              <a:ext uri="{FF2B5EF4-FFF2-40B4-BE49-F238E27FC236}">
                <a16:creationId xmlns:a16="http://schemas.microsoft.com/office/drawing/2014/main" id="{AD4DC258-5056-C6C8-5570-963A57453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e1b4d88e7e_0_499:notes">
            <a:extLst>
              <a:ext uri="{FF2B5EF4-FFF2-40B4-BE49-F238E27FC236}">
                <a16:creationId xmlns:a16="http://schemas.microsoft.com/office/drawing/2014/main" id="{C2D5F157-9D81-A9A9-BF3A-C7322CE2F5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5733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1e1b4d88e7e_1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1e1b4d88e7e_1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e1b4d88e7e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e1b4d88e7e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e1b4d88e7e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e1b4d88e7e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E0E1DC23-F1A4-DCBF-C65F-9DCAA38C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>
            <a:extLst>
              <a:ext uri="{FF2B5EF4-FFF2-40B4-BE49-F238E27FC236}">
                <a16:creationId xmlns:a16="http://schemas.microsoft.com/office/drawing/2014/main" id="{7D74436E-486C-F043-FB82-50AB394A2F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>
            <a:extLst>
              <a:ext uri="{FF2B5EF4-FFF2-40B4-BE49-F238E27FC236}">
                <a16:creationId xmlns:a16="http://schemas.microsoft.com/office/drawing/2014/main" id="{CA190362-D769-D0DB-D92A-18078CB361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2975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488CA179-C35D-E074-B7CC-5D9577FEC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e1b4d88e7e_0_4322:notes">
            <a:extLst>
              <a:ext uri="{FF2B5EF4-FFF2-40B4-BE49-F238E27FC236}">
                <a16:creationId xmlns:a16="http://schemas.microsoft.com/office/drawing/2014/main" id="{032287E0-7493-26FB-B6A4-2F6E95949F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e1b4d88e7e_0_4322:notes">
            <a:extLst>
              <a:ext uri="{FF2B5EF4-FFF2-40B4-BE49-F238E27FC236}">
                <a16:creationId xmlns:a16="http://schemas.microsoft.com/office/drawing/2014/main" id="{3908E1BD-C0C9-2705-09D0-5E4835B38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902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8896E33E-0913-4D3F-EBAB-0ABC4E9C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>
            <a:extLst>
              <a:ext uri="{FF2B5EF4-FFF2-40B4-BE49-F238E27FC236}">
                <a16:creationId xmlns:a16="http://schemas.microsoft.com/office/drawing/2014/main" id="{3179E6D8-50DD-C329-B3B4-AFFE1D83F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>
            <a:extLst>
              <a:ext uri="{FF2B5EF4-FFF2-40B4-BE49-F238E27FC236}">
                <a16:creationId xmlns:a16="http://schemas.microsoft.com/office/drawing/2014/main" id="{CB6A1666-0E2E-39E0-6256-0B9EAF20E9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5877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89D26400-9003-63D2-D1BF-CDB8B3B50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e1b4d88e7e_0_443:notes">
            <a:extLst>
              <a:ext uri="{FF2B5EF4-FFF2-40B4-BE49-F238E27FC236}">
                <a16:creationId xmlns:a16="http://schemas.microsoft.com/office/drawing/2014/main" id="{E2662FC8-E313-B830-7FD4-236EFCBB3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e1b4d88e7e_0_443:notes">
            <a:extLst>
              <a:ext uri="{FF2B5EF4-FFF2-40B4-BE49-F238E27FC236}">
                <a16:creationId xmlns:a16="http://schemas.microsoft.com/office/drawing/2014/main" id="{5F885FCE-1283-EF52-2E98-AE2CDE57E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76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BD3922A2-9A65-710D-09B0-6C18D84A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24BFD0A8-2A5F-C07D-257E-BC7172FD3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3CDE2EB8-2C59-2717-A3AD-4742D7102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4105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5C973C25-D6C3-1FE6-D00D-A10B042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>
            <a:extLst>
              <a:ext uri="{FF2B5EF4-FFF2-40B4-BE49-F238E27FC236}">
                <a16:creationId xmlns:a16="http://schemas.microsoft.com/office/drawing/2014/main" id="{3B5AF1EB-0994-0A96-23A9-68F1F72EE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>
            <a:extLst>
              <a:ext uri="{FF2B5EF4-FFF2-40B4-BE49-F238E27FC236}">
                <a16:creationId xmlns:a16="http://schemas.microsoft.com/office/drawing/2014/main" id="{7A930341-E7D9-B04F-348D-0846FCD3AC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946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4D8C8CEC-0CEC-A94F-EBA2-20CCADD9D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50E0E3EF-2E6A-C2AC-57DE-DD8ECA52D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EED63C87-2F9F-26B4-8A1B-05F593C62B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0127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17FB61A9-EEBB-41B0-3053-8DC8A7A2A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1D7D4517-3271-6219-49F5-B4865CB59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1548CEFA-3819-2F4C-364D-22703068DB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37353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8F9FDBF0-4A85-D551-9080-A5BD31132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1B52E3E0-32B7-502F-6D91-8A269BDE9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E2D96CB4-8286-4495-C413-FE050BCA5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6248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0C142CCC-0A69-4A15-BF35-AFF1BA41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>
            <a:extLst>
              <a:ext uri="{FF2B5EF4-FFF2-40B4-BE49-F238E27FC236}">
                <a16:creationId xmlns:a16="http://schemas.microsoft.com/office/drawing/2014/main" id="{E22B7D9E-187B-0622-2DB8-7FCB05E391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>
            <a:extLst>
              <a:ext uri="{FF2B5EF4-FFF2-40B4-BE49-F238E27FC236}">
                <a16:creationId xmlns:a16="http://schemas.microsoft.com/office/drawing/2014/main" id="{5322A8AF-9E87-7A4B-3ECC-344B37A601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69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>
          <a:extLst>
            <a:ext uri="{FF2B5EF4-FFF2-40B4-BE49-F238E27FC236}">
              <a16:creationId xmlns:a16="http://schemas.microsoft.com/office/drawing/2014/main" id="{8DED04E2-0066-C355-016F-136F8B0D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e1b4d88e7e_1_476:notes">
            <a:extLst>
              <a:ext uri="{FF2B5EF4-FFF2-40B4-BE49-F238E27FC236}">
                <a16:creationId xmlns:a16="http://schemas.microsoft.com/office/drawing/2014/main" id="{A995DDFE-92C0-D55E-8CA1-BC082D3BC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e1b4d88e7e_1_476:notes">
            <a:extLst>
              <a:ext uri="{FF2B5EF4-FFF2-40B4-BE49-F238E27FC236}">
                <a16:creationId xmlns:a16="http://schemas.microsoft.com/office/drawing/2014/main" id="{BD93158C-97EF-ACD1-63C7-7EAAC6A6B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19689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5205B559-2CDE-4358-8FF2-5EE9245A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77b642fd3_0_223:notes">
            <a:extLst>
              <a:ext uri="{FF2B5EF4-FFF2-40B4-BE49-F238E27FC236}">
                <a16:creationId xmlns:a16="http://schemas.microsoft.com/office/drawing/2014/main" id="{F979548E-26F4-9880-F329-9F2D7460A7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77b642fd3_0_223:notes">
            <a:extLst>
              <a:ext uri="{FF2B5EF4-FFF2-40B4-BE49-F238E27FC236}">
                <a16:creationId xmlns:a16="http://schemas.microsoft.com/office/drawing/2014/main" id="{396918A4-2989-601F-538D-3453D5C57B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87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2375" y="1437489"/>
            <a:ext cx="5493900" cy="18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2375" y="3620525"/>
            <a:ext cx="27372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72984" y="-841973"/>
            <a:ext cx="6315055" cy="6830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l="64606"/>
          <a:stretch/>
        </p:blipFill>
        <p:spPr>
          <a:xfrm>
            <a:off x="5907622" y="0"/>
            <a:ext cx="3236398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2375" y="2135225"/>
            <a:ext cx="4845900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None/>
              <a:defRPr sz="5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827275" y="699912"/>
            <a:ext cx="1313100" cy="1316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22375" y="4172050"/>
            <a:ext cx="48459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1714950" y="1460850"/>
            <a:ext cx="5714100" cy="222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8"/>
          <p:cNvPicPr preferRelativeResize="0"/>
          <p:nvPr/>
        </p:nvPicPr>
        <p:blipFill rotWithShape="1">
          <a:blip r:embed="rId2">
            <a:alphaModFix/>
          </a:blip>
          <a:srcRect l="82300"/>
          <a:stretch/>
        </p:blipFill>
        <p:spPr>
          <a:xfrm flipH="1">
            <a:off x="2" y="0"/>
            <a:ext cx="161847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20400" y="2500924"/>
            <a:ext cx="4903200" cy="12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120400" y="1365548"/>
            <a:ext cx="4903200" cy="95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sz="5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>
                <a:highlight>
                  <a:schemeClr val="dk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highlight>
                  <a:schemeClr val="dk1"/>
                </a:highlight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8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468050" y="1667365"/>
            <a:ext cx="6207900" cy="125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 flipH="1">
            <a:off x="1468050" y="2982191"/>
            <a:ext cx="62079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8">
    <p:bg>
      <p:bgPr>
        <a:solidFill>
          <a:schemeClr val="accent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722375" y="3296399"/>
            <a:ext cx="40539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1"/>
          </p:nvPr>
        </p:nvSpPr>
        <p:spPr>
          <a:xfrm>
            <a:off x="722375" y="1335650"/>
            <a:ext cx="4053900" cy="15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l="54174"/>
          <a:stretch/>
        </p:blipFill>
        <p:spPr>
          <a:xfrm>
            <a:off x="4953777" y="0"/>
            <a:ext cx="419022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2_1">
    <p:bg>
      <p:bgPr>
        <a:solidFill>
          <a:schemeClr val="accent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/>
          <p:cNvPicPr preferRelativeResize="0"/>
          <p:nvPr/>
        </p:nvPicPr>
        <p:blipFill rotWithShape="1">
          <a:blip r:embed="rId2">
            <a:alphaModFix/>
          </a:blip>
          <a:srcRect r="49786"/>
          <a:stretch/>
        </p:blipFill>
        <p:spPr>
          <a:xfrm>
            <a:off x="-704650" y="0"/>
            <a:ext cx="4591575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 flipH="1">
            <a:off x="3777975" y="2359875"/>
            <a:ext cx="46482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sz="5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008175" y="953562"/>
            <a:ext cx="1313100" cy="1316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 flipH="1">
            <a:off x="5637675" y="3663700"/>
            <a:ext cx="27885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6"/>
          <p:cNvPicPr preferRelativeResize="0"/>
          <p:nvPr/>
        </p:nvPicPr>
        <p:blipFill rotWithShape="1">
          <a:blip r:embed="rId2">
            <a:alphaModFix/>
          </a:blip>
          <a:srcRect l="69491"/>
          <a:stretch/>
        </p:blipFill>
        <p:spPr>
          <a:xfrm>
            <a:off x="6354352" y="0"/>
            <a:ext cx="278965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4153225" y="1250800"/>
            <a:ext cx="4268400" cy="3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4153225" y="463800"/>
            <a:ext cx="42684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>
            <a:spLocks noGrp="1"/>
          </p:cNvSpPr>
          <p:nvPr>
            <p:ph type="pic" idx="2"/>
          </p:nvPr>
        </p:nvSpPr>
        <p:spPr>
          <a:xfrm>
            <a:off x="827275" y="640325"/>
            <a:ext cx="3054000" cy="381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_1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subTitle" idx="1"/>
          </p:nvPr>
        </p:nvSpPr>
        <p:spPr>
          <a:xfrm>
            <a:off x="5668750" y="2440017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ubTitle" idx="2"/>
          </p:nvPr>
        </p:nvSpPr>
        <p:spPr>
          <a:xfrm>
            <a:off x="5668750" y="2812993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3"/>
          </p:nvPr>
        </p:nvSpPr>
        <p:spPr>
          <a:xfrm>
            <a:off x="5668750" y="1316200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4"/>
          </p:nvPr>
        </p:nvSpPr>
        <p:spPr>
          <a:xfrm>
            <a:off x="5668750" y="1689164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ubTitle" idx="5"/>
          </p:nvPr>
        </p:nvSpPr>
        <p:spPr>
          <a:xfrm>
            <a:off x="5668750" y="3563835"/>
            <a:ext cx="26481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ubTitle" idx="6"/>
          </p:nvPr>
        </p:nvSpPr>
        <p:spPr>
          <a:xfrm>
            <a:off x="5668750" y="3936800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Font typeface="Fredoka One"/>
              <a:buNone/>
              <a:defRPr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ubTitle" idx="7"/>
          </p:nvPr>
        </p:nvSpPr>
        <p:spPr>
          <a:xfrm>
            <a:off x="1739500" y="1316200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subTitle" idx="8"/>
          </p:nvPr>
        </p:nvSpPr>
        <p:spPr>
          <a:xfrm>
            <a:off x="1739500" y="1689164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9"/>
          </p:nvPr>
        </p:nvSpPr>
        <p:spPr>
          <a:xfrm>
            <a:off x="1739500" y="2440017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13"/>
          </p:nvPr>
        </p:nvSpPr>
        <p:spPr>
          <a:xfrm>
            <a:off x="1739500" y="2812993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14"/>
          </p:nvPr>
        </p:nvSpPr>
        <p:spPr>
          <a:xfrm>
            <a:off x="1739500" y="3563835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15"/>
          </p:nvPr>
        </p:nvSpPr>
        <p:spPr>
          <a:xfrm>
            <a:off x="1739500" y="3936800"/>
            <a:ext cx="2648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2">
            <a:alphaModFix/>
          </a:blip>
          <a:srcRect l="79527" b="21826"/>
          <a:stretch/>
        </p:blipFill>
        <p:spPr>
          <a:xfrm>
            <a:off x="7452325" y="-249675"/>
            <a:ext cx="1872026" cy="402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7"/>
          <p:cNvPicPr preferRelativeResize="0"/>
          <p:nvPr/>
        </p:nvPicPr>
        <p:blipFill rotWithShape="1">
          <a:blip r:embed="rId2">
            <a:alphaModFix/>
          </a:blip>
          <a:srcRect t="36366" r="60971"/>
          <a:stretch/>
        </p:blipFill>
        <p:spPr>
          <a:xfrm>
            <a:off x="0" y="1870550"/>
            <a:ext cx="3568748" cy="32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bg>
      <p:bgPr>
        <a:solidFill>
          <a:schemeClr val="accen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Black"/>
              <a:buNone/>
              <a:defRPr sz="2600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D54128-512B-A998-B909-03BF8B86B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1</a:t>
            </a:r>
            <a:endParaRPr lang="en-GB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9" r:id="rId8"/>
    <p:sldLayoutId id="2147483660" r:id="rId9"/>
    <p:sldLayoutId id="2147483662" r:id="rId10"/>
    <p:sldLayoutId id="2147483668" r:id="rId11"/>
    <p:sldLayoutId id="2147483673" r:id="rId12"/>
    <p:sldLayoutId id="2147483674" r:id="rId13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>
            <a:spLocks noGrp="1"/>
          </p:cNvSpPr>
          <p:nvPr>
            <p:ph type="ctrTitle"/>
          </p:nvPr>
        </p:nvSpPr>
        <p:spPr>
          <a:xfrm>
            <a:off x="371708" y="1152290"/>
            <a:ext cx="6276599" cy="23163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j-lt"/>
              </a:rPr>
              <a:t>Developing a National SDI for Pakistan: A Case Study on Road Network Digitization</a:t>
            </a:r>
          </a:p>
        </p:txBody>
      </p:sp>
      <p:cxnSp>
        <p:nvCxnSpPr>
          <p:cNvPr id="163" name="Google Shape;163;p32"/>
          <p:cNvCxnSpPr/>
          <p:nvPr/>
        </p:nvCxnSpPr>
        <p:spPr>
          <a:xfrm>
            <a:off x="485305" y="3503239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7006EA3-BD9C-DC80-43E2-51F02C0D6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305" y="3620525"/>
            <a:ext cx="2737200" cy="639300"/>
          </a:xfrm>
        </p:spPr>
        <p:txBody>
          <a:bodyPr/>
          <a:lstStyle/>
          <a:p>
            <a:r>
              <a:rPr lang="en-US" dirty="0"/>
              <a:t>RSG-601</a:t>
            </a:r>
          </a:p>
          <a:p>
            <a:r>
              <a:rPr lang="en-US" dirty="0"/>
              <a:t>Spatial Data Infrastructure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829E3656-E212-28B6-0AAA-E089847C6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>
            <a:extLst>
              <a:ext uri="{FF2B5EF4-FFF2-40B4-BE49-F238E27FC236}">
                <a16:creationId xmlns:a16="http://schemas.microsoft.com/office/drawing/2014/main" id="{7FF40144-C2B0-637A-D7FC-0606DF8854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381" y="357507"/>
            <a:ext cx="3567743" cy="7599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tx1"/>
                </a:solidFill>
              </a:rPr>
              <a:t>Presented By: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230" name="Google Shape;230;p37">
            <a:extLst>
              <a:ext uri="{FF2B5EF4-FFF2-40B4-BE49-F238E27FC236}">
                <a16:creationId xmlns:a16="http://schemas.microsoft.com/office/drawing/2014/main" id="{40286BDA-1820-168D-9BF5-CB8D33D60B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6119" y="1195090"/>
            <a:ext cx="5217508" cy="1665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Taimoor Ashfaq		(21-ARID-1032)</a:t>
            </a:r>
          </a:p>
          <a:p>
            <a:pPr marL="0" indent="0"/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Syeda Rosheen Raza Kazmi	(21-ARID-1041)</a:t>
            </a:r>
          </a:p>
          <a:p>
            <a:pPr marL="0" indent="0"/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Daniyal Mansoor		(21-ARID-1025)</a:t>
            </a:r>
          </a:p>
          <a:p>
            <a:pPr marL="0" indent="0"/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Haiqa Noor		(21-ARID-1014)</a:t>
            </a:r>
          </a:p>
          <a:p>
            <a:pPr marL="0" indent="0"/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Wajahat Hussain		(21-ARID-1044)</a:t>
            </a:r>
          </a:p>
          <a:p>
            <a:pPr marL="0" indent="0"/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RizwanUllah Khan		(21-ARID-1037)</a:t>
            </a:r>
          </a:p>
        </p:txBody>
      </p:sp>
      <p:cxnSp>
        <p:nvCxnSpPr>
          <p:cNvPr id="231" name="Google Shape;231;p37">
            <a:extLst>
              <a:ext uri="{FF2B5EF4-FFF2-40B4-BE49-F238E27FC236}">
                <a16:creationId xmlns:a16="http://schemas.microsoft.com/office/drawing/2014/main" id="{CC5F66A3-408B-9436-8C7F-D026F40ADF61}"/>
              </a:ext>
            </a:extLst>
          </p:cNvPr>
          <p:cNvCxnSpPr>
            <a:cxnSpLocks/>
          </p:cNvCxnSpPr>
          <p:nvPr/>
        </p:nvCxnSpPr>
        <p:spPr>
          <a:xfrm>
            <a:off x="263509" y="1000607"/>
            <a:ext cx="2025929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55BEBAA-2B7F-1CCE-8C1E-0E83961E57C2}"/>
              </a:ext>
            </a:extLst>
          </p:cNvPr>
          <p:cNvSpPr txBox="1"/>
          <p:nvPr/>
        </p:nvSpPr>
        <p:spPr>
          <a:xfrm>
            <a:off x="4421351" y="4842597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  <a:endParaRPr lang="en-GB" dirty="0"/>
          </a:p>
        </p:txBody>
      </p:sp>
      <p:sp>
        <p:nvSpPr>
          <p:cNvPr id="6" name="Google Shape;228;p37">
            <a:extLst>
              <a:ext uri="{FF2B5EF4-FFF2-40B4-BE49-F238E27FC236}">
                <a16:creationId xmlns:a16="http://schemas.microsoft.com/office/drawing/2014/main" id="{F7D76CB0-C7D6-3DD2-E2AE-5491151197D2}"/>
              </a:ext>
            </a:extLst>
          </p:cNvPr>
          <p:cNvSpPr txBox="1">
            <a:spLocks/>
          </p:cNvSpPr>
          <p:nvPr/>
        </p:nvSpPr>
        <p:spPr>
          <a:xfrm>
            <a:off x="199380" y="3088103"/>
            <a:ext cx="3567743" cy="7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Outfit Black"/>
              <a:buNone/>
              <a:defRPr sz="50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 Black"/>
              <a:buNone/>
              <a:defRPr sz="50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 Black"/>
              <a:buNone/>
              <a:defRPr sz="50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 Black"/>
              <a:buNone/>
              <a:defRPr sz="50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 Black"/>
              <a:buNone/>
              <a:defRPr sz="50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 Black"/>
              <a:buNone/>
              <a:defRPr sz="50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 Black"/>
              <a:buNone/>
              <a:defRPr sz="50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 Black"/>
              <a:buNone/>
              <a:defRPr sz="50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utfit Black"/>
              <a:buNone/>
              <a:defRPr sz="50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9pPr>
          </a:lstStyle>
          <a:p>
            <a:r>
              <a:rPr lang="en-GB" sz="2800" dirty="0">
                <a:solidFill>
                  <a:schemeClr val="tx1"/>
                </a:solidFill>
              </a:rPr>
              <a:t>Presented To:</a:t>
            </a:r>
          </a:p>
        </p:txBody>
      </p:sp>
      <p:cxnSp>
        <p:nvCxnSpPr>
          <p:cNvPr id="7" name="Google Shape;231;p37">
            <a:extLst>
              <a:ext uri="{FF2B5EF4-FFF2-40B4-BE49-F238E27FC236}">
                <a16:creationId xmlns:a16="http://schemas.microsoft.com/office/drawing/2014/main" id="{70F5173D-0701-35E4-42F1-ED057B518C84}"/>
              </a:ext>
            </a:extLst>
          </p:cNvPr>
          <p:cNvCxnSpPr>
            <a:cxnSpLocks/>
          </p:cNvCxnSpPr>
          <p:nvPr/>
        </p:nvCxnSpPr>
        <p:spPr>
          <a:xfrm>
            <a:off x="263510" y="3731201"/>
            <a:ext cx="229406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230;p37">
            <a:extLst>
              <a:ext uri="{FF2B5EF4-FFF2-40B4-BE49-F238E27FC236}">
                <a16:creationId xmlns:a16="http://schemas.microsoft.com/office/drawing/2014/main" id="{45E8896D-BB33-A5A4-5862-FA3A9C956069}"/>
              </a:ext>
            </a:extLst>
          </p:cNvPr>
          <p:cNvSpPr txBox="1">
            <a:spLocks/>
          </p:cNvSpPr>
          <p:nvPr/>
        </p:nvSpPr>
        <p:spPr>
          <a:xfrm>
            <a:off x="516119" y="3749802"/>
            <a:ext cx="5217508" cy="41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Abdul Basit</a:t>
            </a:r>
          </a:p>
        </p:txBody>
      </p:sp>
    </p:spTree>
    <p:extLst>
      <p:ext uri="{BB962C8B-B14F-4D97-AF65-F5344CB8AC3E}">
        <p14:creationId xmlns:p14="http://schemas.microsoft.com/office/powerpoint/2010/main" val="1203367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Outlines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69" name="Google Shape;169;p33"/>
          <p:cNvSpPr txBox="1"/>
          <p:nvPr/>
        </p:nvSpPr>
        <p:spPr>
          <a:xfrm>
            <a:off x="720000" y="1245049"/>
            <a:ext cx="77040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Key Points and Framework for Understanding the Concept</a:t>
            </a:r>
            <a:endParaRPr sz="12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72" name="Google Shape;172;p33"/>
          <p:cNvGraphicFramePr/>
          <p:nvPr>
            <p:extLst>
              <p:ext uri="{D42A27DB-BD31-4B8C-83A1-F6EECF244321}">
                <p14:modId xmlns:p14="http://schemas.microsoft.com/office/powerpoint/2010/main" val="784025504"/>
              </p:ext>
            </p:extLst>
          </p:nvPr>
        </p:nvGraphicFramePr>
        <p:xfrm>
          <a:off x="827275" y="1806400"/>
          <a:ext cx="7489450" cy="2453500"/>
        </p:xfrm>
        <a:graphic>
          <a:graphicData uri="http://schemas.openxmlformats.org/drawingml/2006/table">
            <a:tbl>
              <a:tblPr>
                <a:noFill/>
                <a:tableStyleId>{EA1E47AA-F55D-4114-B140-3033E189EDB9}</a:tableStyleId>
              </a:tblPr>
              <a:tblGrid>
                <a:gridCol w="238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Introduction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What is an SDI? Importance of SDI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Rationale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Pakistan’s Need for an SDI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Case Study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Road Network Distribution of Pakistan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Objectives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Intended Outcomes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044876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Methodology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Standardization, Attribute Enrichment, Spatial Adjustment, Validation. Integration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Lato"/>
                          <a:ea typeface="Lato"/>
                          <a:cs typeface="Lato"/>
                          <a:sym typeface="Lato"/>
                        </a:rPr>
                        <a:t>Results and Discussion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Unveiling Insights: What the Data Tells Us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Conclusion</a:t>
                      </a:r>
                      <a:endParaRPr sz="10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Way Forward!</a:t>
                      </a:r>
                      <a:endParaRPr sz="1000" dirty="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64000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73" name="Google Shape;173;p33"/>
          <p:cNvCxnSpPr/>
          <p:nvPr/>
        </p:nvCxnSpPr>
        <p:spPr>
          <a:xfrm>
            <a:off x="825075" y="1095888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Bar dir="vert"/>
      </p:transition>
    </mc:Choice>
    <mc:Fallback xmlns="">
      <p:transition spd="slow">
        <p:randomBar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>
            <a:spLocks noGrp="1"/>
          </p:cNvSpPr>
          <p:nvPr>
            <p:ph type="subTitle" idx="1"/>
          </p:nvPr>
        </p:nvSpPr>
        <p:spPr>
          <a:xfrm>
            <a:off x="1449072" y="2570988"/>
            <a:ext cx="6245856" cy="1555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“Spatial Data Infrastructure is defined as a framework of policies, institutional arrangements, technologies, data, and people that enables the sharing and effective usage of geographic information by standardizing formats and protocols for access and interoperability</a:t>
            </a:r>
            <a:r>
              <a:rPr lang="en-US" sz="1800" dirty="0"/>
              <a:t>.</a:t>
            </a:r>
            <a:r>
              <a:rPr lang="en-US" sz="1800" b="1" dirty="0"/>
              <a:t>”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 -World Bank</a:t>
            </a:r>
          </a:p>
        </p:txBody>
      </p:sp>
      <p:sp>
        <p:nvSpPr>
          <p:cNvPr id="179" name="Google Shape;179;p34"/>
          <p:cNvSpPr txBox="1">
            <a:spLocks noGrp="1"/>
          </p:cNvSpPr>
          <p:nvPr>
            <p:ph type="title"/>
          </p:nvPr>
        </p:nvSpPr>
        <p:spPr>
          <a:xfrm>
            <a:off x="2497840" y="791398"/>
            <a:ext cx="4148320" cy="15551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Introduction to SDI!</a:t>
            </a:r>
            <a:endParaRPr sz="3600" dirty="0"/>
          </a:p>
        </p:txBody>
      </p:sp>
      <p:cxnSp>
        <p:nvCxnSpPr>
          <p:cNvPr id="180" name="Google Shape;180;p34"/>
          <p:cNvCxnSpPr/>
          <p:nvPr/>
        </p:nvCxnSpPr>
        <p:spPr>
          <a:xfrm>
            <a:off x="2659200" y="2377023"/>
            <a:ext cx="38256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C0A5A05-2EA1-3802-7E19-C41FFEF01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004" y="163907"/>
            <a:ext cx="950871" cy="9233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B779FC-897A-4BB4-AB44-F6EDF8266CB6}"/>
              </a:ext>
            </a:extLst>
          </p:cNvPr>
          <p:cNvSpPr txBox="1"/>
          <p:nvPr/>
        </p:nvSpPr>
        <p:spPr>
          <a:xfrm>
            <a:off x="3843454" y="4847063"/>
            <a:ext cx="401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243">
          <a:extLst>
            <a:ext uri="{FF2B5EF4-FFF2-40B4-BE49-F238E27FC236}">
              <a16:creationId xmlns:a16="http://schemas.microsoft.com/office/drawing/2014/main" id="{6EA097B0-4A27-217B-4769-5164DF9B3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>
            <a:extLst>
              <a:ext uri="{FF2B5EF4-FFF2-40B4-BE49-F238E27FC236}">
                <a16:creationId xmlns:a16="http://schemas.microsoft.com/office/drawing/2014/main" id="{AF5EC7E1-457E-80BD-AA19-49A8E66FE3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215" y="200930"/>
            <a:ext cx="40539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Importance of SDI</a:t>
            </a:r>
            <a:endParaRPr sz="2400" dirty="0"/>
          </a:p>
        </p:txBody>
      </p:sp>
      <p:cxnSp>
        <p:nvCxnSpPr>
          <p:cNvPr id="246" name="Google Shape;246;p39">
            <a:extLst>
              <a:ext uri="{FF2B5EF4-FFF2-40B4-BE49-F238E27FC236}">
                <a16:creationId xmlns:a16="http://schemas.microsoft.com/office/drawing/2014/main" id="{E5F94460-6F2D-73E2-F249-AD5F42D13649}"/>
              </a:ext>
            </a:extLst>
          </p:cNvPr>
          <p:cNvCxnSpPr>
            <a:cxnSpLocks/>
          </p:cNvCxnSpPr>
          <p:nvPr/>
        </p:nvCxnSpPr>
        <p:spPr>
          <a:xfrm>
            <a:off x="302619" y="675530"/>
            <a:ext cx="2633869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Flowchart: Manual Operation 3">
            <a:extLst>
              <a:ext uri="{FF2B5EF4-FFF2-40B4-BE49-F238E27FC236}">
                <a16:creationId xmlns:a16="http://schemas.microsoft.com/office/drawing/2014/main" id="{B1C1C44D-3571-626A-075B-9D4916016984}"/>
              </a:ext>
            </a:extLst>
          </p:cNvPr>
          <p:cNvSpPr/>
          <p:nvPr/>
        </p:nvSpPr>
        <p:spPr>
          <a:xfrm rot="16200000">
            <a:off x="-224453" y="1966455"/>
            <a:ext cx="3456878" cy="1437649"/>
          </a:xfrm>
          <a:prstGeom prst="flowChartManualOperation">
            <a:avLst/>
          </a:prstGeom>
          <a:solidFill>
            <a:srgbClr val="FF00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Manual Operation 5">
            <a:extLst>
              <a:ext uri="{FF2B5EF4-FFF2-40B4-BE49-F238E27FC236}">
                <a16:creationId xmlns:a16="http://schemas.microsoft.com/office/drawing/2014/main" id="{3B39BE9B-9FAD-6E77-0395-684BCEDD4CD2}"/>
              </a:ext>
            </a:extLst>
          </p:cNvPr>
          <p:cNvSpPr/>
          <p:nvPr/>
        </p:nvSpPr>
        <p:spPr>
          <a:xfrm rot="16200000">
            <a:off x="1446836" y="1966455"/>
            <a:ext cx="3456878" cy="1437651"/>
          </a:xfrm>
          <a:prstGeom prst="flowChartManualOperation">
            <a:avLst/>
          </a:prstGeom>
          <a:solidFill>
            <a:srgbClr val="FF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owchart: Manual Operation 15">
            <a:extLst>
              <a:ext uri="{FF2B5EF4-FFF2-40B4-BE49-F238E27FC236}">
                <a16:creationId xmlns:a16="http://schemas.microsoft.com/office/drawing/2014/main" id="{09D616FD-8ABE-F880-2727-172E8BAD7320}"/>
              </a:ext>
            </a:extLst>
          </p:cNvPr>
          <p:cNvSpPr/>
          <p:nvPr/>
        </p:nvSpPr>
        <p:spPr>
          <a:xfrm rot="16200000">
            <a:off x="3118122" y="1966454"/>
            <a:ext cx="3456878" cy="1437651"/>
          </a:xfrm>
          <a:prstGeom prst="flowChartManualOperation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20" name="Flowchart: Manual Operation 19">
            <a:extLst>
              <a:ext uri="{FF2B5EF4-FFF2-40B4-BE49-F238E27FC236}">
                <a16:creationId xmlns:a16="http://schemas.microsoft.com/office/drawing/2014/main" id="{4B361935-FB23-E7E2-D32B-0C558DEA2D81}"/>
              </a:ext>
            </a:extLst>
          </p:cNvPr>
          <p:cNvSpPr/>
          <p:nvPr/>
        </p:nvSpPr>
        <p:spPr>
          <a:xfrm rot="16200000">
            <a:off x="4888147" y="1867717"/>
            <a:ext cx="3456878" cy="1635126"/>
          </a:xfrm>
          <a:prstGeom prst="flowChartManualOperati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374C03-AA79-3D10-2A87-C62069651857}"/>
              </a:ext>
            </a:extLst>
          </p:cNvPr>
          <p:cNvSpPr txBox="1"/>
          <p:nvPr/>
        </p:nvSpPr>
        <p:spPr>
          <a:xfrm>
            <a:off x="785159" y="1883302"/>
            <a:ext cx="14376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Data 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Inter-operability</a:t>
            </a:r>
          </a:p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And Integration</a:t>
            </a:r>
            <a:endParaRPr lang="en-GB" sz="20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B2382C-DAB2-BD42-4DF1-361AA600885D}"/>
              </a:ext>
            </a:extLst>
          </p:cNvPr>
          <p:cNvSpPr txBox="1"/>
          <p:nvPr/>
        </p:nvSpPr>
        <p:spPr>
          <a:xfrm>
            <a:off x="2456447" y="1883302"/>
            <a:ext cx="14376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Assurance of quality data accessibility</a:t>
            </a:r>
            <a:endParaRPr lang="en-GB" sz="20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B89D9A-E48C-13B0-DBC3-6D159243048E}"/>
              </a:ext>
            </a:extLst>
          </p:cNvPr>
          <p:cNvSpPr txBox="1"/>
          <p:nvPr/>
        </p:nvSpPr>
        <p:spPr>
          <a:xfrm>
            <a:off x="4244664" y="2063918"/>
            <a:ext cx="12037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Informed Decision Making</a:t>
            </a:r>
            <a:endParaRPr lang="en-GB" sz="20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DF4DEF-6799-2F36-094E-8CC92066CE08}"/>
              </a:ext>
            </a:extLst>
          </p:cNvPr>
          <p:cNvSpPr txBox="1"/>
          <p:nvPr/>
        </p:nvSpPr>
        <p:spPr>
          <a:xfrm>
            <a:off x="5799019" y="2110084"/>
            <a:ext cx="15682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Effective Resource Management</a:t>
            </a:r>
            <a:endParaRPr lang="en-GB" sz="18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7FC11-086F-CD2F-90BF-5976C4A54A46}"/>
              </a:ext>
            </a:extLst>
          </p:cNvPr>
          <p:cNvSpPr txBox="1"/>
          <p:nvPr/>
        </p:nvSpPr>
        <p:spPr>
          <a:xfrm>
            <a:off x="4127735" y="4913971"/>
            <a:ext cx="29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802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>
            <a:spLocks noGrp="1"/>
          </p:cNvSpPr>
          <p:nvPr>
            <p:ph type="title"/>
          </p:nvPr>
        </p:nvSpPr>
        <p:spPr>
          <a:xfrm>
            <a:off x="722375" y="2135225"/>
            <a:ext cx="4845900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RATIONALE</a:t>
            </a:r>
            <a:endParaRPr dirty="0"/>
          </a:p>
        </p:txBody>
      </p:sp>
      <p:sp>
        <p:nvSpPr>
          <p:cNvPr id="229" name="Google Shape;229;p37"/>
          <p:cNvSpPr txBox="1">
            <a:spLocks noGrp="1"/>
          </p:cNvSpPr>
          <p:nvPr>
            <p:ph type="title" idx="2"/>
          </p:nvPr>
        </p:nvSpPr>
        <p:spPr>
          <a:xfrm>
            <a:off x="827275" y="699912"/>
            <a:ext cx="1313100" cy="1316700"/>
          </a:xfrm>
          <a:prstGeom prst="rect">
            <a:avLst/>
          </a:prstGeom>
          <a:solidFill>
            <a:schemeClr val="accent6">
              <a:lumMod val="95000"/>
            </a:scheme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30" name="Google Shape;230;p37"/>
          <p:cNvSpPr txBox="1">
            <a:spLocks noGrp="1"/>
          </p:cNvSpPr>
          <p:nvPr>
            <p:ph type="subTitle" idx="1"/>
          </p:nvPr>
        </p:nvSpPr>
        <p:spPr>
          <a:xfrm>
            <a:off x="722375" y="4172049"/>
            <a:ext cx="5217508" cy="622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Pakistan’s Need for SDI</a:t>
            </a:r>
            <a:endParaRPr dirty="0"/>
          </a:p>
        </p:txBody>
      </p:sp>
      <p:cxnSp>
        <p:nvCxnSpPr>
          <p:cNvPr id="231" name="Google Shape;231;p37"/>
          <p:cNvCxnSpPr/>
          <p:nvPr/>
        </p:nvCxnSpPr>
        <p:spPr>
          <a:xfrm>
            <a:off x="827275" y="3929438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0177687-74AD-95AB-5450-93F8BF1D6647}"/>
              </a:ext>
            </a:extLst>
          </p:cNvPr>
          <p:cNvSpPr txBox="1"/>
          <p:nvPr/>
        </p:nvSpPr>
        <p:spPr>
          <a:xfrm>
            <a:off x="4140820" y="4906537"/>
            <a:ext cx="349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5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0"/>
          <p:cNvSpPr txBox="1">
            <a:spLocks noGrp="1"/>
          </p:cNvSpPr>
          <p:nvPr>
            <p:ph type="title"/>
          </p:nvPr>
        </p:nvSpPr>
        <p:spPr>
          <a:xfrm>
            <a:off x="95532" y="58252"/>
            <a:ext cx="5094777" cy="6402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Pakistan’s Need  </a:t>
            </a:r>
            <a:r>
              <a:rPr lang="en-GB" dirty="0">
                <a:solidFill>
                  <a:schemeClr val="tx1"/>
                </a:solidFill>
              </a:rPr>
              <a:t>for</a:t>
            </a:r>
            <a:r>
              <a:rPr lang="en" dirty="0">
                <a:solidFill>
                  <a:schemeClr val="tx1"/>
                </a:solidFill>
              </a:rPr>
              <a:t> SDI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02" name="Google Shape;702;p50"/>
          <p:cNvSpPr txBox="1"/>
          <p:nvPr/>
        </p:nvSpPr>
        <p:spPr>
          <a:xfrm>
            <a:off x="2049230" y="3583790"/>
            <a:ext cx="3072897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Spatial misalignment leading to inaccurate spatial representations</a:t>
            </a:r>
            <a:endParaRPr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3" name="Google Shape;703;p50"/>
          <p:cNvSpPr txBox="1"/>
          <p:nvPr/>
        </p:nvSpPr>
        <p:spPr>
          <a:xfrm>
            <a:off x="3553121" y="1997846"/>
            <a:ext cx="3049085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Lack of standardization creating challenges for integration into different geospatial systems</a:t>
            </a:r>
            <a:endParaRPr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4" name="Google Shape;704;p50"/>
          <p:cNvSpPr txBox="1"/>
          <p:nvPr/>
        </p:nvSpPr>
        <p:spPr>
          <a:xfrm>
            <a:off x="2825626" y="2848538"/>
            <a:ext cx="2831985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Missing attribution and gaps in metadata  leading to reduced data integrity</a:t>
            </a:r>
            <a:endParaRPr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5" name="Google Shape;705;p50"/>
          <p:cNvSpPr txBox="1"/>
          <p:nvPr/>
        </p:nvSpPr>
        <p:spPr>
          <a:xfrm>
            <a:off x="4305066" y="1204874"/>
            <a:ext cx="3049085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National Spatial Datasets lacking consistency and coverage, hindering analysis and decision making</a:t>
            </a:r>
            <a:endParaRPr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6" name="Google Shape;706;p50"/>
          <p:cNvSpPr txBox="1"/>
          <p:nvPr/>
        </p:nvSpPr>
        <p:spPr>
          <a:xfrm>
            <a:off x="1293711" y="3583790"/>
            <a:ext cx="675900" cy="6759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sp>
        <p:nvSpPr>
          <p:cNvPr id="707" name="Google Shape;707;p50"/>
          <p:cNvSpPr txBox="1"/>
          <p:nvPr/>
        </p:nvSpPr>
        <p:spPr>
          <a:xfrm>
            <a:off x="2046239" y="2790809"/>
            <a:ext cx="675900" cy="6759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Outfit Black"/>
                <a:ea typeface="Outfit Black"/>
                <a:cs typeface="Outfit Black"/>
                <a:sym typeface="Outfit Black"/>
              </a:rPr>
              <a:t>02</a:t>
            </a:r>
            <a:endParaRPr sz="1900">
              <a:solidFill>
                <a:schemeClr val="dk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sp>
        <p:nvSpPr>
          <p:cNvPr id="708" name="Google Shape;708;p50"/>
          <p:cNvSpPr txBox="1"/>
          <p:nvPr/>
        </p:nvSpPr>
        <p:spPr>
          <a:xfrm>
            <a:off x="2798766" y="1997855"/>
            <a:ext cx="675900" cy="6759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Outfit Black"/>
                <a:ea typeface="Outfit Black"/>
                <a:cs typeface="Outfit Black"/>
                <a:sym typeface="Outfit Black"/>
              </a:rPr>
              <a:t>03</a:t>
            </a:r>
            <a:endParaRPr sz="1900">
              <a:solidFill>
                <a:schemeClr val="dk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sp>
        <p:nvSpPr>
          <p:cNvPr id="709" name="Google Shape;709;p50"/>
          <p:cNvSpPr txBox="1"/>
          <p:nvPr/>
        </p:nvSpPr>
        <p:spPr>
          <a:xfrm>
            <a:off x="3553121" y="1222538"/>
            <a:ext cx="675900" cy="6759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cxnSp>
        <p:nvCxnSpPr>
          <p:cNvPr id="710" name="Google Shape;710;p50"/>
          <p:cNvCxnSpPr>
            <a:stCxn id="706" idx="0"/>
            <a:endCxn id="707" idx="1"/>
          </p:cNvCxnSpPr>
          <p:nvPr/>
        </p:nvCxnSpPr>
        <p:spPr>
          <a:xfrm rot="-5400000">
            <a:off x="1611411" y="3148940"/>
            <a:ext cx="455100" cy="414600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1" name="Google Shape;711;p50"/>
          <p:cNvCxnSpPr>
            <a:stCxn id="707" idx="0"/>
            <a:endCxn id="708" idx="1"/>
          </p:cNvCxnSpPr>
          <p:nvPr/>
        </p:nvCxnSpPr>
        <p:spPr>
          <a:xfrm rot="-5400000">
            <a:off x="2363939" y="2355959"/>
            <a:ext cx="455100" cy="414600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2" name="Google Shape;712;p50"/>
          <p:cNvCxnSpPr>
            <a:stCxn id="708" idx="0"/>
            <a:endCxn id="709" idx="1"/>
          </p:cNvCxnSpPr>
          <p:nvPr/>
        </p:nvCxnSpPr>
        <p:spPr>
          <a:xfrm rot="5400000" flipH="1" flipV="1">
            <a:off x="3126235" y="1570970"/>
            <a:ext cx="437367" cy="416405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FE15E5-8D52-889D-5FA2-A65D10A6A423}"/>
              </a:ext>
            </a:extLst>
          </p:cNvPr>
          <p:cNvSpPr txBox="1"/>
          <p:nvPr/>
        </p:nvSpPr>
        <p:spPr>
          <a:xfrm>
            <a:off x="4347992" y="4783684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endParaRPr lang="en-GB" dirty="0"/>
          </a:p>
        </p:txBody>
      </p:sp>
      <p:sp>
        <p:nvSpPr>
          <p:cNvPr id="5" name="Google Shape;10110;p74">
            <a:extLst>
              <a:ext uri="{FF2B5EF4-FFF2-40B4-BE49-F238E27FC236}">
                <a16:creationId xmlns:a16="http://schemas.microsoft.com/office/drawing/2014/main" id="{7F84CC56-7F1E-48BC-382A-A937D1C00AEE}"/>
              </a:ext>
            </a:extLst>
          </p:cNvPr>
          <p:cNvSpPr/>
          <p:nvPr/>
        </p:nvSpPr>
        <p:spPr>
          <a:xfrm>
            <a:off x="3632478" y="1278110"/>
            <a:ext cx="517186" cy="548456"/>
          </a:xfrm>
          <a:custGeom>
            <a:avLst/>
            <a:gdLst/>
            <a:ahLst/>
            <a:cxnLst/>
            <a:rect l="l" t="t" r="r" b="b"/>
            <a:pathLst>
              <a:path w="10555" h="12004" extrusionOk="0">
                <a:moveTo>
                  <a:pt x="5262" y="709"/>
                </a:moveTo>
                <a:lnTo>
                  <a:pt x="9420" y="2788"/>
                </a:lnTo>
                <a:lnTo>
                  <a:pt x="8066" y="3450"/>
                </a:lnTo>
                <a:lnTo>
                  <a:pt x="5451" y="2127"/>
                </a:lnTo>
                <a:cubicBezTo>
                  <a:pt x="5403" y="2111"/>
                  <a:pt x="5348" y="2103"/>
                  <a:pt x="5293" y="2103"/>
                </a:cubicBezTo>
                <a:cubicBezTo>
                  <a:pt x="5238" y="2103"/>
                  <a:pt x="5183" y="2111"/>
                  <a:pt x="5136" y="2127"/>
                </a:cubicBezTo>
                <a:lnTo>
                  <a:pt x="2489" y="3450"/>
                </a:lnTo>
                <a:lnTo>
                  <a:pt x="1197" y="2788"/>
                </a:lnTo>
                <a:lnTo>
                  <a:pt x="5262" y="709"/>
                </a:lnTo>
                <a:close/>
                <a:moveTo>
                  <a:pt x="4915" y="3040"/>
                </a:moveTo>
                <a:lnTo>
                  <a:pt x="4915" y="6222"/>
                </a:lnTo>
                <a:lnTo>
                  <a:pt x="2804" y="7294"/>
                </a:lnTo>
                <a:lnTo>
                  <a:pt x="2804" y="4080"/>
                </a:lnTo>
                <a:lnTo>
                  <a:pt x="4915" y="3040"/>
                </a:lnTo>
                <a:close/>
                <a:moveTo>
                  <a:pt x="5640" y="3040"/>
                </a:moveTo>
                <a:lnTo>
                  <a:pt x="7750" y="4080"/>
                </a:lnTo>
                <a:lnTo>
                  <a:pt x="7750" y="7294"/>
                </a:lnTo>
                <a:lnTo>
                  <a:pt x="5640" y="6222"/>
                </a:lnTo>
                <a:lnTo>
                  <a:pt x="5640" y="3040"/>
                </a:lnTo>
                <a:close/>
                <a:moveTo>
                  <a:pt x="5262" y="6758"/>
                </a:moveTo>
                <a:lnTo>
                  <a:pt x="7278" y="7798"/>
                </a:lnTo>
                <a:lnTo>
                  <a:pt x="5262" y="8806"/>
                </a:lnTo>
                <a:lnTo>
                  <a:pt x="3277" y="7798"/>
                </a:lnTo>
                <a:lnTo>
                  <a:pt x="5262" y="6758"/>
                </a:lnTo>
                <a:close/>
                <a:moveTo>
                  <a:pt x="725" y="3372"/>
                </a:moveTo>
                <a:lnTo>
                  <a:pt x="2111" y="4080"/>
                </a:lnTo>
                <a:lnTo>
                  <a:pt x="2111" y="7829"/>
                </a:lnTo>
                <a:cubicBezTo>
                  <a:pt x="2111" y="7955"/>
                  <a:pt x="2206" y="8081"/>
                  <a:pt x="2332" y="8113"/>
                </a:cubicBezTo>
                <a:lnTo>
                  <a:pt x="4915" y="9404"/>
                </a:lnTo>
                <a:lnTo>
                  <a:pt x="4915" y="10980"/>
                </a:lnTo>
                <a:lnTo>
                  <a:pt x="725" y="8869"/>
                </a:lnTo>
                <a:lnTo>
                  <a:pt x="725" y="3372"/>
                </a:lnTo>
                <a:close/>
                <a:moveTo>
                  <a:pt x="9861" y="3387"/>
                </a:moveTo>
                <a:lnTo>
                  <a:pt x="9861" y="8932"/>
                </a:lnTo>
                <a:lnTo>
                  <a:pt x="5640" y="11011"/>
                </a:lnTo>
                <a:lnTo>
                  <a:pt x="5640" y="9436"/>
                </a:lnTo>
                <a:lnTo>
                  <a:pt x="8223" y="8144"/>
                </a:lnTo>
                <a:cubicBezTo>
                  <a:pt x="8349" y="8113"/>
                  <a:pt x="8412" y="7987"/>
                  <a:pt x="8412" y="7829"/>
                </a:cubicBezTo>
                <a:lnTo>
                  <a:pt x="8412" y="4080"/>
                </a:lnTo>
                <a:lnTo>
                  <a:pt x="9861" y="3387"/>
                </a:lnTo>
                <a:close/>
                <a:moveTo>
                  <a:pt x="5262" y="0"/>
                </a:moveTo>
                <a:cubicBezTo>
                  <a:pt x="5206" y="0"/>
                  <a:pt x="5151" y="16"/>
                  <a:pt x="5104" y="47"/>
                </a:cubicBezTo>
                <a:lnTo>
                  <a:pt x="284" y="2473"/>
                </a:lnTo>
                <a:cubicBezTo>
                  <a:pt x="63" y="2536"/>
                  <a:pt x="0" y="2662"/>
                  <a:pt x="0" y="2820"/>
                </a:cubicBezTo>
                <a:lnTo>
                  <a:pt x="0" y="9152"/>
                </a:lnTo>
                <a:cubicBezTo>
                  <a:pt x="0" y="9278"/>
                  <a:pt x="63" y="9404"/>
                  <a:pt x="189" y="9499"/>
                </a:cubicBezTo>
                <a:lnTo>
                  <a:pt x="5104" y="11956"/>
                </a:lnTo>
                <a:cubicBezTo>
                  <a:pt x="5151" y="11988"/>
                  <a:pt x="5206" y="12003"/>
                  <a:pt x="5262" y="12003"/>
                </a:cubicBezTo>
                <a:cubicBezTo>
                  <a:pt x="5317" y="12003"/>
                  <a:pt x="5372" y="11988"/>
                  <a:pt x="5419" y="11956"/>
                </a:cubicBezTo>
                <a:lnTo>
                  <a:pt x="10365" y="9499"/>
                </a:lnTo>
                <a:cubicBezTo>
                  <a:pt x="10460" y="9404"/>
                  <a:pt x="10554" y="9278"/>
                  <a:pt x="10554" y="9152"/>
                </a:cubicBezTo>
                <a:lnTo>
                  <a:pt x="10554" y="2788"/>
                </a:lnTo>
                <a:cubicBezTo>
                  <a:pt x="10554" y="2662"/>
                  <a:pt x="10460" y="2568"/>
                  <a:pt x="10365" y="2505"/>
                </a:cubicBezTo>
                <a:lnTo>
                  <a:pt x="5419" y="47"/>
                </a:lnTo>
                <a:cubicBezTo>
                  <a:pt x="5372" y="16"/>
                  <a:pt x="5317" y="0"/>
                  <a:pt x="5262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734048-A64F-265B-0081-D749FC0A9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625" y="2068393"/>
            <a:ext cx="604025" cy="558642"/>
          </a:xfrm>
          <a:prstGeom prst="rect">
            <a:avLst/>
          </a:prstGeom>
        </p:spPr>
      </p:pic>
      <p:sp>
        <p:nvSpPr>
          <p:cNvPr id="18" name="Google Shape;709;p50">
            <a:extLst>
              <a:ext uri="{FF2B5EF4-FFF2-40B4-BE49-F238E27FC236}">
                <a16:creationId xmlns:a16="http://schemas.microsoft.com/office/drawing/2014/main" id="{EE8AEE07-CF6E-1BE5-E406-57FD2F1FC47E}"/>
              </a:ext>
            </a:extLst>
          </p:cNvPr>
          <p:cNvSpPr txBox="1"/>
          <p:nvPr/>
        </p:nvSpPr>
        <p:spPr>
          <a:xfrm>
            <a:off x="2049600" y="2790562"/>
            <a:ext cx="675900" cy="6759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  <p:grpSp>
        <p:nvGrpSpPr>
          <p:cNvPr id="12" name="Google Shape;9725;p73">
            <a:extLst>
              <a:ext uri="{FF2B5EF4-FFF2-40B4-BE49-F238E27FC236}">
                <a16:creationId xmlns:a16="http://schemas.microsoft.com/office/drawing/2014/main" id="{FD8C2D37-2071-FF58-E1BF-75F5EB719D4F}"/>
              </a:ext>
            </a:extLst>
          </p:cNvPr>
          <p:cNvGrpSpPr/>
          <p:nvPr/>
        </p:nvGrpSpPr>
        <p:grpSpPr>
          <a:xfrm>
            <a:off x="2217096" y="2924680"/>
            <a:ext cx="486810" cy="416818"/>
            <a:chOff x="-34418125" y="2271100"/>
            <a:chExt cx="296950" cy="293025"/>
          </a:xfrm>
          <a:solidFill>
            <a:srgbClr val="24CA08"/>
          </a:solidFill>
        </p:grpSpPr>
        <p:sp>
          <p:nvSpPr>
            <p:cNvPr id="13" name="Google Shape;9726;p73">
              <a:extLst>
                <a:ext uri="{FF2B5EF4-FFF2-40B4-BE49-F238E27FC236}">
                  <a16:creationId xmlns:a16="http://schemas.microsoft.com/office/drawing/2014/main" id="{89824FAD-E437-1B7C-1CD9-0E5C89BC409B}"/>
                </a:ext>
              </a:extLst>
            </p:cNvPr>
            <p:cNvSpPr/>
            <p:nvPr/>
          </p:nvSpPr>
          <p:spPr>
            <a:xfrm>
              <a:off x="-34418125" y="2271100"/>
              <a:ext cx="296950" cy="293025"/>
            </a:xfrm>
            <a:custGeom>
              <a:avLst/>
              <a:gdLst/>
              <a:ahLst/>
              <a:cxnLst/>
              <a:rect l="l" t="t" r="r" b="b"/>
              <a:pathLst>
                <a:path w="11878" h="11721" extrusionOk="0">
                  <a:moveTo>
                    <a:pt x="6207" y="1229"/>
                  </a:moveTo>
                  <a:lnTo>
                    <a:pt x="7089" y="2080"/>
                  </a:lnTo>
                  <a:lnTo>
                    <a:pt x="6207" y="2080"/>
                  </a:lnTo>
                  <a:lnTo>
                    <a:pt x="6207" y="1229"/>
                  </a:lnTo>
                  <a:close/>
                  <a:moveTo>
                    <a:pt x="7561" y="9074"/>
                  </a:moveTo>
                  <a:lnTo>
                    <a:pt x="7561" y="10366"/>
                  </a:lnTo>
                  <a:lnTo>
                    <a:pt x="6238" y="10366"/>
                  </a:lnTo>
                  <a:lnTo>
                    <a:pt x="7561" y="9074"/>
                  </a:lnTo>
                  <a:close/>
                  <a:moveTo>
                    <a:pt x="5514" y="725"/>
                  </a:moveTo>
                  <a:lnTo>
                    <a:pt x="5514" y="2427"/>
                  </a:lnTo>
                  <a:cubicBezTo>
                    <a:pt x="5514" y="2616"/>
                    <a:pt x="5671" y="2773"/>
                    <a:pt x="5860" y="2773"/>
                  </a:cubicBezTo>
                  <a:lnTo>
                    <a:pt x="7561" y="2773"/>
                  </a:lnTo>
                  <a:lnTo>
                    <a:pt x="7561" y="4222"/>
                  </a:lnTo>
                  <a:cubicBezTo>
                    <a:pt x="6837" y="4947"/>
                    <a:pt x="6742" y="5924"/>
                    <a:pt x="6994" y="6711"/>
                  </a:cubicBezTo>
                  <a:lnTo>
                    <a:pt x="4726" y="8980"/>
                  </a:lnTo>
                  <a:lnTo>
                    <a:pt x="1670" y="8980"/>
                  </a:lnTo>
                  <a:cubicBezTo>
                    <a:pt x="1481" y="8980"/>
                    <a:pt x="1323" y="9137"/>
                    <a:pt x="1323" y="9358"/>
                  </a:cubicBezTo>
                  <a:cubicBezTo>
                    <a:pt x="1323" y="9547"/>
                    <a:pt x="1481" y="9704"/>
                    <a:pt x="1670" y="9704"/>
                  </a:cubicBezTo>
                  <a:lnTo>
                    <a:pt x="4033" y="9704"/>
                  </a:lnTo>
                  <a:lnTo>
                    <a:pt x="3718" y="10019"/>
                  </a:lnTo>
                  <a:cubicBezTo>
                    <a:pt x="3623" y="10145"/>
                    <a:pt x="3529" y="10240"/>
                    <a:pt x="3497" y="10397"/>
                  </a:cubicBezTo>
                  <a:lnTo>
                    <a:pt x="662" y="10397"/>
                  </a:lnTo>
                  <a:lnTo>
                    <a:pt x="662" y="725"/>
                  </a:lnTo>
                  <a:close/>
                  <a:moveTo>
                    <a:pt x="9295" y="4211"/>
                  </a:moveTo>
                  <a:cubicBezTo>
                    <a:pt x="9367" y="4211"/>
                    <a:pt x="9441" y="4215"/>
                    <a:pt x="9515" y="4222"/>
                  </a:cubicBezTo>
                  <a:lnTo>
                    <a:pt x="9042" y="4695"/>
                  </a:lnTo>
                  <a:cubicBezTo>
                    <a:pt x="8664" y="5073"/>
                    <a:pt x="8664" y="5766"/>
                    <a:pt x="9042" y="6144"/>
                  </a:cubicBezTo>
                  <a:cubicBezTo>
                    <a:pt x="9247" y="6349"/>
                    <a:pt x="9515" y="6451"/>
                    <a:pt x="9779" y="6451"/>
                  </a:cubicBezTo>
                  <a:cubicBezTo>
                    <a:pt x="10042" y="6451"/>
                    <a:pt x="10302" y="6349"/>
                    <a:pt x="10491" y="6144"/>
                  </a:cubicBezTo>
                  <a:lnTo>
                    <a:pt x="10964" y="5672"/>
                  </a:lnTo>
                  <a:lnTo>
                    <a:pt x="10964" y="5672"/>
                  </a:lnTo>
                  <a:cubicBezTo>
                    <a:pt x="11058" y="6239"/>
                    <a:pt x="10869" y="6743"/>
                    <a:pt x="10491" y="7089"/>
                  </a:cubicBezTo>
                  <a:cubicBezTo>
                    <a:pt x="10183" y="7418"/>
                    <a:pt x="9741" y="7626"/>
                    <a:pt x="9278" y="7626"/>
                  </a:cubicBezTo>
                  <a:cubicBezTo>
                    <a:pt x="9031" y="7626"/>
                    <a:pt x="8779" y="7567"/>
                    <a:pt x="8538" y="7436"/>
                  </a:cubicBezTo>
                  <a:cubicBezTo>
                    <a:pt x="8496" y="7415"/>
                    <a:pt x="8451" y="7404"/>
                    <a:pt x="8404" y="7404"/>
                  </a:cubicBezTo>
                  <a:cubicBezTo>
                    <a:pt x="8311" y="7404"/>
                    <a:pt x="8213" y="7446"/>
                    <a:pt x="8129" y="7530"/>
                  </a:cubicBezTo>
                  <a:lnTo>
                    <a:pt x="4726" y="10964"/>
                  </a:lnTo>
                  <a:cubicBezTo>
                    <a:pt x="4663" y="11012"/>
                    <a:pt x="4568" y="11035"/>
                    <a:pt x="4478" y="11035"/>
                  </a:cubicBezTo>
                  <a:cubicBezTo>
                    <a:pt x="4387" y="11035"/>
                    <a:pt x="4301" y="11012"/>
                    <a:pt x="4253" y="10964"/>
                  </a:cubicBezTo>
                  <a:cubicBezTo>
                    <a:pt x="4127" y="10838"/>
                    <a:pt x="4127" y="10586"/>
                    <a:pt x="4253" y="10492"/>
                  </a:cubicBezTo>
                  <a:lnTo>
                    <a:pt x="7656" y="7058"/>
                  </a:lnTo>
                  <a:cubicBezTo>
                    <a:pt x="7782" y="6932"/>
                    <a:pt x="7782" y="6774"/>
                    <a:pt x="7750" y="6648"/>
                  </a:cubicBezTo>
                  <a:cubicBezTo>
                    <a:pt x="7467" y="6113"/>
                    <a:pt x="7498" y="5356"/>
                    <a:pt x="7971" y="4821"/>
                  </a:cubicBezTo>
                  <a:cubicBezTo>
                    <a:pt x="8330" y="4407"/>
                    <a:pt x="8785" y="4211"/>
                    <a:pt x="9295" y="4211"/>
                  </a:cubicBezTo>
                  <a:close/>
                  <a:moveTo>
                    <a:pt x="378" y="1"/>
                  </a:moveTo>
                  <a:cubicBezTo>
                    <a:pt x="189" y="1"/>
                    <a:pt x="32" y="158"/>
                    <a:pt x="32" y="347"/>
                  </a:cubicBezTo>
                  <a:lnTo>
                    <a:pt x="32" y="10681"/>
                  </a:lnTo>
                  <a:cubicBezTo>
                    <a:pt x="0" y="10870"/>
                    <a:pt x="158" y="11027"/>
                    <a:pt x="347" y="11027"/>
                  </a:cubicBezTo>
                  <a:lnTo>
                    <a:pt x="3529" y="11027"/>
                  </a:lnTo>
                  <a:cubicBezTo>
                    <a:pt x="3560" y="11185"/>
                    <a:pt x="3655" y="11311"/>
                    <a:pt x="3781" y="11437"/>
                  </a:cubicBezTo>
                  <a:cubicBezTo>
                    <a:pt x="3970" y="11626"/>
                    <a:pt x="4230" y="11720"/>
                    <a:pt x="4494" y="11720"/>
                  </a:cubicBezTo>
                  <a:cubicBezTo>
                    <a:pt x="4758" y="11720"/>
                    <a:pt x="5025" y="11626"/>
                    <a:pt x="5230" y="11437"/>
                  </a:cubicBezTo>
                  <a:lnTo>
                    <a:pt x="5608" y="11027"/>
                  </a:lnTo>
                  <a:lnTo>
                    <a:pt x="7940" y="11027"/>
                  </a:lnTo>
                  <a:cubicBezTo>
                    <a:pt x="8129" y="11027"/>
                    <a:pt x="8286" y="10870"/>
                    <a:pt x="8286" y="10681"/>
                  </a:cubicBezTo>
                  <a:lnTo>
                    <a:pt x="8286" y="8349"/>
                  </a:lnTo>
                  <a:lnTo>
                    <a:pt x="8538" y="8129"/>
                  </a:lnTo>
                  <a:cubicBezTo>
                    <a:pt x="8792" y="8220"/>
                    <a:pt x="9065" y="8269"/>
                    <a:pt x="9344" y="8269"/>
                  </a:cubicBezTo>
                  <a:cubicBezTo>
                    <a:pt x="9929" y="8269"/>
                    <a:pt x="10536" y="8053"/>
                    <a:pt x="11027" y="7562"/>
                  </a:cubicBezTo>
                  <a:cubicBezTo>
                    <a:pt x="11752" y="6806"/>
                    <a:pt x="11878" y="5735"/>
                    <a:pt x="11500" y="4852"/>
                  </a:cubicBezTo>
                  <a:cubicBezTo>
                    <a:pt x="11437" y="4726"/>
                    <a:pt x="11342" y="4695"/>
                    <a:pt x="11248" y="4663"/>
                  </a:cubicBezTo>
                  <a:cubicBezTo>
                    <a:pt x="11122" y="4663"/>
                    <a:pt x="11027" y="4663"/>
                    <a:pt x="10932" y="4726"/>
                  </a:cubicBezTo>
                  <a:lnTo>
                    <a:pt x="10082" y="5609"/>
                  </a:lnTo>
                  <a:cubicBezTo>
                    <a:pt x="10019" y="5656"/>
                    <a:pt x="9924" y="5679"/>
                    <a:pt x="9834" y="5679"/>
                  </a:cubicBezTo>
                  <a:cubicBezTo>
                    <a:pt x="9743" y="5679"/>
                    <a:pt x="9657" y="5656"/>
                    <a:pt x="9609" y="5609"/>
                  </a:cubicBezTo>
                  <a:cubicBezTo>
                    <a:pt x="9483" y="5483"/>
                    <a:pt x="9483" y="5230"/>
                    <a:pt x="9609" y="5136"/>
                  </a:cubicBezTo>
                  <a:lnTo>
                    <a:pt x="10460" y="4254"/>
                  </a:lnTo>
                  <a:cubicBezTo>
                    <a:pt x="10554" y="4191"/>
                    <a:pt x="10586" y="4065"/>
                    <a:pt x="10554" y="3939"/>
                  </a:cubicBezTo>
                  <a:cubicBezTo>
                    <a:pt x="10554" y="3813"/>
                    <a:pt x="10460" y="3750"/>
                    <a:pt x="10334" y="3718"/>
                  </a:cubicBezTo>
                  <a:cubicBezTo>
                    <a:pt x="10003" y="3561"/>
                    <a:pt x="9649" y="3482"/>
                    <a:pt x="9298" y="3482"/>
                  </a:cubicBezTo>
                  <a:cubicBezTo>
                    <a:pt x="8948" y="3482"/>
                    <a:pt x="8601" y="3561"/>
                    <a:pt x="8286" y="3718"/>
                  </a:cubicBezTo>
                  <a:lnTo>
                    <a:pt x="8286" y="2395"/>
                  </a:lnTo>
                  <a:cubicBezTo>
                    <a:pt x="8286" y="2332"/>
                    <a:pt x="8255" y="2206"/>
                    <a:pt x="8192" y="2175"/>
                  </a:cubicBezTo>
                  <a:lnTo>
                    <a:pt x="6144" y="127"/>
                  </a:lnTo>
                  <a:cubicBezTo>
                    <a:pt x="6049" y="64"/>
                    <a:pt x="5986" y="1"/>
                    <a:pt x="58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727;p73">
              <a:extLst>
                <a:ext uri="{FF2B5EF4-FFF2-40B4-BE49-F238E27FC236}">
                  <a16:creationId xmlns:a16="http://schemas.microsoft.com/office/drawing/2014/main" id="{4D0B7A76-C983-77AC-09BE-4AEFC371B854}"/>
                </a:ext>
              </a:extLst>
            </p:cNvPr>
            <p:cNvSpPr/>
            <p:nvPr/>
          </p:nvSpPr>
          <p:spPr>
            <a:xfrm>
              <a:off x="-34331500" y="23057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28;p73">
              <a:extLst>
                <a:ext uri="{FF2B5EF4-FFF2-40B4-BE49-F238E27FC236}">
                  <a16:creationId xmlns:a16="http://schemas.microsoft.com/office/drawing/2014/main" id="{23B450A9-CF0F-CBFF-3BE5-A0333CBE66F9}"/>
                </a:ext>
              </a:extLst>
            </p:cNvPr>
            <p:cNvSpPr/>
            <p:nvPr/>
          </p:nvSpPr>
          <p:spPr>
            <a:xfrm>
              <a:off x="-34331500" y="2341200"/>
              <a:ext cx="17350" cy="69350"/>
            </a:xfrm>
            <a:custGeom>
              <a:avLst/>
              <a:gdLst/>
              <a:ahLst/>
              <a:cxnLst/>
              <a:rect l="l" t="t" r="r" b="b"/>
              <a:pathLst>
                <a:path w="694" h="277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2395"/>
                  </a:lnTo>
                  <a:cubicBezTo>
                    <a:pt x="1" y="2584"/>
                    <a:pt x="158" y="2773"/>
                    <a:pt x="347" y="2773"/>
                  </a:cubicBezTo>
                  <a:cubicBezTo>
                    <a:pt x="536" y="2773"/>
                    <a:pt x="694" y="2584"/>
                    <a:pt x="694" y="239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29;p73">
              <a:extLst>
                <a:ext uri="{FF2B5EF4-FFF2-40B4-BE49-F238E27FC236}">
                  <a16:creationId xmlns:a16="http://schemas.microsoft.com/office/drawing/2014/main" id="{7A89457A-4B92-5FF3-3025-888E5265B5E7}"/>
                </a:ext>
              </a:extLst>
            </p:cNvPr>
            <p:cNvSpPr/>
            <p:nvPr/>
          </p:nvSpPr>
          <p:spPr>
            <a:xfrm>
              <a:off x="-34384275" y="2427050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4506" y="694"/>
                  </a:lnTo>
                  <a:cubicBezTo>
                    <a:pt x="4695" y="694"/>
                    <a:pt x="4853" y="536"/>
                    <a:pt x="4853" y="347"/>
                  </a:cubicBezTo>
                  <a:cubicBezTo>
                    <a:pt x="4853" y="158"/>
                    <a:pt x="4695" y="1"/>
                    <a:pt x="45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30;p73">
              <a:extLst>
                <a:ext uri="{FF2B5EF4-FFF2-40B4-BE49-F238E27FC236}">
                  <a16:creationId xmlns:a16="http://schemas.microsoft.com/office/drawing/2014/main" id="{C9CC357E-C162-3BCB-E6FD-D6B4CE1C5891}"/>
                </a:ext>
              </a:extLst>
            </p:cNvPr>
            <p:cNvSpPr/>
            <p:nvPr/>
          </p:nvSpPr>
          <p:spPr>
            <a:xfrm>
              <a:off x="-34384275" y="2460125"/>
              <a:ext cx="88250" cy="18150"/>
            </a:xfrm>
            <a:custGeom>
              <a:avLst/>
              <a:gdLst/>
              <a:ahLst/>
              <a:cxnLst/>
              <a:rect l="l" t="t" r="r" b="b"/>
              <a:pathLst>
                <a:path w="3530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99"/>
                    <a:pt x="158" y="725"/>
                    <a:pt x="379" y="725"/>
                  </a:cubicBezTo>
                  <a:lnTo>
                    <a:pt x="3151" y="725"/>
                  </a:lnTo>
                  <a:cubicBezTo>
                    <a:pt x="3372" y="725"/>
                    <a:pt x="3530" y="568"/>
                    <a:pt x="3530" y="379"/>
                  </a:cubicBezTo>
                  <a:cubicBezTo>
                    <a:pt x="3530" y="158"/>
                    <a:pt x="3372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8734;p70">
            <a:extLst>
              <a:ext uri="{FF2B5EF4-FFF2-40B4-BE49-F238E27FC236}">
                <a16:creationId xmlns:a16="http://schemas.microsoft.com/office/drawing/2014/main" id="{DF31E007-CD8D-22B0-83BA-84DEFF4DA824}"/>
              </a:ext>
            </a:extLst>
          </p:cNvPr>
          <p:cNvGrpSpPr/>
          <p:nvPr/>
        </p:nvGrpSpPr>
        <p:grpSpPr>
          <a:xfrm>
            <a:off x="1387144" y="3685101"/>
            <a:ext cx="496657" cy="455100"/>
            <a:chOff x="2081650" y="2050750"/>
            <a:chExt cx="483125" cy="424625"/>
          </a:xfrm>
          <a:solidFill>
            <a:srgbClr val="FFC000"/>
          </a:solidFill>
        </p:grpSpPr>
        <p:sp>
          <p:nvSpPr>
            <p:cNvPr id="20" name="Google Shape;8735;p70">
              <a:extLst>
                <a:ext uri="{FF2B5EF4-FFF2-40B4-BE49-F238E27FC236}">
                  <a16:creationId xmlns:a16="http://schemas.microsoft.com/office/drawing/2014/main" id="{2031DD2F-2C80-D3F1-557A-999596199162}"/>
                </a:ext>
              </a:extLst>
            </p:cNvPr>
            <p:cNvSpPr/>
            <p:nvPr/>
          </p:nvSpPr>
          <p:spPr>
            <a:xfrm>
              <a:off x="2081650" y="205075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 extrusionOk="0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grpFill/>
            <a:ln>
              <a:solidFill>
                <a:srgbClr val="C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8736;p70">
              <a:extLst>
                <a:ext uri="{FF2B5EF4-FFF2-40B4-BE49-F238E27FC236}">
                  <a16:creationId xmlns:a16="http://schemas.microsoft.com/office/drawing/2014/main" id="{0CB77A0C-5FEF-17A7-248C-D3BFF33725B8}"/>
                </a:ext>
              </a:extLst>
            </p:cNvPr>
            <p:cNvSpPr/>
            <p:nvPr/>
          </p:nvSpPr>
          <p:spPr>
            <a:xfrm>
              <a:off x="2136375" y="2292025"/>
              <a:ext cx="36400" cy="41975"/>
            </a:xfrm>
            <a:custGeom>
              <a:avLst/>
              <a:gdLst/>
              <a:ahLst/>
              <a:cxnLst/>
              <a:rect l="l" t="t" r="r" b="b"/>
              <a:pathLst>
                <a:path w="1456" h="1679" extrusionOk="0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grpFill/>
            <a:ln>
              <a:solidFill>
                <a:srgbClr val="C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8737;p70">
              <a:extLst>
                <a:ext uri="{FF2B5EF4-FFF2-40B4-BE49-F238E27FC236}">
                  <a16:creationId xmlns:a16="http://schemas.microsoft.com/office/drawing/2014/main" id="{76ACD5BF-9495-466C-AF50-FE641296B252}"/>
                </a:ext>
              </a:extLst>
            </p:cNvPr>
            <p:cNvSpPr/>
            <p:nvPr/>
          </p:nvSpPr>
          <p:spPr>
            <a:xfrm>
              <a:off x="2296850" y="2220800"/>
              <a:ext cx="46075" cy="51650"/>
            </a:xfrm>
            <a:custGeom>
              <a:avLst/>
              <a:gdLst/>
              <a:ahLst/>
              <a:cxnLst/>
              <a:rect l="l" t="t" r="r" b="b"/>
              <a:pathLst>
                <a:path w="1843" h="2066" extrusionOk="0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grpFill/>
            <a:ln>
              <a:solidFill>
                <a:srgbClr val="C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8738;p70">
              <a:extLst>
                <a:ext uri="{FF2B5EF4-FFF2-40B4-BE49-F238E27FC236}">
                  <a16:creationId xmlns:a16="http://schemas.microsoft.com/office/drawing/2014/main" id="{0C01D51F-2468-1BCB-AA07-B3184702533B}"/>
                </a:ext>
              </a:extLst>
            </p:cNvPr>
            <p:cNvSpPr/>
            <p:nvPr/>
          </p:nvSpPr>
          <p:spPr>
            <a:xfrm>
              <a:off x="2158650" y="2216775"/>
              <a:ext cx="47275" cy="51425"/>
            </a:xfrm>
            <a:custGeom>
              <a:avLst/>
              <a:gdLst/>
              <a:ahLst/>
              <a:cxnLst/>
              <a:rect l="l" t="t" r="r" b="b"/>
              <a:pathLst>
                <a:path w="1891" h="2057" extrusionOk="0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grpFill/>
            <a:ln>
              <a:solidFill>
                <a:srgbClr val="C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8739;p70">
              <a:extLst>
                <a:ext uri="{FF2B5EF4-FFF2-40B4-BE49-F238E27FC236}">
                  <a16:creationId xmlns:a16="http://schemas.microsoft.com/office/drawing/2014/main" id="{8D2F6B9D-A452-D249-0863-C61927DBEEFA}"/>
                </a:ext>
              </a:extLst>
            </p:cNvPr>
            <p:cNvSpPr/>
            <p:nvPr/>
          </p:nvSpPr>
          <p:spPr>
            <a:xfrm>
              <a:off x="2426475" y="2255725"/>
              <a:ext cx="55875" cy="46900"/>
            </a:xfrm>
            <a:custGeom>
              <a:avLst/>
              <a:gdLst/>
              <a:ahLst/>
              <a:cxnLst/>
              <a:rect l="l" t="t" r="r" b="b"/>
              <a:pathLst>
                <a:path w="2235" h="1876" extrusionOk="0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grpFill/>
            <a:ln>
              <a:solidFill>
                <a:srgbClr val="C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8740;p70">
              <a:extLst>
                <a:ext uri="{FF2B5EF4-FFF2-40B4-BE49-F238E27FC236}">
                  <a16:creationId xmlns:a16="http://schemas.microsoft.com/office/drawing/2014/main" id="{0748E43C-8FBD-D73C-1026-368E493C5595}"/>
                </a:ext>
              </a:extLst>
            </p:cNvPr>
            <p:cNvSpPr/>
            <p:nvPr/>
          </p:nvSpPr>
          <p:spPr>
            <a:xfrm>
              <a:off x="2473050" y="2192325"/>
              <a:ext cx="37000" cy="41500"/>
            </a:xfrm>
            <a:custGeom>
              <a:avLst/>
              <a:gdLst/>
              <a:ahLst/>
              <a:cxnLst/>
              <a:rect l="l" t="t" r="r" b="b"/>
              <a:pathLst>
                <a:path w="1480" h="1660" extrusionOk="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grpFill/>
            <a:ln>
              <a:solidFill>
                <a:srgbClr val="C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 flipH="1">
            <a:off x="3777975" y="2359875"/>
            <a:ext cx="4648200" cy="94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CASE STUDY</a:t>
            </a:r>
            <a:endParaRPr dirty="0"/>
          </a:p>
        </p:txBody>
      </p:sp>
      <p:sp>
        <p:nvSpPr>
          <p:cNvPr id="331" name="Google Shape;331;p43"/>
          <p:cNvSpPr txBox="1">
            <a:spLocks noGrp="1"/>
          </p:cNvSpPr>
          <p:nvPr>
            <p:ph type="title" idx="2"/>
          </p:nvPr>
        </p:nvSpPr>
        <p:spPr>
          <a:xfrm flipH="1">
            <a:off x="7008175" y="953562"/>
            <a:ext cx="1313100" cy="13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332" name="Google Shape;332;p43"/>
          <p:cNvCxnSpPr/>
          <p:nvPr/>
        </p:nvCxnSpPr>
        <p:spPr>
          <a:xfrm rot="10800000">
            <a:off x="6717742" y="3421088"/>
            <a:ext cx="16251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3" name="Google Shape;333;p43"/>
          <p:cNvSpPr txBox="1">
            <a:spLocks noGrp="1"/>
          </p:cNvSpPr>
          <p:nvPr>
            <p:ph type="subTitle" idx="1"/>
          </p:nvPr>
        </p:nvSpPr>
        <p:spPr>
          <a:xfrm flipH="1">
            <a:off x="5637675" y="3663700"/>
            <a:ext cx="2788500" cy="6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 in-depth exploration of real world scenarios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8F0D1-F52F-D1D1-E4BA-D1F2B6699D4F}"/>
              </a:ext>
            </a:extLst>
          </p:cNvPr>
          <p:cNvSpPr txBox="1"/>
          <p:nvPr/>
        </p:nvSpPr>
        <p:spPr>
          <a:xfrm>
            <a:off x="3627325" y="4835723"/>
            <a:ext cx="461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30;p43">
            <a:extLst>
              <a:ext uri="{FF2B5EF4-FFF2-40B4-BE49-F238E27FC236}">
                <a16:creationId xmlns:a16="http://schemas.microsoft.com/office/drawing/2014/main" id="{51F3DFE3-50E1-F0E6-76A2-0973755408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83262" y="183051"/>
            <a:ext cx="2228757" cy="4502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CASE STUDY</a:t>
            </a:r>
            <a:endParaRPr sz="2400" dirty="0"/>
          </a:p>
        </p:txBody>
      </p:sp>
      <p:cxnSp>
        <p:nvCxnSpPr>
          <p:cNvPr id="9" name="Google Shape;332;p43">
            <a:extLst>
              <a:ext uri="{FF2B5EF4-FFF2-40B4-BE49-F238E27FC236}">
                <a16:creationId xmlns:a16="http://schemas.microsoft.com/office/drawing/2014/main" id="{8600DB6D-A74A-1A81-9F3D-F034FDBCBF29}"/>
              </a:ext>
            </a:extLst>
          </p:cNvPr>
          <p:cNvCxnSpPr>
            <a:cxnSpLocks/>
          </p:cNvCxnSpPr>
          <p:nvPr/>
        </p:nvCxnSpPr>
        <p:spPr>
          <a:xfrm flipH="1">
            <a:off x="229365" y="603548"/>
            <a:ext cx="1792723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333;p43">
            <a:extLst>
              <a:ext uri="{FF2B5EF4-FFF2-40B4-BE49-F238E27FC236}">
                <a16:creationId xmlns:a16="http://schemas.microsoft.com/office/drawing/2014/main" id="{5242BBE1-9DA3-8708-B804-8FAB009F88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140690" y="739680"/>
            <a:ext cx="3130334" cy="42374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total number of roads in Pakistan, according to the latest available data from </a:t>
            </a:r>
            <a:r>
              <a:rPr lang="en-US" sz="1400" b="1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National Transport &amp; Research Center (NTRC), 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approximately </a:t>
            </a:r>
            <a:r>
              <a:rPr lang="en-US" sz="1400" b="1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493,089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kilometers as of March 2020.</a:t>
            </a:r>
          </a:p>
          <a:p>
            <a:pPr marL="285750" lvl="0" indent="-285750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includes: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Highways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Maintained by the National Highway Authority (NHA), covering around </a:t>
            </a:r>
            <a:r>
              <a:rPr lang="en-US" sz="1400" b="1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11,995 kilometers.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Provincial Roads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Managed by respective provincial governments.</a:t>
            </a:r>
          </a:p>
          <a:p>
            <a:pPr marL="742950" lvl="1" indent="-285750">
              <a:buClrTx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Roads</a:t>
            </a:r>
            <a: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Maintained by local authorities.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63FF7B-C0B2-8E1C-DB12-D42FC1039586}"/>
              </a:ext>
            </a:extLst>
          </p:cNvPr>
          <p:cNvSpPr txBox="1"/>
          <p:nvPr/>
        </p:nvSpPr>
        <p:spPr>
          <a:xfrm>
            <a:off x="4084847" y="4839423"/>
            <a:ext cx="487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68F30-EB6D-265D-1EF5-7C555DB38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503" y="0"/>
            <a:ext cx="590823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3C6DE870-526B-37B8-FED5-5E4A3EA4D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>
            <a:extLst>
              <a:ext uri="{FF2B5EF4-FFF2-40B4-BE49-F238E27FC236}">
                <a16:creationId xmlns:a16="http://schemas.microsoft.com/office/drawing/2014/main" id="{A96965FE-82A8-DC5C-3689-4275FC442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4" y="2135225"/>
            <a:ext cx="5492571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OBJECTIVES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9" name="Google Shape;229;p37">
            <a:extLst>
              <a:ext uri="{FF2B5EF4-FFF2-40B4-BE49-F238E27FC236}">
                <a16:creationId xmlns:a16="http://schemas.microsoft.com/office/drawing/2014/main" id="{EDB59793-2B28-6768-B141-29C3FA66FAA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275" y="699912"/>
            <a:ext cx="1313100" cy="13167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0" name="Google Shape;230;p37">
            <a:extLst>
              <a:ext uri="{FF2B5EF4-FFF2-40B4-BE49-F238E27FC236}">
                <a16:creationId xmlns:a16="http://schemas.microsoft.com/office/drawing/2014/main" id="{A7676DF5-BC8A-8543-1BCC-0476351543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2375" y="4172049"/>
            <a:ext cx="5217508" cy="622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Intended Outcomes!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31" name="Google Shape;231;p37">
            <a:extLst>
              <a:ext uri="{FF2B5EF4-FFF2-40B4-BE49-F238E27FC236}">
                <a16:creationId xmlns:a16="http://schemas.microsoft.com/office/drawing/2014/main" id="{C2CAC65D-083E-F4DD-AB7E-00144AF7C22D}"/>
              </a:ext>
            </a:extLst>
          </p:cNvPr>
          <p:cNvCxnSpPr>
            <a:cxnSpLocks/>
          </p:cNvCxnSpPr>
          <p:nvPr/>
        </p:nvCxnSpPr>
        <p:spPr>
          <a:xfrm>
            <a:off x="827275" y="3929438"/>
            <a:ext cx="2740948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8699C31-C824-7703-96F5-EDB35470C05E}"/>
              </a:ext>
            </a:extLst>
          </p:cNvPr>
          <p:cNvSpPr txBox="1"/>
          <p:nvPr/>
        </p:nvSpPr>
        <p:spPr>
          <a:xfrm>
            <a:off x="4421350" y="4835723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1814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BF121004-C565-B610-A45E-3E8A16BD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p40">
            <a:extLst>
              <a:ext uri="{FF2B5EF4-FFF2-40B4-BE49-F238E27FC236}">
                <a16:creationId xmlns:a16="http://schemas.microsoft.com/office/drawing/2014/main" id="{5493D7E0-1D3F-657E-5235-C09B26941597}"/>
              </a:ext>
            </a:extLst>
          </p:cNvPr>
          <p:cNvCxnSpPr>
            <a:cxnSpLocks/>
          </p:cNvCxnSpPr>
          <p:nvPr/>
        </p:nvCxnSpPr>
        <p:spPr>
          <a:xfrm>
            <a:off x="162108" y="954642"/>
            <a:ext cx="6402243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40">
            <a:extLst>
              <a:ext uri="{FF2B5EF4-FFF2-40B4-BE49-F238E27FC236}">
                <a16:creationId xmlns:a16="http://schemas.microsoft.com/office/drawing/2014/main" id="{E98F07D8-F2CA-7461-43DF-CCA4E4F010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108" y="312420"/>
            <a:ext cx="663743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OBJECTIVES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68FDA-DBA8-1670-0580-7E94F0E025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9821" y="1209483"/>
            <a:ext cx="3894152" cy="362159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213DF7-C4EF-DD8B-7AA1-35F57FBACC07}"/>
              </a:ext>
            </a:extLst>
          </p:cNvPr>
          <p:cNvSpPr/>
          <p:nvPr/>
        </p:nvSpPr>
        <p:spPr>
          <a:xfrm rot="16200000">
            <a:off x="2414061" y="-1136862"/>
            <a:ext cx="806060" cy="5308143"/>
          </a:xfrm>
          <a:prstGeom prst="roundRect">
            <a:avLst/>
          </a:prstGeom>
          <a:solidFill>
            <a:srgbClr val="FF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CC36F8-B6EE-3B6A-4DAB-916910F1F990}"/>
              </a:ext>
            </a:extLst>
          </p:cNvPr>
          <p:cNvSpPr txBox="1"/>
          <p:nvPr/>
        </p:nvSpPr>
        <p:spPr>
          <a:xfrm>
            <a:off x="268791" y="1209483"/>
            <a:ext cx="5202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STANDARDIZATION OF ROADS</a:t>
            </a:r>
            <a:endParaRPr lang="en-GB" sz="16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64D2B6-9C01-1470-72A5-5FFE1316B084}"/>
              </a:ext>
            </a:extLst>
          </p:cNvPr>
          <p:cNvSpPr/>
          <p:nvPr/>
        </p:nvSpPr>
        <p:spPr>
          <a:xfrm rot="16200000">
            <a:off x="2429301" y="-161502"/>
            <a:ext cx="806060" cy="5308143"/>
          </a:xfrm>
          <a:prstGeom prst="roundRect">
            <a:avLst/>
          </a:prstGeom>
          <a:solidFill>
            <a:srgbClr val="FF00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E3B8E-9B02-F665-A30F-5A70178FCB60}"/>
              </a:ext>
            </a:extLst>
          </p:cNvPr>
          <p:cNvSpPr txBox="1"/>
          <p:nvPr/>
        </p:nvSpPr>
        <p:spPr>
          <a:xfrm>
            <a:off x="284031" y="2184843"/>
            <a:ext cx="5202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COMPREHENSIVE DATASET CREATION</a:t>
            </a:r>
            <a:endParaRPr lang="en-GB" sz="16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7E392CA-184A-E363-68E3-66713DAE1694}"/>
              </a:ext>
            </a:extLst>
          </p:cNvPr>
          <p:cNvSpPr/>
          <p:nvPr/>
        </p:nvSpPr>
        <p:spPr>
          <a:xfrm rot="16200000">
            <a:off x="2429301" y="798618"/>
            <a:ext cx="806060" cy="5308143"/>
          </a:xfrm>
          <a:prstGeom prst="roundRect">
            <a:avLst/>
          </a:prstGeom>
          <a:solidFill>
            <a:srgbClr val="24CA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FD7961-9A50-2609-EF9F-BC1AA8FC2CFD}"/>
              </a:ext>
            </a:extLst>
          </p:cNvPr>
          <p:cNvSpPr txBox="1"/>
          <p:nvPr/>
        </p:nvSpPr>
        <p:spPr>
          <a:xfrm>
            <a:off x="215904" y="3206386"/>
            <a:ext cx="5308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POSITIONAL ACCURACY</a:t>
            </a:r>
            <a:endParaRPr lang="en-GB" sz="16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043DAB9-00FC-DA19-9191-F79C4E55EF7F}"/>
              </a:ext>
            </a:extLst>
          </p:cNvPr>
          <p:cNvSpPr/>
          <p:nvPr/>
        </p:nvSpPr>
        <p:spPr>
          <a:xfrm rot="16200000">
            <a:off x="2414061" y="1773978"/>
            <a:ext cx="806060" cy="5308143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E29876-0573-ABEA-FE41-ABC600EEE73F}"/>
              </a:ext>
            </a:extLst>
          </p:cNvPr>
          <p:cNvSpPr txBox="1"/>
          <p:nvPr/>
        </p:nvSpPr>
        <p:spPr>
          <a:xfrm>
            <a:off x="186165" y="4152619"/>
            <a:ext cx="52023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TOPOLOGY AND NETWORK IMPROVEMENT</a:t>
            </a:r>
            <a:endParaRPr lang="en-GB" sz="1600" dirty="0">
              <a:solidFill>
                <a:schemeClr val="bg1">
                  <a:lumMod val="95000"/>
                </a:schemeClr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731344-6D60-B4FB-7018-C8AEF35428AD}"/>
              </a:ext>
            </a:extLst>
          </p:cNvPr>
          <p:cNvSpPr txBox="1"/>
          <p:nvPr/>
        </p:nvSpPr>
        <p:spPr>
          <a:xfrm>
            <a:off x="4270701" y="4857676"/>
            <a:ext cx="301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9543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AD7FC57C-2287-88E4-272D-37D9C7AF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>
            <a:extLst>
              <a:ext uri="{FF2B5EF4-FFF2-40B4-BE49-F238E27FC236}">
                <a16:creationId xmlns:a16="http://schemas.microsoft.com/office/drawing/2014/main" id="{026D960D-A2E8-036D-1D67-8BF6069B5D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4" y="2135225"/>
            <a:ext cx="5492571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METHODOLOGY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9" name="Google Shape;229;p37">
            <a:extLst>
              <a:ext uri="{FF2B5EF4-FFF2-40B4-BE49-F238E27FC236}">
                <a16:creationId xmlns:a16="http://schemas.microsoft.com/office/drawing/2014/main" id="{2A8D3017-7100-ABE9-0693-D94DBCFC13F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275" y="699912"/>
            <a:ext cx="1313100" cy="13167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0" name="Google Shape;230;p37">
            <a:extLst>
              <a:ext uri="{FF2B5EF4-FFF2-40B4-BE49-F238E27FC236}">
                <a16:creationId xmlns:a16="http://schemas.microsoft.com/office/drawing/2014/main" id="{C6BD2396-F9C7-3D74-88AD-FB20FB6B3AA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2375" y="4172049"/>
            <a:ext cx="5217508" cy="622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Getting on with spatial analysis!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31" name="Google Shape;231;p37">
            <a:extLst>
              <a:ext uri="{FF2B5EF4-FFF2-40B4-BE49-F238E27FC236}">
                <a16:creationId xmlns:a16="http://schemas.microsoft.com/office/drawing/2014/main" id="{11D0A63B-4DE5-015E-992A-05064EBAD2B5}"/>
              </a:ext>
            </a:extLst>
          </p:cNvPr>
          <p:cNvCxnSpPr/>
          <p:nvPr/>
        </p:nvCxnSpPr>
        <p:spPr>
          <a:xfrm>
            <a:off x="827275" y="3929438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AC5BDAD-0428-A12C-028D-7C3A035C9162}"/>
              </a:ext>
            </a:extLst>
          </p:cNvPr>
          <p:cNvSpPr txBox="1"/>
          <p:nvPr/>
        </p:nvSpPr>
        <p:spPr>
          <a:xfrm>
            <a:off x="4421350" y="4835723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8026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8E9AF4DA-3688-405F-5164-C2C1EAF7B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>
            <a:extLst>
              <a:ext uri="{FF2B5EF4-FFF2-40B4-BE49-F238E27FC236}">
                <a16:creationId xmlns:a16="http://schemas.microsoft.com/office/drawing/2014/main" id="{55120F59-F6E8-B997-5FCE-AD35536B390F}"/>
              </a:ext>
            </a:extLst>
          </p:cNvPr>
          <p:cNvSpPr/>
          <p:nvPr/>
        </p:nvSpPr>
        <p:spPr>
          <a:xfrm>
            <a:off x="4765322" y="1401564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44">
            <a:extLst>
              <a:ext uri="{FF2B5EF4-FFF2-40B4-BE49-F238E27FC236}">
                <a16:creationId xmlns:a16="http://schemas.microsoft.com/office/drawing/2014/main" id="{23CB969C-6DF9-D033-451D-1D37B4C1D443}"/>
              </a:ext>
            </a:extLst>
          </p:cNvPr>
          <p:cNvSpPr/>
          <p:nvPr/>
        </p:nvSpPr>
        <p:spPr>
          <a:xfrm>
            <a:off x="4765322" y="2525376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44">
            <a:extLst>
              <a:ext uri="{FF2B5EF4-FFF2-40B4-BE49-F238E27FC236}">
                <a16:creationId xmlns:a16="http://schemas.microsoft.com/office/drawing/2014/main" id="{318029F9-0B1D-D317-E8FE-6CBA239B8CF9}"/>
              </a:ext>
            </a:extLst>
          </p:cNvPr>
          <p:cNvSpPr/>
          <p:nvPr/>
        </p:nvSpPr>
        <p:spPr>
          <a:xfrm>
            <a:off x="825072" y="3649188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4">
            <a:extLst>
              <a:ext uri="{FF2B5EF4-FFF2-40B4-BE49-F238E27FC236}">
                <a16:creationId xmlns:a16="http://schemas.microsoft.com/office/drawing/2014/main" id="{384952D2-9FA3-380C-FFDF-54287A17E98E}"/>
              </a:ext>
            </a:extLst>
          </p:cNvPr>
          <p:cNvSpPr/>
          <p:nvPr/>
        </p:nvSpPr>
        <p:spPr>
          <a:xfrm>
            <a:off x="825072" y="1401564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4">
            <a:extLst>
              <a:ext uri="{FF2B5EF4-FFF2-40B4-BE49-F238E27FC236}">
                <a16:creationId xmlns:a16="http://schemas.microsoft.com/office/drawing/2014/main" id="{423BE468-E8E7-64B1-FDF3-E0835A26F66F}"/>
              </a:ext>
            </a:extLst>
          </p:cNvPr>
          <p:cNvSpPr/>
          <p:nvPr/>
        </p:nvSpPr>
        <p:spPr>
          <a:xfrm>
            <a:off x="825072" y="2525376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4">
            <a:extLst>
              <a:ext uri="{FF2B5EF4-FFF2-40B4-BE49-F238E27FC236}">
                <a16:creationId xmlns:a16="http://schemas.microsoft.com/office/drawing/2014/main" id="{6D2A8FDF-EF0F-B1AE-2FCC-E033333DC11D}"/>
              </a:ext>
            </a:extLst>
          </p:cNvPr>
          <p:cNvSpPr/>
          <p:nvPr/>
        </p:nvSpPr>
        <p:spPr>
          <a:xfrm>
            <a:off x="4765322" y="3649188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44">
            <a:extLst>
              <a:ext uri="{FF2B5EF4-FFF2-40B4-BE49-F238E27FC236}">
                <a16:creationId xmlns:a16="http://schemas.microsoft.com/office/drawing/2014/main" id="{21456C18-EA5D-4F12-1E02-BFEE38CE810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668750" y="3906645"/>
            <a:ext cx="26481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Integration &amp;Simplification</a:t>
            </a:r>
            <a:endParaRPr dirty="0"/>
          </a:p>
        </p:txBody>
      </p:sp>
      <p:sp>
        <p:nvSpPr>
          <p:cNvPr id="348" name="Google Shape;348;p44">
            <a:extLst>
              <a:ext uri="{FF2B5EF4-FFF2-40B4-BE49-F238E27FC236}">
                <a16:creationId xmlns:a16="http://schemas.microsoft.com/office/drawing/2014/main" id="{58171C0E-3ECB-BDA8-2A1C-238068F12BC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668750" y="2812320"/>
            <a:ext cx="2329202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Spatial Adjustment</a:t>
            </a:r>
            <a:endParaRPr dirty="0"/>
          </a:p>
        </p:txBody>
      </p:sp>
      <p:sp>
        <p:nvSpPr>
          <p:cNvPr id="351" name="Google Shape;351;p44">
            <a:extLst>
              <a:ext uri="{FF2B5EF4-FFF2-40B4-BE49-F238E27FC236}">
                <a16:creationId xmlns:a16="http://schemas.microsoft.com/office/drawing/2014/main" id="{B3793153-EEDE-8BA4-176D-B841E12AAF49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739500" y="1706344"/>
            <a:ext cx="1735751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Acquisition</a:t>
            </a:r>
            <a:endParaRPr dirty="0"/>
          </a:p>
        </p:txBody>
      </p:sp>
      <p:sp>
        <p:nvSpPr>
          <p:cNvPr id="352" name="Google Shape;352;p44">
            <a:extLst>
              <a:ext uri="{FF2B5EF4-FFF2-40B4-BE49-F238E27FC236}">
                <a16:creationId xmlns:a16="http://schemas.microsoft.com/office/drawing/2014/main" id="{914CD9B7-4B7C-2841-A918-ECF9012A015F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739500" y="2656918"/>
            <a:ext cx="2648100" cy="6494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Attribute Enrichment</a:t>
            </a:r>
            <a:endParaRPr dirty="0"/>
          </a:p>
        </p:txBody>
      </p:sp>
      <p:sp>
        <p:nvSpPr>
          <p:cNvPr id="353" name="Google Shape;353;p44">
            <a:extLst>
              <a:ext uri="{FF2B5EF4-FFF2-40B4-BE49-F238E27FC236}">
                <a16:creationId xmlns:a16="http://schemas.microsoft.com/office/drawing/2014/main" id="{555E2453-FD7B-BB73-9F41-9A1A5B9EA9E2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730579" y="3931029"/>
            <a:ext cx="2353741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Topology Validation</a:t>
            </a:r>
            <a:endParaRPr dirty="0"/>
          </a:p>
        </p:txBody>
      </p:sp>
      <p:sp>
        <p:nvSpPr>
          <p:cNvPr id="354" name="Google Shape;354;p44">
            <a:extLst>
              <a:ext uri="{FF2B5EF4-FFF2-40B4-BE49-F238E27FC236}">
                <a16:creationId xmlns:a16="http://schemas.microsoft.com/office/drawing/2014/main" id="{3F0E100F-98BD-9EEC-11B3-9E8F0DAD5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376279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355" name="Google Shape;355;p44">
            <a:extLst>
              <a:ext uri="{FF2B5EF4-FFF2-40B4-BE49-F238E27FC236}">
                <a16:creationId xmlns:a16="http://schemas.microsoft.com/office/drawing/2014/main" id="{B8A3C0FD-E784-F6CA-3E5D-57386A79585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668750" y="1450332"/>
            <a:ext cx="2648100" cy="632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Standardization</a:t>
            </a:r>
            <a:endParaRPr dirty="0"/>
          </a:p>
        </p:txBody>
      </p:sp>
      <p:cxnSp>
        <p:nvCxnSpPr>
          <p:cNvPr id="357" name="Google Shape;357;p44">
            <a:extLst>
              <a:ext uri="{FF2B5EF4-FFF2-40B4-BE49-F238E27FC236}">
                <a16:creationId xmlns:a16="http://schemas.microsoft.com/office/drawing/2014/main" id="{FB6EC835-DBD5-9B16-33F8-FB55C2837AC2}"/>
              </a:ext>
            </a:extLst>
          </p:cNvPr>
          <p:cNvCxnSpPr>
            <a:cxnSpLocks/>
          </p:cNvCxnSpPr>
          <p:nvPr/>
        </p:nvCxnSpPr>
        <p:spPr>
          <a:xfrm>
            <a:off x="825075" y="1095888"/>
            <a:ext cx="3562525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54;p44">
            <a:extLst>
              <a:ext uri="{FF2B5EF4-FFF2-40B4-BE49-F238E27FC236}">
                <a16:creationId xmlns:a16="http://schemas.microsoft.com/office/drawing/2014/main" id="{50A4DF56-4474-7916-124A-F993259D8171}"/>
              </a:ext>
            </a:extLst>
          </p:cNvPr>
          <p:cNvSpPr txBox="1">
            <a:spLocks/>
          </p:cNvSpPr>
          <p:nvPr/>
        </p:nvSpPr>
        <p:spPr>
          <a:xfrm>
            <a:off x="960369" y="1390963"/>
            <a:ext cx="536706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GB" sz="40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" name="Google Shape;354;p44">
            <a:extLst>
              <a:ext uri="{FF2B5EF4-FFF2-40B4-BE49-F238E27FC236}">
                <a16:creationId xmlns:a16="http://schemas.microsoft.com/office/drawing/2014/main" id="{B055F00A-FCD7-AF25-78AD-73E772377D38}"/>
              </a:ext>
            </a:extLst>
          </p:cNvPr>
          <p:cNvSpPr txBox="1">
            <a:spLocks/>
          </p:cNvSpPr>
          <p:nvPr/>
        </p:nvSpPr>
        <p:spPr>
          <a:xfrm>
            <a:off x="960369" y="2525376"/>
            <a:ext cx="536706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4000" dirty="0">
                <a:solidFill>
                  <a:schemeClr val="tx1"/>
                </a:solidFill>
              </a:rPr>
              <a:t>C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5" name="Google Shape;354;p44">
            <a:extLst>
              <a:ext uri="{FF2B5EF4-FFF2-40B4-BE49-F238E27FC236}">
                <a16:creationId xmlns:a16="http://schemas.microsoft.com/office/drawing/2014/main" id="{67AFA077-8793-F3BC-B1CF-DCCD8D1A3131}"/>
              </a:ext>
            </a:extLst>
          </p:cNvPr>
          <p:cNvSpPr txBox="1">
            <a:spLocks/>
          </p:cNvSpPr>
          <p:nvPr/>
        </p:nvSpPr>
        <p:spPr>
          <a:xfrm>
            <a:off x="960369" y="3649188"/>
            <a:ext cx="536706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GB" sz="40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" name="Google Shape;354;p44">
            <a:extLst>
              <a:ext uri="{FF2B5EF4-FFF2-40B4-BE49-F238E27FC236}">
                <a16:creationId xmlns:a16="http://schemas.microsoft.com/office/drawing/2014/main" id="{773D494B-C503-3FD4-BDBD-1495A8B2443B}"/>
              </a:ext>
            </a:extLst>
          </p:cNvPr>
          <p:cNvSpPr txBox="1">
            <a:spLocks/>
          </p:cNvSpPr>
          <p:nvPr/>
        </p:nvSpPr>
        <p:spPr>
          <a:xfrm>
            <a:off x="4936011" y="1420465"/>
            <a:ext cx="526006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GB" sz="40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Google Shape;354;p44">
            <a:extLst>
              <a:ext uri="{FF2B5EF4-FFF2-40B4-BE49-F238E27FC236}">
                <a16:creationId xmlns:a16="http://schemas.microsoft.com/office/drawing/2014/main" id="{C95C1B8D-84CA-C4C4-B5A3-CBA1D7B21426}"/>
              </a:ext>
            </a:extLst>
          </p:cNvPr>
          <p:cNvSpPr txBox="1">
            <a:spLocks/>
          </p:cNvSpPr>
          <p:nvPr/>
        </p:nvSpPr>
        <p:spPr>
          <a:xfrm>
            <a:off x="4900618" y="2525376"/>
            <a:ext cx="536706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4000" dirty="0">
                <a:solidFill>
                  <a:schemeClr val="tx1"/>
                </a:solidFill>
              </a:rPr>
              <a:t>D</a:t>
            </a:r>
            <a:endParaRPr lang="en-GB" sz="4000" dirty="0">
              <a:solidFill>
                <a:schemeClr val="tx1"/>
              </a:solidFill>
            </a:endParaRPr>
          </a:p>
        </p:txBody>
      </p:sp>
      <p:sp>
        <p:nvSpPr>
          <p:cNvPr id="8" name="Google Shape;354;p44">
            <a:extLst>
              <a:ext uri="{FF2B5EF4-FFF2-40B4-BE49-F238E27FC236}">
                <a16:creationId xmlns:a16="http://schemas.microsoft.com/office/drawing/2014/main" id="{F000A52B-3DBD-D2B6-9E2B-8599A76A462B}"/>
              </a:ext>
            </a:extLst>
          </p:cNvPr>
          <p:cNvSpPr txBox="1">
            <a:spLocks/>
          </p:cNvSpPr>
          <p:nvPr/>
        </p:nvSpPr>
        <p:spPr>
          <a:xfrm>
            <a:off x="4900618" y="3649188"/>
            <a:ext cx="536706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GB" sz="40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1A9CB-DA38-BAFF-941C-9DB74B1FF59A}"/>
              </a:ext>
            </a:extLst>
          </p:cNvPr>
          <p:cNvSpPr txBox="1"/>
          <p:nvPr/>
        </p:nvSpPr>
        <p:spPr>
          <a:xfrm>
            <a:off x="4421350" y="4835723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16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277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E2F1B8BA-CEB0-7A34-BE0E-1631B779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8;p34">
            <a:extLst>
              <a:ext uri="{FF2B5EF4-FFF2-40B4-BE49-F238E27FC236}">
                <a16:creationId xmlns:a16="http://schemas.microsoft.com/office/drawing/2014/main" id="{6D5EF55F-B98F-4E5D-274E-04DF9648EB19}"/>
              </a:ext>
            </a:extLst>
          </p:cNvPr>
          <p:cNvSpPr txBox="1">
            <a:spLocks/>
          </p:cNvSpPr>
          <p:nvPr/>
        </p:nvSpPr>
        <p:spPr>
          <a:xfrm>
            <a:off x="2862312" y="83819"/>
            <a:ext cx="6072842" cy="17856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Utilized OpenStreetMap (OSM) as the primary data source for road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Extracted primary, secondary, and trunk roads data using QGIS tools i.e. the HCMGIS plugin.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FBC4C3-49CB-4B4A-410D-1360986F7660}"/>
              </a:ext>
            </a:extLst>
          </p:cNvPr>
          <p:cNvSpPr/>
          <p:nvPr/>
        </p:nvSpPr>
        <p:spPr>
          <a:xfrm>
            <a:off x="915309" y="0"/>
            <a:ext cx="1798320" cy="5143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BAE0C3FD-BB1F-16E0-94D9-5FC449CC69FF}"/>
              </a:ext>
            </a:extLst>
          </p:cNvPr>
          <p:cNvSpPr txBox="1">
            <a:spLocks/>
          </p:cNvSpPr>
          <p:nvPr/>
        </p:nvSpPr>
        <p:spPr>
          <a:xfrm>
            <a:off x="130231" y="83819"/>
            <a:ext cx="636395" cy="4951477"/>
          </a:xfrm>
          <a:prstGeom prst="rect">
            <a:avLst/>
          </a:prstGeom>
          <a:noFill/>
          <a:ln>
            <a:noFill/>
          </a:ln>
        </p:spPr>
        <p:txBody>
          <a:bodyPr spcFirstLastPara="1" vert="vert270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ctr"/>
            <a:r>
              <a:rPr lang="en-GB" sz="4400" dirty="0">
                <a:solidFill>
                  <a:schemeClr val="tx1"/>
                </a:solidFill>
              </a:rPr>
              <a:t>METHODOLOGY</a:t>
            </a:r>
          </a:p>
        </p:txBody>
      </p:sp>
      <p:sp>
        <p:nvSpPr>
          <p:cNvPr id="4" name="Google Shape;228;p37">
            <a:extLst>
              <a:ext uri="{FF2B5EF4-FFF2-40B4-BE49-F238E27FC236}">
                <a16:creationId xmlns:a16="http://schemas.microsoft.com/office/drawing/2014/main" id="{393C301D-2D68-FB1E-F19B-071F36C977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3162" y="553602"/>
            <a:ext cx="2057996" cy="3477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 ACQUISITION</a:t>
            </a:r>
            <a:endParaRPr sz="1800" dirty="0"/>
          </a:p>
        </p:txBody>
      </p:sp>
      <p:sp>
        <p:nvSpPr>
          <p:cNvPr id="5" name="Google Shape;228;p37">
            <a:extLst>
              <a:ext uri="{FF2B5EF4-FFF2-40B4-BE49-F238E27FC236}">
                <a16:creationId xmlns:a16="http://schemas.microsoft.com/office/drawing/2014/main" id="{B8548DD5-0D8C-3B47-9786-A9D7D0BA1C59}"/>
              </a:ext>
            </a:extLst>
          </p:cNvPr>
          <p:cNvSpPr txBox="1">
            <a:spLocks/>
          </p:cNvSpPr>
          <p:nvPr/>
        </p:nvSpPr>
        <p:spPr>
          <a:xfrm>
            <a:off x="1013162" y="1747671"/>
            <a:ext cx="157200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GB" sz="1800" dirty="0"/>
              <a:t>DATA STANDRADIZATION</a:t>
            </a:r>
          </a:p>
        </p:txBody>
      </p:sp>
      <p:sp>
        <p:nvSpPr>
          <p:cNvPr id="7" name="Google Shape;228;p37">
            <a:extLst>
              <a:ext uri="{FF2B5EF4-FFF2-40B4-BE49-F238E27FC236}">
                <a16:creationId xmlns:a16="http://schemas.microsoft.com/office/drawing/2014/main" id="{FE2CBF94-7225-389D-3D6E-E1F224DAF753}"/>
              </a:ext>
            </a:extLst>
          </p:cNvPr>
          <p:cNvSpPr txBox="1">
            <a:spLocks/>
          </p:cNvSpPr>
          <p:nvPr/>
        </p:nvSpPr>
        <p:spPr>
          <a:xfrm>
            <a:off x="989650" y="2431316"/>
            <a:ext cx="1798320" cy="470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GB" sz="1800" dirty="0"/>
              <a:t>ATTRIBUTE ENRICHMENT</a:t>
            </a:r>
          </a:p>
        </p:txBody>
      </p:sp>
      <p:sp>
        <p:nvSpPr>
          <p:cNvPr id="8" name="Google Shape;228;p37">
            <a:extLst>
              <a:ext uri="{FF2B5EF4-FFF2-40B4-BE49-F238E27FC236}">
                <a16:creationId xmlns:a16="http://schemas.microsoft.com/office/drawing/2014/main" id="{9B4566AA-7818-50CE-9911-5F6FC44283D7}"/>
              </a:ext>
            </a:extLst>
          </p:cNvPr>
          <p:cNvSpPr txBox="1">
            <a:spLocks/>
          </p:cNvSpPr>
          <p:nvPr/>
        </p:nvSpPr>
        <p:spPr>
          <a:xfrm>
            <a:off x="985785" y="2938272"/>
            <a:ext cx="1798320" cy="75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1800" dirty="0"/>
              <a:t>S</a:t>
            </a:r>
            <a:r>
              <a:rPr lang="en-GB" sz="1800" dirty="0"/>
              <a:t>PATIAL ADJUSTMENT</a:t>
            </a:r>
          </a:p>
        </p:txBody>
      </p:sp>
      <p:sp>
        <p:nvSpPr>
          <p:cNvPr id="9" name="Google Shape;228;p37">
            <a:extLst>
              <a:ext uri="{FF2B5EF4-FFF2-40B4-BE49-F238E27FC236}">
                <a16:creationId xmlns:a16="http://schemas.microsoft.com/office/drawing/2014/main" id="{5A0F2AB3-08FB-AD59-D0E7-2812B4AD71DD}"/>
              </a:ext>
            </a:extLst>
          </p:cNvPr>
          <p:cNvSpPr txBox="1">
            <a:spLocks/>
          </p:cNvSpPr>
          <p:nvPr/>
        </p:nvSpPr>
        <p:spPr>
          <a:xfrm>
            <a:off x="915309" y="4650858"/>
            <a:ext cx="1868796" cy="38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1800" dirty="0"/>
              <a:t>I</a:t>
            </a:r>
            <a:r>
              <a:rPr lang="en-GB" sz="1800" dirty="0"/>
              <a:t>NTEGRATION &amp; SIMPLIFICATION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80568-639C-ADCD-AFC3-9AF4D417778C}"/>
              </a:ext>
            </a:extLst>
          </p:cNvPr>
          <p:cNvSpPr txBox="1"/>
          <p:nvPr/>
        </p:nvSpPr>
        <p:spPr>
          <a:xfrm>
            <a:off x="2874010" y="1247622"/>
            <a:ext cx="6151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Development of a File Geodatabase for standardization of data formats.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Establishment o</a:t>
            </a:r>
            <a:r>
              <a:rPr lang="en-GB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f naming conventions i.e. Translation of road names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329F36-CAF8-6270-8714-C2125757BF76}"/>
              </a:ext>
            </a:extLst>
          </p:cNvPr>
          <p:cNvSpPr txBox="1"/>
          <p:nvPr/>
        </p:nvSpPr>
        <p:spPr>
          <a:xfrm>
            <a:off x="2862312" y="2359494"/>
            <a:ext cx="6151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GB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ross referencing of data using updated and reliable sources such as Google Maps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3ACB69-458A-1A6E-7ED4-20D3F48734D0}"/>
              </a:ext>
            </a:extLst>
          </p:cNvPr>
          <p:cNvSpPr txBox="1"/>
          <p:nvPr/>
        </p:nvSpPr>
        <p:spPr>
          <a:xfrm>
            <a:off x="2862312" y="3122360"/>
            <a:ext cx="5771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Alignment of road features with updated, high-resolution Google’s Basemaps to enhance positional accuracy.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13964C-841F-8B2B-0D4E-381A4DC65BC3}"/>
              </a:ext>
            </a:extLst>
          </p:cNvPr>
          <p:cNvSpPr txBox="1"/>
          <p:nvPr/>
        </p:nvSpPr>
        <p:spPr>
          <a:xfrm>
            <a:off x="2862311" y="4127638"/>
            <a:ext cx="5771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Merged redundant road segments and streamlined the dataset to develop a seamless and navigable road network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3BF6E8-D309-0E7F-B086-8EF687154230}"/>
              </a:ext>
            </a:extLst>
          </p:cNvPr>
          <p:cNvSpPr txBox="1"/>
          <p:nvPr/>
        </p:nvSpPr>
        <p:spPr>
          <a:xfrm>
            <a:off x="4421350" y="4835723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6604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8176A5ED-BBAA-F970-C517-01E564A8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>
            <a:extLst>
              <a:ext uri="{FF2B5EF4-FFF2-40B4-BE49-F238E27FC236}">
                <a16:creationId xmlns:a16="http://schemas.microsoft.com/office/drawing/2014/main" id="{13DA69D7-BDA5-5EBC-A23C-42717E7840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4" y="2135225"/>
            <a:ext cx="5492571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RESULTS AND DISCUSSION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9" name="Google Shape;229;p37">
            <a:extLst>
              <a:ext uri="{FF2B5EF4-FFF2-40B4-BE49-F238E27FC236}">
                <a16:creationId xmlns:a16="http://schemas.microsoft.com/office/drawing/2014/main" id="{CF4BC2C2-86A1-639D-0521-AE00549F4A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275" y="699912"/>
            <a:ext cx="1313100" cy="13167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06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0" name="Google Shape;230;p37">
            <a:extLst>
              <a:ext uri="{FF2B5EF4-FFF2-40B4-BE49-F238E27FC236}">
                <a16:creationId xmlns:a16="http://schemas.microsoft.com/office/drawing/2014/main" id="{9C3DB7A9-2FD5-99C5-9C21-37B959408F0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2375" y="4172049"/>
            <a:ext cx="5217508" cy="622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Getting on with spatial analysis!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31" name="Google Shape;231;p37">
            <a:extLst>
              <a:ext uri="{FF2B5EF4-FFF2-40B4-BE49-F238E27FC236}">
                <a16:creationId xmlns:a16="http://schemas.microsoft.com/office/drawing/2014/main" id="{BB6DF545-5041-C990-E642-EBC0E255A82A}"/>
              </a:ext>
            </a:extLst>
          </p:cNvPr>
          <p:cNvCxnSpPr/>
          <p:nvPr/>
        </p:nvCxnSpPr>
        <p:spPr>
          <a:xfrm>
            <a:off x="827275" y="3929438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E3065A-D041-3077-9AD8-9DF1A7637692}"/>
              </a:ext>
            </a:extLst>
          </p:cNvPr>
          <p:cNvSpPr txBox="1"/>
          <p:nvPr/>
        </p:nvSpPr>
        <p:spPr>
          <a:xfrm>
            <a:off x="4421350" y="4835723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07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98905-F34A-760A-03D3-B8FF2A435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Punjab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BF49D4-4A8E-5AE9-B083-65E48A922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411" y="697125"/>
            <a:ext cx="5426291" cy="419382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0B7A11-EEEB-ACCD-1F9A-94C700369435}"/>
              </a:ext>
            </a:extLst>
          </p:cNvPr>
          <p:cNvSpPr/>
          <p:nvPr/>
        </p:nvSpPr>
        <p:spPr>
          <a:xfrm>
            <a:off x="799373" y="1501865"/>
            <a:ext cx="1342935" cy="501105"/>
          </a:xfrm>
          <a:prstGeom prst="roundRect">
            <a:avLst/>
          </a:prstGeom>
          <a:solidFill>
            <a:srgbClr val="70AD47">
              <a:lumMod val="75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 Roads 23000</a:t>
            </a:r>
            <a:endParaRPr kumimoji="0" lang="en-US" sz="1200" b="0" i="0" u="none" strike="noStrike" kern="1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ED5078-7A11-274F-3FB2-B858DCC5CEA1}"/>
              </a:ext>
            </a:extLst>
          </p:cNvPr>
          <p:cNvSpPr/>
          <p:nvPr/>
        </p:nvSpPr>
        <p:spPr>
          <a:xfrm>
            <a:off x="799373" y="2648406"/>
            <a:ext cx="1342935" cy="492125"/>
          </a:xfrm>
          <a:prstGeom prst="roundRect">
            <a:avLst/>
          </a:prstGeom>
          <a:solidFill>
            <a:srgbClr val="70AD47">
              <a:lumMod val="75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Refined Roads 2415</a:t>
            </a:r>
            <a:endParaRPr kumimoji="0" lang="en-US" sz="1200" b="0" i="0" u="none" strike="noStrike" kern="1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975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26413-C541-5DCD-5B02-1D9F645E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0E77-9158-54BF-8918-5203CA48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Sindh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C523E-5538-E9ED-9732-F6B40C2D52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56411" y="697125"/>
            <a:ext cx="5426290" cy="419382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ADF037-B29C-30DC-8E7C-328B7EAE0A28}"/>
              </a:ext>
            </a:extLst>
          </p:cNvPr>
          <p:cNvSpPr/>
          <p:nvPr/>
        </p:nvSpPr>
        <p:spPr>
          <a:xfrm>
            <a:off x="861299" y="1362528"/>
            <a:ext cx="1111250" cy="485140"/>
          </a:xfrm>
          <a:prstGeom prst="roundRect">
            <a:avLst/>
          </a:prstGeom>
          <a:solidFill>
            <a:srgbClr val="70AD47">
              <a:lumMod val="50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 Roads </a:t>
            </a:r>
            <a:r>
              <a:rPr lang="en-US" sz="1100" kern="100" dirty="0">
                <a:solidFill>
                  <a:sysClr val="window" lastClr="FFFF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9000</a:t>
            </a:r>
            <a:endParaRPr kumimoji="0" lang="en-US" sz="1200" b="0" i="0" u="none" strike="noStrike" kern="1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EEEEC9-8D6F-16BF-D910-7DD2B3A800FF}"/>
              </a:ext>
            </a:extLst>
          </p:cNvPr>
          <p:cNvSpPr/>
          <p:nvPr/>
        </p:nvSpPr>
        <p:spPr>
          <a:xfrm>
            <a:off x="868284" y="2467380"/>
            <a:ext cx="1104265" cy="506095"/>
          </a:xfrm>
          <a:prstGeom prst="roundRect">
            <a:avLst/>
          </a:prstGeom>
          <a:solidFill>
            <a:srgbClr val="70AD47">
              <a:lumMod val="50000"/>
            </a:srgbClr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1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Refined Roads 2200</a:t>
            </a:r>
            <a:endParaRPr lang="en-US" sz="1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552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6F15C-7F2E-477A-9EE1-FB7B0106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70585-8D6E-E5A0-2E5B-FEF90545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Balochistan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99DBAF-7FC9-CB5B-8F06-4455B0052B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55689" y="759900"/>
            <a:ext cx="5350332" cy="413512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685A94-B120-EBD6-B12F-6F0AB8C1F0E0}"/>
              </a:ext>
            </a:extLst>
          </p:cNvPr>
          <p:cNvSpPr/>
          <p:nvPr/>
        </p:nvSpPr>
        <p:spPr>
          <a:xfrm>
            <a:off x="929745" y="2571750"/>
            <a:ext cx="1369318" cy="534035"/>
          </a:xfrm>
          <a:prstGeom prst="round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</a:pPr>
            <a:r>
              <a:rPr lang="en-US" sz="1200" kern="1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Refined Roads   200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BA7656-6677-3015-10E9-F8DB57655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45" y="1433362"/>
            <a:ext cx="1333569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58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C90DE-7834-C6A2-9BDB-E69E15A1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E791-1429-7B0A-83E7-38AF5C15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46" y="503522"/>
            <a:ext cx="7704000" cy="592200"/>
          </a:xfrm>
        </p:spPr>
        <p:txBody>
          <a:bodyPr/>
          <a:lstStyle/>
          <a:p>
            <a:r>
              <a:rPr lang="en-US" sz="3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Azad Kashmir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314230-037F-85CD-74E0-88F29C3ED8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76717" y="853440"/>
            <a:ext cx="5229303" cy="40415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F9C2FB-4C21-7C8D-A3ED-8E1C665DD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96" y="1442888"/>
            <a:ext cx="1276416" cy="533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7EF225-9B5C-ED12-F846-102161B39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196" y="2461943"/>
            <a:ext cx="1276416" cy="53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5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9C43E-EF3B-19ED-3FA5-E486F68B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857C-EA9A-85E4-895F-8D3E4749B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48481"/>
            <a:ext cx="7718605" cy="847241"/>
          </a:xfrm>
        </p:spPr>
        <p:txBody>
          <a:bodyPr/>
          <a:lstStyle/>
          <a:p>
            <a:r>
              <a:rPr lang="en-US" sz="3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Khyber Pakhtunkhwa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1D636E-7E4C-8D8A-5B78-B091872DA5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76717" y="853440"/>
            <a:ext cx="5229302" cy="4041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7B1B3B-3396-CED4-C7E2-125EA646C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96" y="1207303"/>
            <a:ext cx="1143059" cy="571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B14292-88CD-7F72-A59C-6640D829D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196" y="2569413"/>
            <a:ext cx="1143059" cy="6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91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C71CE-6EF2-09F7-B6AE-8FF3ECDA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444D-CD3E-6975-8F57-88C8AA05E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48481"/>
            <a:ext cx="7718605" cy="847241"/>
          </a:xfrm>
        </p:spPr>
        <p:txBody>
          <a:bodyPr/>
          <a:lstStyle/>
          <a:p>
            <a:r>
              <a:rPr lang="en-US" sz="36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Gilgit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24FBA6-1125-0E1E-5240-E3D4D604E8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76717" y="853440"/>
            <a:ext cx="5229302" cy="40415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2966D1-FA73-4343-EC07-A40FE43CE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96" y="1318190"/>
            <a:ext cx="1061210" cy="6096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59A846-5BF8-015B-42FC-6F60BCBC9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857" y="2720355"/>
            <a:ext cx="1061210" cy="55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65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DEEB1E0E-4F86-27B7-AEB0-1C2C350B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D2C8B104-D354-3452-C6BF-0CB1D0E332DC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2564441" cy="706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Results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30DB8-D5B5-3DFB-3A58-B15CE5A70EF9}"/>
              </a:ext>
            </a:extLst>
          </p:cNvPr>
          <p:cNvSpPr txBox="1"/>
          <p:nvPr/>
        </p:nvSpPr>
        <p:spPr>
          <a:xfrm>
            <a:off x="8740589" y="4835723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23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9E94E-4808-B9DD-256E-138C6EA4EC17}"/>
              </a:ext>
            </a:extLst>
          </p:cNvPr>
          <p:cNvSpPr txBox="1"/>
          <p:nvPr/>
        </p:nvSpPr>
        <p:spPr>
          <a:xfrm>
            <a:off x="357510" y="743415"/>
            <a:ext cx="322446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Balochistan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Initial Road Segments: </a:t>
            </a:r>
            <a:r>
              <a:rPr lang="en-US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2500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Remaining Road Segments (after merging and editing): 200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Sindh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Initial Road Segments: 15,000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Remaining Road Segments: </a:t>
            </a:r>
            <a:r>
              <a:rPr lang="en-US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2200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Punjab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Initial Road Segments: 23,000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Remaining Road Segments: </a:t>
            </a:r>
            <a:r>
              <a:rPr lang="en-US" dirty="0">
                <a:solidFill>
                  <a:schemeClr val="accent2">
                    <a:lumMod val="10000"/>
                  </a:schemeClr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2415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Azad Jammu and Kashmir (AJK):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Initial Road Segments: 550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Remaining Road Segments: 173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Khyber Pakhtunkhwa (KPK):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Initial Road Segments: 3,000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Remaining Road Segments: 1,000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Gilgit-Baltistan: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Initial Road Segments: 650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Remaining Road Segments: 119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pic>
        <p:nvPicPr>
          <p:cNvPr id="8" name="Picture 7" descr="A map of roads and highways">
            <a:extLst>
              <a:ext uri="{FF2B5EF4-FFF2-40B4-BE49-F238E27FC236}">
                <a16:creationId xmlns:a16="http://schemas.microsoft.com/office/drawing/2014/main" id="{007D17BB-44CA-B89F-E9F6-D526448DA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633" y="418011"/>
            <a:ext cx="5620118" cy="434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41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4617C7B4-BEDB-3798-587C-04535D863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C974E40B-24BD-B2DF-F481-D4D8FAD2DC76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4393528" cy="706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Spatial Alignment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5FE9DA-5456-9875-8578-53F4F3E9303C}"/>
              </a:ext>
            </a:extLst>
          </p:cNvPr>
          <p:cNvSpPr txBox="1"/>
          <p:nvPr/>
        </p:nvSpPr>
        <p:spPr>
          <a:xfrm>
            <a:off x="8740589" y="4835723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23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FA5B9-076F-9710-4EBD-AE6E4DEC7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59" y="1746198"/>
            <a:ext cx="4393528" cy="2165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E56DDD-C21F-4E4A-BEFE-94CFE8574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256" y="1746198"/>
            <a:ext cx="4073683" cy="232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27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3163BA90-4A71-78BF-CB73-264B3E434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C238DB27-6961-9579-13D5-9ECEC1A2B7F8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5073889" cy="706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Attribute Enrichment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48C7B3-3647-2FC6-490A-617B78D3CD26}"/>
              </a:ext>
            </a:extLst>
          </p:cNvPr>
          <p:cNvSpPr txBox="1"/>
          <p:nvPr/>
        </p:nvSpPr>
        <p:spPr>
          <a:xfrm>
            <a:off x="8740589" y="4835723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23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E42627-159D-C5BF-16D2-E3BE24E77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04" y="1314240"/>
            <a:ext cx="8813991" cy="261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036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27D3B6C7-0B8B-E52B-4B84-DC287C9F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>
            <a:extLst>
              <a:ext uri="{FF2B5EF4-FFF2-40B4-BE49-F238E27FC236}">
                <a16:creationId xmlns:a16="http://schemas.microsoft.com/office/drawing/2014/main" id="{AEFCC49F-0C57-3124-3864-4C6CB37FD9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4" y="2135225"/>
            <a:ext cx="5492571" cy="16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CONCLUSION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9" name="Google Shape;229;p37">
            <a:extLst>
              <a:ext uri="{FF2B5EF4-FFF2-40B4-BE49-F238E27FC236}">
                <a16:creationId xmlns:a16="http://schemas.microsoft.com/office/drawing/2014/main" id="{E06D9431-A3F8-6FC8-0D61-3526805A49F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275" y="699912"/>
            <a:ext cx="1313100" cy="13167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06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0" name="Google Shape;230;p37">
            <a:extLst>
              <a:ext uri="{FF2B5EF4-FFF2-40B4-BE49-F238E27FC236}">
                <a16:creationId xmlns:a16="http://schemas.microsoft.com/office/drawing/2014/main" id="{64E0A5BD-F868-D66D-4402-89740E978EE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2375" y="4172049"/>
            <a:ext cx="5217508" cy="622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Getting on with spatial analysis!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31" name="Google Shape;231;p37">
            <a:extLst>
              <a:ext uri="{FF2B5EF4-FFF2-40B4-BE49-F238E27FC236}">
                <a16:creationId xmlns:a16="http://schemas.microsoft.com/office/drawing/2014/main" id="{BD51C573-6C53-8356-5A06-B605A3FFAFCF}"/>
              </a:ext>
            </a:extLst>
          </p:cNvPr>
          <p:cNvCxnSpPr/>
          <p:nvPr/>
        </p:nvCxnSpPr>
        <p:spPr>
          <a:xfrm>
            <a:off x="827275" y="3929438"/>
            <a:ext cx="20457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7FDABF3-4844-52A9-68A1-5A596D77BBE5}"/>
              </a:ext>
            </a:extLst>
          </p:cNvPr>
          <p:cNvSpPr txBox="1"/>
          <p:nvPr/>
        </p:nvSpPr>
        <p:spPr>
          <a:xfrm>
            <a:off x="4347992" y="4783684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2779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93">
          <a:extLst>
            <a:ext uri="{FF2B5EF4-FFF2-40B4-BE49-F238E27FC236}">
              <a16:creationId xmlns:a16="http://schemas.microsoft.com/office/drawing/2014/main" id="{98CBAFA9-AAFD-3167-00D5-8A0711A5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4;p49">
            <a:extLst>
              <a:ext uri="{FF2B5EF4-FFF2-40B4-BE49-F238E27FC236}">
                <a16:creationId xmlns:a16="http://schemas.microsoft.com/office/drawing/2014/main" id="{3DF9A2C7-9919-C675-242F-D5195926DD88}"/>
              </a:ext>
            </a:extLst>
          </p:cNvPr>
          <p:cNvSpPr txBox="1">
            <a:spLocks/>
          </p:cNvSpPr>
          <p:nvPr/>
        </p:nvSpPr>
        <p:spPr>
          <a:xfrm>
            <a:off x="0" y="37171"/>
            <a:ext cx="2564441" cy="706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lt1"/>
                </a:solidFill>
                <a:latin typeface="Outfit Black"/>
                <a:ea typeface="Outfit Black"/>
                <a:cs typeface="Outfit Black"/>
                <a:sym typeface="Outfit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edoka One"/>
              <a:buNone/>
              <a:defRPr sz="2600" b="0" i="0" u="none" strike="noStrike" cap="none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Conclusion</a:t>
            </a:r>
            <a:endParaRPr lang="en-GB" sz="3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F4E6C-AC11-329B-09BF-9D33D47A112E}"/>
              </a:ext>
            </a:extLst>
          </p:cNvPr>
          <p:cNvSpPr txBox="1"/>
          <p:nvPr/>
        </p:nvSpPr>
        <p:spPr>
          <a:xfrm>
            <a:off x="811696" y="1148486"/>
            <a:ext cx="6964142" cy="3281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These results highlight the effectiveness of the merging and editing process in reducing redundancy and enhancing the dataset's accuracy.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The reduction in road segments represents a cleaner, more reliable network that is well-suited for integration into the National Spatial Data Infrastructure (NSDI).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The refined road network dataset has been streamlined, accurate, and ready for deployment in the NSDI framework.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This enhanced dataset supports seamless geospatial analysis and ensures stakeholders can access reliable data for decision-making.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The methodology demonstrated here can serve as a model for similar geospatial data refinement projects in other regions.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1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DFD5B8-ECB8-BFCB-A27B-45282E4AFA98}"/>
              </a:ext>
            </a:extLst>
          </p:cNvPr>
          <p:cNvSpPr txBox="1"/>
          <p:nvPr/>
        </p:nvSpPr>
        <p:spPr>
          <a:xfrm>
            <a:off x="4347992" y="4783684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6962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CF8BF184-4F1A-0949-E4CA-95D053859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67;p57">
            <a:extLst>
              <a:ext uri="{FF2B5EF4-FFF2-40B4-BE49-F238E27FC236}">
                <a16:creationId xmlns:a16="http://schemas.microsoft.com/office/drawing/2014/main" id="{6B6227C7-F9C7-5C16-F9AB-55948B90FA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825" y="1346390"/>
            <a:ext cx="3849600" cy="9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7" name="Google Shape;868;p57">
            <a:extLst>
              <a:ext uri="{FF2B5EF4-FFF2-40B4-BE49-F238E27FC236}">
                <a16:creationId xmlns:a16="http://schemas.microsoft.com/office/drawing/2014/main" id="{DB17B045-503C-49B5-5C09-BB891C4AEC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7825" y="2441243"/>
            <a:ext cx="3849600" cy="10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 you have any questions?</a:t>
            </a:r>
            <a:endParaRPr b="1" dirty="0"/>
          </a:p>
        </p:txBody>
      </p:sp>
      <p:cxnSp>
        <p:nvCxnSpPr>
          <p:cNvPr id="8" name="Google Shape;869;p57">
            <a:extLst>
              <a:ext uri="{FF2B5EF4-FFF2-40B4-BE49-F238E27FC236}">
                <a16:creationId xmlns:a16="http://schemas.microsoft.com/office/drawing/2014/main" id="{72DF1609-7AF3-0986-ED02-0A53C93A8E54}"/>
              </a:ext>
            </a:extLst>
          </p:cNvPr>
          <p:cNvCxnSpPr/>
          <p:nvPr/>
        </p:nvCxnSpPr>
        <p:spPr>
          <a:xfrm>
            <a:off x="822725" y="2343000"/>
            <a:ext cx="2796900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C0608DC-413D-D0D4-EC8D-D5BDA07BFD14}"/>
              </a:ext>
            </a:extLst>
          </p:cNvPr>
          <p:cNvSpPr txBox="1"/>
          <p:nvPr/>
        </p:nvSpPr>
        <p:spPr>
          <a:xfrm>
            <a:off x="4347992" y="4783684"/>
            <a:ext cx="44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31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410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opolitic Conference by Slidesgo">
  <a:themeElements>
    <a:clrScheme name="Simple Light">
      <a:dk1>
        <a:srgbClr val="092E4B"/>
      </a:dk1>
      <a:lt1>
        <a:srgbClr val="FFFFFF"/>
      </a:lt1>
      <a:dk2>
        <a:srgbClr val="52A9D4"/>
      </a:dk2>
      <a:lt2>
        <a:srgbClr val="06BB8A"/>
      </a:lt2>
      <a:accent1>
        <a:srgbClr val="577D90"/>
      </a:accent1>
      <a:accent2>
        <a:srgbClr val="CFCFCF"/>
      </a:accent2>
      <a:accent3>
        <a:srgbClr val="979797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14674E-A938-4936-877E-1B00CCEAD763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766</Words>
  <Application>Microsoft Office PowerPoint</Application>
  <PresentationFormat>On-screen Show (16:9)</PresentationFormat>
  <Paragraphs>159</Paragraphs>
  <Slides>27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Lato</vt:lpstr>
      <vt:lpstr>Fredoka One</vt:lpstr>
      <vt:lpstr>Calibri</vt:lpstr>
      <vt:lpstr>Outfit Black</vt:lpstr>
      <vt:lpstr>Helvetica</vt:lpstr>
      <vt:lpstr>Times New Roman</vt:lpstr>
      <vt:lpstr>Arial</vt:lpstr>
      <vt:lpstr>Geopolitic Conference by Slidesgo</vt:lpstr>
      <vt:lpstr>Developing a National SDI for Pakistan: A Case Study on Road Network Digitization</vt:lpstr>
      <vt:lpstr>Presented By:</vt:lpstr>
      <vt:lpstr>Outlines</vt:lpstr>
      <vt:lpstr>Introduction to SDI!</vt:lpstr>
      <vt:lpstr>Importance of SDI</vt:lpstr>
      <vt:lpstr>RATIONALE</vt:lpstr>
      <vt:lpstr>Pakistan’s Need  for SDI</vt:lpstr>
      <vt:lpstr>CASE STUDY</vt:lpstr>
      <vt:lpstr>CASE STUDY</vt:lpstr>
      <vt:lpstr>OBJECTIVES</vt:lpstr>
      <vt:lpstr>OBJECTIVES</vt:lpstr>
      <vt:lpstr>METHODOLOGY</vt:lpstr>
      <vt:lpstr>METHODOLOGY</vt:lpstr>
      <vt:lpstr>DATA ACQUISITION</vt:lpstr>
      <vt:lpstr>RESULTS AND DISCUSSION</vt:lpstr>
      <vt:lpstr>Punjab</vt:lpstr>
      <vt:lpstr>Sindh</vt:lpstr>
      <vt:lpstr>Balochistan</vt:lpstr>
      <vt:lpstr>Azad Kashmir</vt:lpstr>
      <vt:lpstr>Khyber Pakhtunkhwa</vt:lpstr>
      <vt:lpstr>Gilgit</vt:lpstr>
      <vt:lpstr>PowerPoint Presentation</vt:lpstr>
      <vt:lpstr>PowerPoint Presentation</vt:lpstr>
      <vt:lpstr>PowerPoint Presentation</vt:lpstr>
      <vt:lpstr>CONCLUSION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Muhammad Taimoor Ashfaq</dc:creator>
  <cp:lastModifiedBy>Muhammad Taimoor Ashfaq</cp:lastModifiedBy>
  <cp:revision>52</cp:revision>
  <dcterms:modified xsi:type="dcterms:W3CDTF">2025-01-29T05:00:53Z</dcterms:modified>
</cp:coreProperties>
</file>